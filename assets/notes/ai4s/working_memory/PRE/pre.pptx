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1"/>
  </p:notesMasterIdLst>
  <p:handoutMasterIdLst>
    <p:handoutMasterId r:id="rId12"/>
  </p:handoutMasterIdLst>
  <p:sldIdLst>
    <p:sldId id="1424" r:id="rId2"/>
    <p:sldId id="2478" r:id="rId3"/>
    <p:sldId id="1364" r:id="rId4"/>
    <p:sldId id="2493" r:id="rId5"/>
    <p:sldId id="2496" r:id="rId6"/>
    <p:sldId id="2497" r:id="rId7"/>
    <p:sldId id="2494" r:id="rId8"/>
    <p:sldId id="2498" r:id="rId9"/>
    <p:sldId id="2495" r:id="rId10"/>
  </p:sldIdLst>
  <p:sldSz cx="12192000" cy="6858000"/>
  <p:notesSz cx="9928225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弭 元元" initials="弭" lastIdx="2" clrIdx="0">
    <p:extLst>
      <p:ext uri="{19B8F6BF-5375-455C-9EA6-DF929625EA0E}">
        <p15:presenceInfo xmlns:p15="http://schemas.microsoft.com/office/powerpoint/2012/main" userId="6940eee48c3d404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66"/>
    <a:srgbClr val="EC8C4A"/>
    <a:srgbClr val="FFE0CD"/>
    <a:srgbClr val="EEE8E4"/>
    <a:srgbClr val="F0E3DC"/>
    <a:srgbClr val="ED8F65"/>
    <a:srgbClr val="F3ECDF"/>
    <a:srgbClr val="B9F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69" autoAdjust="0"/>
    <p:restoredTop sz="79589" autoAdjust="0"/>
  </p:normalViewPr>
  <p:slideViewPr>
    <p:cSldViewPr snapToGrid="0">
      <p:cViewPr varScale="1">
        <p:scale>
          <a:sx n="126" d="100"/>
          <a:sy n="126" d="100"/>
        </p:scale>
        <p:origin x="128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9" d="100"/>
          <a:sy n="69" d="100"/>
        </p:scale>
        <p:origin x="1640" y="2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0B5F4BAB-15FC-7A12-039A-5D7A32BFB8D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125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FD49591-F5C0-8AE3-3508-F95ABD8A918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2925" y="0"/>
            <a:ext cx="4303713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1B4664-4E13-4294-98EB-0C153B9A772E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652BD96-E00D-3B43-3B0B-119F940051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456363"/>
            <a:ext cx="4302125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1567100-D509-4764-78A1-948F81624A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2925" y="6456363"/>
            <a:ext cx="4303713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EC4420-F72D-43AD-8B22-E56769C7F1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98160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3" y="1"/>
            <a:ext cx="4302231" cy="341064"/>
          </a:xfrm>
          <a:prstGeom prst="rect">
            <a:avLst/>
          </a:prstGeom>
        </p:spPr>
        <p:txBody>
          <a:bodyPr vert="horz" lIns="91434" tIns="45717" rIns="91434" bIns="45717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23700" y="1"/>
            <a:ext cx="4302231" cy="341064"/>
          </a:xfrm>
          <a:prstGeom prst="rect">
            <a:avLst/>
          </a:prstGeom>
        </p:spPr>
        <p:txBody>
          <a:bodyPr vert="horz" lIns="91434" tIns="45717" rIns="91434" bIns="45717" rtlCol="0"/>
          <a:lstStyle>
            <a:lvl1pPr algn="r">
              <a:defRPr sz="1200"/>
            </a:lvl1pPr>
          </a:lstStyle>
          <a:p>
            <a:fld id="{63270818-307D-4E36-9B85-158C3C35D68C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24175" y="849313"/>
            <a:ext cx="4079875" cy="2295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4" tIns="45717" rIns="91434" bIns="45717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vert="horz" lIns="91434" tIns="45717" rIns="91434" bIns="45717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3" y="6456613"/>
            <a:ext cx="4302231" cy="341063"/>
          </a:xfrm>
          <a:prstGeom prst="rect">
            <a:avLst/>
          </a:prstGeom>
        </p:spPr>
        <p:txBody>
          <a:bodyPr vert="horz" lIns="91434" tIns="45717" rIns="91434" bIns="45717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23700" y="6456613"/>
            <a:ext cx="4302231" cy="341063"/>
          </a:xfrm>
          <a:prstGeom prst="rect">
            <a:avLst/>
          </a:prstGeom>
        </p:spPr>
        <p:txBody>
          <a:bodyPr vert="horz" lIns="91434" tIns="45717" rIns="91434" bIns="45717" rtlCol="0" anchor="b"/>
          <a:lstStyle>
            <a:lvl1pPr algn="r">
              <a:defRPr sz="1200"/>
            </a:lvl1pPr>
          </a:lstStyle>
          <a:p>
            <a:fld id="{55FE8CAB-B004-46A9-ACA2-F8D9B241EA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567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7099D-0B21-C89D-E817-455CA50DE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D40D725-C129-01E7-B101-1B6B2A0777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924175" y="849313"/>
            <a:ext cx="4079875" cy="229552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84D2F98-F9CE-F3ED-3F24-3131474869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338">
              <a:defRPr/>
            </a:pPr>
            <a:endParaRPr lang="zh-CN" altLang="zh-CN" sz="18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A58E17A1-7EDA-CE64-A0FE-EC21789202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13A649-978D-4D2B-8D10-2AFC3BDC904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4263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98673-F315-41F4-31BD-4B217DFC4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CB92DF4-A9A3-01B2-1340-67FAA96EAF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924175" y="849313"/>
            <a:ext cx="4081463" cy="229552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7AEB671-4494-238F-F86A-0A725B482B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338">
              <a:defRPr/>
            </a:pPr>
            <a:endParaRPr lang="zh-CN" altLang="zh-CN" sz="18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DEE4805A-76DC-B5A6-D930-FDFF7F773C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13A649-978D-4D2B-8D10-2AFC3BDC904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08568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24175" y="849313"/>
            <a:ext cx="4079875" cy="22955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400">
              <a:defRPr/>
            </a:pPr>
            <a:r>
              <a:rPr lang="en-US" altLang="zh-CN" sz="1800" dirty="0">
                <a:sym typeface="+mn-ea"/>
              </a:rPr>
              <a:t>Fischer &amp; Whitney (2014) </a:t>
            </a:r>
            <a:r>
              <a:rPr lang="zh-CN" altLang="en-US" sz="1800" dirty="0">
                <a:sym typeface="+mn-ea"/>
              </a:rPr>
              <a:t>首先开始定量研究序列依赖性。他们让被试判断一个光栅的方向，在</a:t>
            </a:r>
            <a:r>
              <a:rPr lang="en-US" altLang="zh-CN" sz="1800" dirty="0">
                <a:sym typeface="+mn-ea"/>
              </a:rPr>
              <a:t>response</a:t>
            </a:r>
            <a:r>
              <a:rPr lang="zh-CN" altLang="en-US" sz="1800" dirty="0">
                <a:sym typeface="+mn-ea"/>
              </a:rPr>
              <a:t>阶段并调节这条白色</a:t>
            </a:r>
            <a:r>
              <a:rPr lang="en-US" altLang="zh-CN" sz="1800" dirty="0">
                <a:sym typeface="+mn-ea"/>
              </a:rPr>
              <a:t>bar</a:t>
            </a:r>
            <a:r>
              <a:rPr lang="zh-CN" altLang="en-US" sz="1800" dirty="0">
                <a:sym typeface="+mn-ea"/>
              </a:rPr>
              <a:t>的角度，来报告他们感知到的方向。就是在这个过程中，他们发现了序列依赖性。举一个例子，比如这是上一个刺激的方向，这是这一试次中刺激的方向，而被试在反应阶段调节出的方向相比于真实的刺激，会稍微的偏向上一个刺激的方向。</a:t>
            </a:r>
            <a:endParaRPr lang="en-US" altLang="zh-CN" sz="18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dirty="0">
                <a:sym typeface="+mn-ea"/>
              </a:rPr>
              <a:t>如果将很多各式次的结果汇总在一起，它们的平均值就会形成一条这样的曲线，横轴代表上一个刺激的角度与这一个刺激的角度的差异，纵轴代表</a:t>
            </a:r>
            <a:r>
              <a:rPr lang="en-US" altLang="zh-CN" sz="1800" dirty="0">
                <a:sym typeface="+mn-ea"/>
              </a:rPr>
              <a:t>response</a:t>
            </a:r>
            <a:r>
              <a:rPr lang="zh-CN" altLang="en-US" sz="1800" dirty="0">
                <a:sym typeface="+mn-ea"/>
              </a:rPr>
              <a:t>报告的角度与实际角度的差异。比如上一个刺激相对于下一个刺激更顺时针，报告出的角度相对于真实刺激也会更顺时针，强烈偏向于先前刺激的方向，体现出吸引性的序列依赖性。随着两个刺激差异增大，效应先增强再减弱，在</a:t>
            </a:r>
            <a:r>
              <a:rPr lang="en-US" altLang="zh-CN" sz="1800" dirty="0">
                <a:sym typeface="+mn-ea"/>
              </a:rPr>
              <a:t>20</a:t>
            </a:r>
            <a:r>
              <a:rPr lang="zh-CN" altLang="en-US" sz="1800" dirty="0">
                <a:sym typeface="+mn-ea"/>
              </a:rPr>
              <a:t>度 达到峰值。</a:t>
            </a:r>
            <a:endParaRPr lang="en-US" altLang="zh-CN" sz="1800" dirty="0"/>
          </a:p>
          <a:p>
            <a:pPr defTabSz="914400">
              <a:defRPr/>
            </a:pPr>
            <a:endParaRPr lang="zh-CN" altLang="en-US" sz="1800" dirty="0"/>
          </a:p>
          <a:p>
            <a:pPr defTabSz="914400">
              <a:defRPr/>
            </a:pPr>
            <a:endParaRPr lang="zh-CN" altLang="en-US" sz="18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13A649-978D-4D2B-8D10-2AFC3BDC9044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98673-F315-41F4-31BD-4B217DFC4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CB92DF4-A9A3-01B2-1340-67FAA96EAF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924175" y="849313"/>
            <a:ext cx="4081463" cy="229552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7AEB671-4494-238F-F86A-0A725B482B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338">
              <a:defRPr/>
            </a:pPr>
            <a:endParaRPr lang="zh-CN" altLang="zh-CN" sz="18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DEE4805A-76DC-B5A6-D930-FDFF7F773C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13A649-978D-4D2B-8D10-2AFC3BDC904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77467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98673-F315-41F4-31BD-4B217DFC4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CB92DF4-A9A3-01B2-1340-67FAA96EAF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924175" y="849313"/>
            <a:ext cx="4081463" cy="229552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7AEB671-4494-238F-F86A-0A725B482B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338">
              <a:defRPr/>
            </a:pPr>
            <a:endParaRPr lang="zh-CN" altLang="zh-CN" sz="18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DEE4805A-76DC-B5A6-D930-FDFF7F773C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13A649-978D-4D2B-8D10-2AFC3BDC904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8060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98673-F315-41F4-31BD-4B217DFC4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CB92DF4-A9A3-01B2-1340-67FAA96EAF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924175" y="849313"/>
            <a:ext cx="4081463" cy="229552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7AEB671-4494-238F-F86A-0A725B482B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338">
              <a:defRPr/>
            </a:pPr>
            <a:endParaRPr lang="zh-CN" altLang="zh-CN" sz="18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DEE4805A-76DC-B5A6-D930-FDFF7F773C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13A649-978D-4D2B-8D10-2AFC3BDC904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60408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98673-F315-41F4-31BD-4B217DFC4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CB92DF4-A9A3-01B2-1340-67FAA96EAF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924175" y="849313"/>
            <a:ext cx="4081463" cy="229552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7AEB671-4494-238F-F86A-0A725B482B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338">
              <a:defRPr/>
            </a:pPr>
            <a:endParaRPr lang="zh-CN" altLang="zh-CN" sz="18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DEE4805A-76DC-B5A6-D930-FDFF7F773C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13A649-978D-4D2B-8D10-2AFC3BDC904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84229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98673-F315-41F4-31BD-4B217DFC4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CB92DF4-A9A3-01B2-1340-67FAA96EAF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924175" y="849313"/>
            <a:ext cx="4081463" cy="229552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7AEB671-4494-238F-F86A-0A725B482B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338">
              <a:defRPr/>
            </a:pPr>
            <a:endParaRPr lang="zh-CN" altLang="zh-CN" sz="18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DEE4805A-76DC-B5A6-D930-FDFF7F773C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13A649-978D-4D2B-8D10-2AFC3BDC904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41525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98673-F315-41F4-31BD-4B217DFC4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CB92DF4-A9A3-01B2-1340-67FAA96EAF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924175" y="849313"/>
            <a:ext cx="4081463" cy="229552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7AEB671-4494-238F-F86A-0A725B482B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338">
              <a:defRPr/>
            </a:pPr>
            <a:endParaRPr lang="zh-CN" altLang="zh-CN" sz="18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DEE4805A-76DC-B5A6-D930-FDFF7F773C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13A649-978D-4D2B-8D10-2AFC3BDC904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51596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90178-06BD-4B03-BD4E-B3BFE1CB707A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B4053-B607-412E-A370-690EE89EF5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8350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90178-06BD-4B03-BD4E-B3BFE1CB707A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B4053-B607-412E-A370-690EE89EF5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0248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90178-06BD-4B03-BD4E-B3BFE1CB707A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B4053-B607-412E-A370-690EE89EF5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1161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90178-06BD-4B03-BD4E-B3BFE1CB707A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B4053-B607-412E-A370-690EE89EF5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8975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90178-06BD-4B03-BD4E-B3BFE1CB707A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B4053-B607-412E-A370-690EE89EF5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3647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90178-06BD-4B03-BD4E-B3BFE1CB707A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B4053-B607-412E-A370-690EE89EF5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1430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90178-06BD-4B03-BD4E-B3BFE1CB707A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B4053-B607-412E-A370-690EE89EF5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6299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90178-06BD-4B03-BD4E-B3BFE1CB707A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B4053-B607-412E-A370-690EE89EF5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4027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90178-06BD-4B03-BD4E-B3BFE1CB707A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B4053-B607-412E-A370-690EE89EF5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2324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90178-06BD-4B03-BD4E-B3BFE1CB707A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B4053-B607-412E-A370-690EE89EF5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0554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90178-06BD-4B03-BD4E-B3BFE1CB707A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B4053-B607-412E-A370-690EE89EF5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92096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02E0DA1C-5567-4E89-816D-B719DD705EB5}"/>
              </a:ext>
            </a:extLst>
          </p:cNvPr>
          <p:cNvGrpSpPr/>
          <p:nvPr userDrawn="1"/>
        </p:nvGrpSpPr>
        <p:grpSpPr>
          <a:xfrm>
            <a:off x="0" y="6676650"/>
            <a:ext cx="12192000" cy="181350"/>
            <a:chOff x="0" y="6676650"/>
            <a:chExt cx="9144000" cy="181350"/>
          </a:xfrm>
        </p:grpSpPr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19CB478E-AD33-459C-ACE6-6F6533167D03}"/>
                </a:ext>
              </a:extLst>
            </p:cNvPr>
            <p:cNvSpPr/>
            <p:nvPr/>
          </p:nvSpPr>
          <p:spPr>
            <a:xfrm flipH="1">
              <a:off x="6226849" y="6676650"/>
              <a:ext cx="2917151" cy="181350"/>
            </a:xfrm>
            <a:custGeom>
              <a:avLst/>
              <a:gdLst>
                <a:gd name="connsiteX0" fmla="*/ 2917151 w 2917151"/>
                <a:gd name="connsiteY0" fmla="*/ 0 h 181350"/>
                <a:gd name="connsiteX1" fmla="*/ 0 w 2917151"/>
                <a:gd name="connsiteY1" fmla="*/ 0 h 181350"/>
                <a:gd name="connsiteX2" fmla="*/ 0 w 2917151"/>
                <a:gd name="connsiteY2" fmla="*/ 181350 h 181350"/>
                <a:gd name="connsiteX3" fmla="*/ 2784049 w 2917151"/>
                <a:gd name="connsiteY3" fmla="*/ 181350 h 181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17151" h="181350">
                  <a:moveTo>
                    <a:pt x="2917151" y="0"/>
                  </a:moveTo>
                  <a:lnTo>
                    <a:pt x="0" y="0"/>
                  </a:lnTo>
                  <a:lnTo>
                    <a:pt x="0" y="181350"/>
                  </a:lnTo>
                  <a:lnTo>
                    <a:pt x="2784049" y="181350"/>
                  </a:lnTo>
                  <a:close/>
                </a:path>
              </a:pathLst>
            </a:custGeom>
            <a:solidFill>
              <a:srgbClr val="E218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800"/>
            </a:p>
          </p:txBody>
        </p:sp>
        <p:sp>
          <p:nvSpPr>
            <p:cNvPr id="10" name="任意多边形 26">
              <a:extLst>
                <a:ext uri="{FF2B5EF4-FFF2-40B4-BE49-F238E27FC236}">
                  <a16:creationId xmlns:a16="http://schemas.microsoft.com/office/drawing/2014/main" id="{E42F427A-A1FF-45E3-A8F4-8F1DC061D67B}"/>
                </a:ext>
              </a:extLst>
            </p:cNvPr>
            <p:cNvSpPr/>
            <p:nvPr/>
          </p:nvSpPr>
          <p:spPr>
            <a:xfrm flipH="1">
              <a:off x="5350095" y="6676650"/>
              <a:ext cx="1014484" cy="181350"/>
            </a:xfrm>
            <a:custGeom>
              <a:avLst/>
              <a:gdLst>
                <a:gd name="connsiteX0" fmla="*/ 923580 w 923580"/>
                <a:gd name="connsiteY0" fmla="*/ 0 h 165100"/>
                <a:gd name="connsiteX1" fmla="*/ 121175 w 923580"/>
                <a:gd name="connsiteY1" fmla="*/ 0 h 165100"/>
                <a:gd name="connsiteX2" fmla="*/ 0 w 923580"/>
                <a:gd name="connsiteY2" fmla="*/ 165100 h 165100"/>
                <a:gd name="connsiteX3" fmla="*/ 802405 w 923580"/>
                <a:gd name="connsiteY3" fmla="*/ 165100 h 165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3580" h="165100">
                  <a:moveTo>
                    <a:pt x="923580" y="0"/>
                  </a:moveTo>
                  <a:lnTo>
                    <a:pt x="121175" y="0"/>
                  </a:lnTo>
                  <a:lnTo>
                    <a:pt x="0" y="165100"/>
                  </a:lnTo>
                  <a:lnTo>
                    <a:pt x="802405" y="165100"/>
                  </a:lnTo>
                  <a:close/>
                </a:path>
              </a:pathLst>
            </a:custGeom>
            <a:solidFill>
              <a:srgbClr val="BD1C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800"/>
            </a:p>
          </p:txBody>
        </p:sp>
        <p:sp>
          <p:nvSpPr>
            <p:cNvPr id="11" name="任意多边形 28">
              <a:extLst>
                <a:ext uri="{FF2B5EF4-FFF2-40B4-BE49-F238E27FC236}">
                  <a16:creationId xmlns:a16="http://schemas.microsoft.com/office/drawing/2014/main" id="{58BBC034-BE5D-4418-A9A0-B43CC2A6BD32}"/>
                </a:ext>
              </a:extLst>
            </p:cNvPr>
            <p:cNvSpPr/>
            <p:nvPr/>
          </p:nvSpPr>
          <p:spPr>
            <a:xfrm flipH="1">
              <a:off x="0" y="6676650"/>
              <a:ext cx="5487798" cy="181350"/>
            </a:xfrm>
            <a:custGeom>
              <a:avLst/>
              <a:gdLst>
                <a:gd name="connsiteX0" fmla="*/ 4996060 w 4996060"/>
                <a:gd name="connsiteY0" fmla="*/ 0 h 165100"/>
                <a:gd name="connsiteX1" fmla="*/ 923580 w 4996060"/>
                <a:gd name="connsiteY1" fmla="*/ 0 h 165100"/>
                <a:gd name="connsiteX2" fmla="*/ 349005 w 4996060"/>
                <a:gd name="connsiteY2" fmla="*/ 0 h 165100"/>
                <a:gd name="connsiteX3" fmla="*/ 121175 w 4996060"/>
                <a:gd name="connsiteY3" fmla="*/ 0 h 165100"/>
                <a:gd name="connsiteX4" fmla="*/ 0 w 4996060"/>
                <a:gd name="connsiteY4" fmla="*/ 165100 h 165100"/>
                <a:gd name="connsiteX5" fmla="*/ 4996060 w 4996060"/>
                <a:gd name="connsiteY5" fmla="*/ 165100 h 165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96060" h="165100">
                  <a:moveTo>
                    <a:pt x="4996060" y="0"/>
                  </a:moveTo>
                  <a:lnTo>
                    <a:pt x="923580" y="0"/>
                  </a:lnTo>
                  <a:lnTo>
                    <a:pt x="349005" y="0"/>
                  </a:lnTo>
                  <a:lnTo>
                    <a:pt x="121175" y="0"/>
                  </a:lnTo>
                  <a:lnTo>
                    <a:pt x="0" y="165100"/>
                  </a:lnTo>
                  <a:lnTo>
                    <a:pt x="4996060" y="165100"/>
                  </a:lnTo>
                  <a:close/>
                </a:path>
              </a:pathLst>
            </a:custGeom>
            <a:solidFill>
              <a:srgbClr val="80162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800" dirty="0"/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D11B5-D50E-41E6-A4C1-8BD16F40B0B2}"/>
              </a:ext>
            </a:extLst>
          </p:cNvPr>
          <p:cNvSpPr txBox="1">
            <a:spLocks/>
          </p:cNvSpPr>
          <p:nvPr userDrawn="1"/>
        </p:nvSpPr>
        <p:spPr>
          <a:xfrm>
            <a:off x="9344781" y="6584763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CC5E4104-ED77-4A45-B872-2B72BBEF451C}" type="slidenum">
              <a:rPr lang="zh-CN" altLang="en-US" sz="1800" smtClean="0">
                <a:solidFill>
                  <a:schemeClr val="bg1"/>
                </a:solidFill>
              </a:rPr>
              <a:pPr algn="r"/>
              <a:t>‹#›</a:t>
            </a:fld>
            <a:endParaRPr lang="zh-CN" alt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5741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790178-06BD-4B03-BD4E-B3BFE1CB707A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EB4053-B607-412E-A370-690EE89EF5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934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36553-5FB0-0D49-98C9-936EAE2AD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DBD4457-8652-25D8-8137-A02B0472C271}"/>
              </a:ext>
            </a:extLst>
          </p:cNvPr>
          <p:cNvSpPr txBox="1"/>
          <p:nvPr/>
        </p:nvSpPr>
        <p:spPr>
          <a:xfrm>
            <a:off x="2044700" y="2084059"/>
            <a:ext cx="8102600" cy="1794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CN" sz="40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Serial Dependence: Proceed from Psychology</a:t>
            </a:r>
          </a:p>
        </p:txBody>
      </p:sp>
    </p:spTree>
    <p:extLst>
      <p:ext uri="{BB962C8B-B14F-4D97-AF65-F5344CB8AC3E}">
        <p14:creationId xmlns:p14="http://schemas.microsoft.com/office/powerpoint/2010/main" val="2168697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B3084-815B-A2F3-6E8F-BB1B1D7CB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14F8F2F1-7D33-718D-F1E3-CC01C0429F6F}"/>
              </a:ext>
            </a:extLst>
          </p:cNvPr>
          <p:cNvGrpSpPr/>
          <p:nvPr/>
        </p:nvGrpSpPr>
        <p:grpSpPr>
          <a:xfrm>
            <a:off x="49794" y="96334"/>
            <a:ext cx="12142207" cy="727169"/>
            <a:chOff x="-6488" y="56362"/>
            <a:chExt cx="8832187" cy="596763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3FA3DAF6-4ECD-3F5B-9D3E-76DD8901B055}"/>
                </a:ext>
              </a:extLst>
            </p:cNvPr>
            <p:cNvSpPr/>
            <p:nvPr/>
          </p:nvSpPr>
          <p:spPr>
            <a:xfrm>
              <a:off x="651757" y="56362"/>
              <a:ext cx="4663136" cy="58093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r>
                <a:rPr lang="en-US" altLang="zh-CN" sz="4000" b="1" dirty="0">
                  <a:solidFill>
                    <a:srgbClr val="C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Serial Dependence in humanity</a:t>
              </a:r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3497FAEE-D2F8-B3A2-52FB-60D458D03E2C}"/>
                </a:ext>
              </a:extLst>
            </p:cNvPr>
            <p:cNvCxnSpPr>
              <a:cxnSpLocks/>
            </p:cNvCxnSpPr>
            <p:nvPr/>
          </p:nvCxnSpPr>
          <p:spPr>
            <a:xfrm>
              <a:off x="574757" y="653125"/>
              <a:ext cx="8250942" cy="0"/>
            </a:xfrm>
            <a:prstGeom prst="line">
              <a:avLst/>
            </a:prstGeom>
            <a:ln w="12700" cap="rnd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38B46D35-4A07-9A48-AB21-E5FF18B5B8EE}"/>
                </a:ext>
              </a:extLst>
            </p:cNvPr>
            <p:cNvSpPr/>
            <p:nvPr/>
          </p:nvSpPr>
          <p:spPr>
            <a:xfrm>
              <a:off x="-6488" y="142486"/>
              <a:ext cx="332509" cy="51063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51465A1B-822E-D582-80F0-5BA4B6FFF156}"/>
                </a:ext>
              </a:extLst>
            </p:cNvPr>
            <p:cNvSpPr/>
            <p:nvPr/>
          </p:nvSpPr>
          <p:spPr>
            <a:xfrm>
              <a:off x="367416" y="142486"/>
              <a:ext cx="130866" cy="51063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796CABF2-A781-9E15-33E7-B4F787A24C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2" y="1087755"/>
            <a:ext cx="4126865" cy="532828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198DF1B-2FA4-5BE2-1F62-3BAA2F7E55E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51899" b="17271"/>
          <a:stretch>
            <a:fillRect/>
          </a:stretch>
        </p:blipFill>
        <p:spPr>
          <a:xfrm>
            <a:off x="1397633" y="1995170"/>
            <a:ext cx="3989296" cy="3020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429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49794" y="127702"/>
            <a:ext cx="12142206" cy="695800"/>
            <a:chOff x="-6488" y="82105"/>
            <a:chExt cx="8832187" cy="571020"/>
          </a:xfrm>
        </p:grpSpPr>
        <p:sp>
          <p:nvSpPr>
            <p:cNvPr id="11" name="矩形 10"/>
            <p:cNvSpPr/>
            <p:nvPr/>
          </p:nvSpPr>
          <p:spPr>
            <a:xfrm>
              <a:off x="651757" y="82105"/>
              <a:ext cx="6250379" cy="5294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l"/>
              <a:r>
                <a:rPr kumimoji="1" lang="en-US" altLang="zh-CN" sz="3600" b="1" dirty="0">
                  <a:solidFill>
                    <a:srgbClr val="C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Serial dependence paradigms: Adjustment tasks</a:t>
              </a:r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574757" y="653125"/>
              <a:ext cx="8250942" cy="0"/>
            </a:xfrm>
            <a:prstGeom prst="line">
              <a:avLst/>
            </a:prstGeom>
            <a:ln w="12700" cap="rnd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 13"/>
            <p:cNvSpPr/>
            <p:nvPr/>
          </p:nvSpPr>
          <p:spPr>
            <a:xfrm>
              <a:off x="-6488" y="142486"/>
              <a:ext cx="332509" cy="51063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367416" y="142486"/>
              <a:ext cx="130866" cy="51063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7973060" y="6210300"/>
            <a:ext cx="4051300" cy="3035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200" dirty="0">
                <a:latin typeface="+mj-lt"/>
              </a:rPr>
              <a:t>Fischer &amp; Whitney, Nature Neuroscience, 2014</a:t>
            </a:r>
          </a:p>
          <a:p>
            <a:endParaRPr lang="en-US" altLang="zh-CN" sz="1200" dirty="0">
              <a:latin typeface="+mj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5589" y="2096727"/>
            <a:ext cx="1559842" cy="146160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5092207" y="2096727"/>
            <a:ext cx="1559842" cy="1461970"/>
            <a:chOff x="5522102" y="1604602"/>
            <a:chExt cx="1559842" cy="146197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22102" y="1604602"/>
              <a:ext cx="1559842" cy="1461970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776377">
              <a:off x="5766216" y="1890398"/>
              <a:ext cx="1071613" cy="961704"/>
            </a:xfrm>
            <a:prstGeom prst="rect">
              <a:avLst/>
            </a:prstGeom>
          </p:spPr>
        </p:pic>
      </p:grpSp>
      <p:sp>
        <p:nvSpPr>
          <p:cNvPr id="20" name="文本框 19"/>
          <p:cNvSpPr txBox="1"/>
          <p:nvPr/>
        </p:nvSpPr>
        <p:spPr>
          <a:xfrm>
            <a:off x="5339955" y="3558697"/>
            <a:ext cx="16642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+mj-lt"/>
              </a:rPr>
              <a:t>Trial N-1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8439197" y="3547735"/>
            <a:ext cx="11159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+mj-lt"/>
              </a:rPr>
              <a:t>Trial N</a:t>
            </a:r>
            <a:endParaRPr lang="zh-CN" altLang="en-US" sz="1600" dirty="0">
              <a:latin typeface="+mj-lt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130010" y="2694098"/>
            <a:ext cx="5934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+mj-lt"/>
              </a:rPr>
              <a:t>……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10226345" y="3542621"/>
            <a:ext cx="11159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+mj-lt"/>
              </a:rPr>
              <a:t>Response</a:t>
            </a:r>
            <a:endParaRPr lang="zh-CN" altLang="en-US" sz="1600" dirty="0">
              <a:latin typeface="+mj-lt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9972914" y="2096727"/>
            <a:ext cx="1559842" cy="1461970"/>
            <a:chOff x="10402809" y="1604602"/>
            <a:chExt cx="1559842" cy="1461970"/>
          </a:xfrm>
        </p:grpSpPr>
        <p:pic>
          <p:nvPicPr>
            <p:cNvPr id="29" name="图片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02809" y="1604602"/>
              <a:ext cx="1559842" cy="1461970"/>
            </a:xfrm>
            <a:prstGeom prst="rect">
              <a:avLst/>
            </a:prstGeom>
          </p:spPr>
        </p:pic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474668" y="1735213"/>
              <a:ext cx="1416124" cy="1177261"/>
            </a:xfrm>
            <a:prstGeom prst="rect">
              <a:avLst/>
            </a:prstGeom>
          </p:spPr>
        </p:pic>
      </p:grpSp>
      <p:grpSp>
        <p:nvGrpSpPr>
          <p:cNvPr id="32" name="组合 31"/>
          <p:cNvGrpSpPr/>
          <p:nvPr/>
        </p:nvGrpSpPr>
        <p:grpSpPr>
          <a:xfrm>
            <a:off x="4885373" y="4064635"/>
            <a:ext cx="2499677" cy="2291715"/>
            <a:chOff x="7654388" y="3528717"/>
            <a:chExt cx="3062184" cy="2807336"/>
          </a:xfrm>
        </p:grpSpPr>
        <p:pic>
          <p:nvPicPr>
            <p:cNvPr id="33" name="图片 3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01655" y="3528717"/>
              <a:ext cx="2714917" cy="246810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/>
                <p:cNvSpPr txBox="1"/>
                <p:nvPr/>
              </p:nvSpPr>
              <p:spPr>
                <a:xfrm>
                  <a:off x="8869071" y="5996901"/>
                  <a:ext cx="1421214" cy="33915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a14:m>
                  <a:r>
                    <a:rPr lang="en-US" altLang="zh-CN" dirty="0"/>
                    <a:t> </a:t>
                  </a:r>
                  <a:endParaRPr lang="zh-CN" altLang="en-US" dirty="0"/>
                </a:p>
              </p:txBody>
            </p:sp>
          </mc:Choice>
          <mc:Fallback xmlns="">
            <p:sp>
              <p:nvSpPr>
                <p:cNvPr id="34" name="文本框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69071" y="5996901"/>
                  <a:ext cx="1421214" cy="339152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/>
                <p:cNvSpPr txBox="1"/>
                <p:nvPr/>
              </p:nvSpPr>
              <p:spPr>
                <a:xfrm rot="16200000">
                  <a:off x="6957032" y="4469158"/>
                  <a:ext cx="1741653" cy="34694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𝑟𝑒𝑠𝑝𝑜𝑛𝑠𝑒</m:t>
                          </m:r>
                        </m:sub>
                      </m:sSub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a14:m>
                  <a:r>
                    <a:rPr lang="en-US" altLang="zh-CN" dirty="0"/>
                    <a:t> </a:t>
                  </a:r>
                  <a:endParaRPr lang="zh-CN" altLang="en-US" dirty="0"/>
                </a:p>
              </p:txBody>
            </p:sp>
          </mc:Choice>
          <mc:Fallback xmlns="">
            <p:sp>
              <p:nvSpPr>
                <p:cNvPr id="35" name="文本框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6957032" y="4469158"/>
                  <a:ext cx="1741653" cy="346941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37" name="图片 3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80" y="2182495"/>
            <a:ext cx="4858385" cy="3933825"/>
          </a:xfrm>
          <a:prstGeom prst="rect">
            <a:avLst/>
          </a:prstGeom>
        </p:spPr>
      </p:pic>
      <p:cxnSp>
        <p:nvCxnSpPr>
          <p:cNvPr id="41" name="直接连接符 40"/>
          <p:cNvCxnSpPr/>
          <p:nvPr/>
        </p:nvCxnSpPr>
        <p:spPr>
          <a:xfrm>
            <a:off x="10557510" y="2546985"/>
            <a:ext cx="403225" cy="573405"/>
          </a:xfrm>
          <a:prstGeom prst="line">
            <a:avLst/>
          </a:prstGeom>
          <a:ln w="19050"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10667365" y="2489200"/>
            <a:ext cx="172085" cy="692150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" name="圆角右箭头 43"/>
          <p:cNvSpPr/>
          <p:nvPr/>
        </p:nvSpPr>
        <p:spPr>
          <a:xfrm rot="840000">
            <a:off x="10534015" y="2429510"/>
            <a:ext cx="139065" cy="135255"/>
          </a:xfrm>
          <a:prstGeom prst="bentArrow">
            <a:avLst>
              <a:gd name="adj1" fmla="val 13448"/>
              <a:gd name="adj2" fmla="val 23931"/>
              <a:gd name="adj3" fmla="val 25000"/>
              <a:gd name="adj4" fmla="val 78030"/>
            </a:avLst>
          </a:prstGeom>
          <a:solidFill>
            <a:srgbClr val="A4111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A4111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0045065" y="2180590"/>
            <a:ext cx="1093470" cy="1854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600" dirty="0">
                <a:solidFill>
                  <a:srgbClr val="A41111"/>
                </a:solidFill>
                <a:latin typeface="+mj-lt"/>
              </a:rPr>
              <a:t>attraction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98442" y="2076308"/>
            <a:ext cx="27461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+mj-lt"/>
              </a:rPr>
              <a:t>orientation of Gabor stimuli</a:t>
            </a:r>
            <a:endParaRPr lang="zh-CN" altLang="en-US" sz="1600" dirty="0">
              <a:latin typeface="+mj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66395" y="916940"/>
            <a:ext cx="11375390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000" dirty="0">
                <a:ea typeface="华文楷体" panose="02010600040101010101" pitchFamily="2" charset="-122"/>
              </a:rPr>
              <a:t>In the method of adjustment, a brief stimulus is followed by a response tool that resembles one of the stimulus’ features (e.g., the orientation, size). Participants adjust the tool to match their perception of the feature. This method is also known as a “delayed reproduction task” or simply “reproduction task.”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517765" y="4170680"/>
            <a:ext cx="457660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000" dirty="0">
                <a:ea typeface="华文楷体" panose="02010600040101010101" pitchFamily="2" charset="-122"/>
              </a:rPr>
              <a:t>On average, adjustment errors (reported minus true orientation) were positively related to the difference in orientation (Δ) between the previous and the present stimulus, showing a bias toward the previous orientation.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3" grpId="0"/>
      <p:bldP spid="26" grpId="0"/>
      <p:bldP spid="27" grpId="0"/>
      <p:bldP spid="44" grpId="0" bldLvl="0" animBg="1"/>
      <p:bldP spid="45" grpId="0"/>
      <p:bldP spid="8" grpId="0"/>
      <p:bldP spid="8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B3084-815B-A2F3-6E8F-BB1B1D7CB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14F8F2F1-7D33-718D-F1E3-CC01C0429F6F}"/>
              </a:ext>
            </a:extLst>
          </p:cNvPr>
          <p:cNvGrpSpPr/>
          <p:nvPr/>
        </p:nvGrpSpPr>
        <p:grpSpPr>
          <a:xfrm>
            <a:off x="49794" y="96334"/>
            <a:ext cx="12142207" cy="727169"/>
            <a:chOff x="-6488" y="56362"/>
            <a:chExt cx="8832187" cy="596763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3FA3DAF6-4ECD-3F5B-9D3E-76DD8901B055}"/>
                </a:ext>
              </a:extLst>
            </p:cNvPr>
            <p:cNvSpPr/>
            <p:nvPr/>
          </p:nvSpPr>
          <p:spPr>
            <a:xfrm>
              <a:off x="651757" y="56362"/>
              <a:ext cx="2275132" cy="58093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r>
                <a:rPr lang="en-US" altLang="zh-CN" sz="4000" b="1" dirty="0">
                  <a:solidFill>
                    <a:srgbClr val="C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Our Paradigm:</a:t>
              </a:r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3497FAEE-D2F8-B3A2-52FB-60D458D03E2C}"/>
                </a:ext>
              </a:extLst>
            </p:cNvPr>
            <p:cNvCxnSpPr>
              <a:cxnSpLocks/>
            </p:cNvCxnSpPr>
            <p:nvPr/>
          </p:nvCxnSpPr>
          <p:spPr>
            <a:xfrm>
              <a:off x="574757" y="653125"/>
              <a:ext cx="8250942" cy="0"/>
            </a:xfrm>
            <a:prstGeom prst="line">
              <a:avLst/>
            </a:prstGeom>
            <a:ln w="12700" cap="rnd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38B46D35-4A07-9A48-AB21-E5FF18B5B8EE}"/>
                </a:ext>
              </a:extLst>
            </p:cNvPr>
            <p:cNvSpPr/>
            <p:nvPr/>
          </p:nvSpPr>
          <p:spPr>
            <a:xfrm>
              <a:off x="-6488" y="142486"/>
              <a:ext cx="332509" cy="51063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51465A1B-822E-D582-80F0-5BA4B6FFF156}"/>
                </a:ext>
              </a:extLst>
            </p:cNvPr>
            <p:cNvSpPr/>
            <p:nvPr/>
          </p:nvSpPr>
          <p:spPr>
            <a:xfrm>
              <a:off x="367416" y="142486"/>
              <a:ext cx="130866" cy="51063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DD7EBBF0-88C7-71CD-0C49-49A2659F6A44}"/>
              </a:ext>
            </a:extLst>
          </p:cNvPr>
          <p:cNvSpPr txBox="1"/>
          <p:nvPr/>
        </p:nvSpPr>
        <p:spPr>
          <a:xfrm>
            <a:off x="394700" y="1185453"/>
            <a:ext cx="1113053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Purpose:</a:t>
            </a:r>
            <a:r>
              <a:rPr lang="en-US" altLang="zh-CN" sz="2000" dirty="0"/>
              <a:t> In the experiment of testing the serial dependence effect of a large model through vocabulary 		scoring, the continuity of vocabulary semantics is tested to determine whether it is related to the 		serial dependence effect</a:t>
            </a:r>
            <a:r>
              <a:rPr lang="zh-CN" altLang="en-US" sz="2000" dirty="0"/>
              <a:t> </a:t>
            </a:r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E90D268B-8AEF-0A9F-5DBF-ADA58EB5F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5376" y="2372565"/>
            <a:ext cx="9121248" cy="4068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334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B3084-815B-A2F3-6E8F-BB1B1D7CB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14F8F2F1-7D33-718D-F1E3-CC01C0429F6F}"/>
              </a:ext>
            </a:extLst>
          </p:cNvPr>
          <p:cNvGrpSpPr/>
          <p:nvPr/>
        </p:nvGrpSpPr>
        <p:grpSpPr>
          <a:xfrm>
            <a:off x="49794" y="96334"/>
            <a:ext cx="12142207" cy="727169"/>
            <a:chOff x="-6488" y="56362"/>
            <a:chExt cx="8832187" cy="596763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3FA3DAF6-4ECD-3F5B-9D3E-76DD8901B055}"/>
                </a:ext>
              </a:extLst>
            </p:cNvPr>
            <p:cNvSpPr/>
            <p:nvPr/>
          </p:nvSpPr>
          <p:spPr>
            <a:xfrm>
              <a:off x="651757" y="56362"/>
              <a:ext cx="2275132" cy="58093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r>
                <a:rPr lang="en-US" altLang="zh-CN" sz="4000" b="1" dirty="0">
                  <a:solidFill>
                    <a:srgbClr val="C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Our Paradigm:</a:t>
              </a:r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3497FAEE-D2F8-B3A2-52FB-60D458D03E2C}"/>
                </a:ext>
              </a:extLst>
            </p:cNvPr>
            <p:cNvCxnSpPr>
              <a:cxnSpLocks/>
            </p:cNvCxnSpPr>
            <p:nvPr/>
          </p:nvCxnSpPr>
          <p:spPr>
            <a:xfrm>
              <a:off x="574757" y="653125"/>
              <a:ext cx="8250942" cy="0"/>
            </a:xfrm>
            <a:prstGeom prst="line">
              <a:avLst/>
            </a:prstGeom>
            <a:ln w="12700" cap="rnd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38B46D35-4A07-9A48-AB21-E5FF18B5B8EE}"/>
                </a:ext>
              </a:extLst>
            </p:cNvPr>
            <p:cNvSpPr/>
            <p:nvPr/>
          </p:nvSpPr>
          <p:spPr>
            <a:xfrm>
              <a:off x="-6488" y="142486"/>
              <a:ext cx="332509" cy="51063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51465A1B-822E-D582-80F0-5BA4B6FFF156}"/>
                </a:ext>
              </a:extLst>
            </p:cNvPr>
            <p:cNvSpPr/>
            <p:nvPr/>
          </p:nvSpPr>
          <p:spPr>
            <a:xfrm>
              <a:off x="367416" y="142486"/>
              <a:ext cx="130866" cy="51063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C3B0B9C7-72A3-AA71-73CC-0C168871C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355" y="2707193"/>
            <a:ext cx="4153480" cy="255305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469428C-ECC2-A84E-887E-977B0F0FD8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5680" y="2986484"/>
            <a:ext cx="3010320" cy="278168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9BC6959-5A3C-F2FD-556E-2E79B673D2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2572" y="2885502"/>
            <a:ext cx="2934109" cy="290553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1D045FB6-1892-3D59-585C-7BAE50D764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3253" y="3076984"/>
            <a:ext cx="2876951" cy="2600688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9C9A187A-7BC3-889E-CD21-AF708C24A0E8}"/>
              </a:ext>
            </a:extLst>
          </p:cNvPr>
          <p:cNvSpPr txBox="1"/>
          <p:nvPr/>
        </p:nvSpPr>
        <p:spPr>
          <a:xfrm>
            <a:off x="2750820" y="5849831"/>
            <a:ext cx="968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Baseline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30C3E68-9AEA-0A58-890A-FA50323A0104}"/>
              </a:ext>
            </a:extLst>
          </p:cNvPr>
          <p:cNvSpPr txBox="1"/>
          <p:nvPr/>
        </p:nvSpPr>
        <p:spPr>
          <a:xfrm>
            <a:off x="6766560" y="5849831"/>
            <a:ext cx="1487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Same Domain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22F9D7E-1920-DF07-1D4A-EC9010943A30}"/>
              </a:ext>
            </a:extLst>
          </p:cNvPr>
          <p:cNvSpPr txBox="1"/>
          <p:nvPr/>
        </p:nvSpPr>
        <p:spPr>
          <a:xfrm>
            <a:off x="9865245" y="5849831"/>
            <a:ext cx="14729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Cross Domain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BBEB36B-33DE-12BD-F91C-938FF28478E9}"/>
              </a:ext>
            </a:extLst>
          </p:cNvPr>
          <p:cNvSpPr txBox="1"/>
          <p:nvPr/>
        </p:nvSpPr>
        <p:spPr>
          <a:xfrm>
            <a:off x="407857" y="1166330"/>
            <a:ext cx="107670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Prompts : </a:t>
            </a:r>
            <a:r>
              <a:rPr lang="zh-CN" altLang="en-US" dirty="0"/>
              <a:t>你正在参加一个连续心理判断实验，每个试次会给出一个词语和一个评价维度，请你根据对该词</a:t>
            </a:r>
            <a:r>
              <a:rPr lang="en-US" altLang="zh-CN" dirty="0"/>
              <a:t>		</a:t>
            </a:r>
            <a:r>
              <a:rPr lang="zh-CN" altLang="en-US" dirty="0"/>
              <a:t>语意思的整体理解，为这个词语在其维度中进行打分。评分规则：</a:t>
            </a:r>
            <a:r>
              <a:rPr lang="en-US" altLang="zh-CN" dirty="0"/>
              <a:t>1. </a:t>
            </a:r>
            <a:r>
              <a:rPr lang="zh-CN" altLang="en-US" dirty="0"/>
              <a:t>输出</a:t>
            </a:r>
            <a:r>
              <a:rPr lang="en-US" altLang="zh-CN" dirty="0"/>
              <a:t>1-100</a:t>
            </a:r>
            <a:r>
              <a:rPr lang="zh-CN" altLang="en-US" dirty="0"/>
              <a:t>之间整数。</a:t>
            </a:r>
            <a:r>
              <a:rPr lang="en-US" altLang="zh-CN" dirty="0"/>
              <a:t>2. </a:t>
            </a:r>
            <a:r>
              <a:rPr lang="zh-CN" altLang="en-US" dirty="0"/>
              <a:t>只</a:t>
            </a:r>
            <a:r>
              <a:rPr lang="en-US" altLang="zh-CN" dirty="0"/>
              <a:t>			</a:t>
            </a:r>
            <a:r>
              <a:rPr lang="zh-CN" altLang="en-US" dirty="0"/>
              <a:t>能输出数字，不输出解释。</a:t>
            </a:r>
            <a:r>
              <a:rPr lang="en-US" altLang="zh-CN" dirty="0"/>
              <a:t>3. </a:t>
            </a:r>
            <a:r>
              <a:rPr lang="zh-CN" altLang="en-US" dirty="0"/>
              <a:t>根据当前词语和当前任务自然判断。</a:t>
            </a:r>
          </a:p>
          <a:p>
            <a:r>
              <a:rPr lang="en-US" altLang="zh-CN" dirty="0"/>
              <a:t>		</a:t>
            </a:r>
            <a:r>
              <a:rPr lang="zh-CN" altLang="en-US" dirty="0"/>
              <a:t>评价维度：情绪效价：</a:t>
            </a:r>
            <a:r>
              <a:rPr lang="en-US" altLang="zh-CN" dirty="0"/>
              <a:t>1 = </a:t>
            </a:r>
            <a:r>
              <a:rPr lang="zh-CN" altLang="en-US" dirty="0"/>
              <a:t>极端消极，</a:t>
            </a:r>
            <a:r>
              <a:rPr lang="en-US" altLang="zh-CN" dirty="0"/>
              <a:t>50 = </a:t>
            </a:r>
            <a:r>
              <a:rPr lang="zh-CN" altLang="en-US" dirty="0"/>
              <a:t>中性，</a:t>
            </a:r>
            <a:r>
              <a:rPr lang="en-US" altLang="zh-CN" dirty="0"/>
              <a:t>100 = </a:t>
            </a:r>
            <a:r>
              <a:rPr lang="zh-CN" altLang="en-US" dirty="0"/>
              <a:t>极端积极；味觉甜度：</a:t>
            </a:r>
            <a:r>
              <a:rPr lang="en-US" altLang="zh-CN" dirty="0"/>
              <a:t>1 = </a:t>
            </a:r>
            <a:r>
              <a:rPr lang="zh-CN" altLang="en-US" dirty="0"/>
              <a:t>极苦或无甜味，</a:t>
            </a:r>
            <a:r>
              <a:rPr lang="en-US" altLang="zh-CN" dirty="0"/>
              <a:t>		50 = </a:t>
            </a:r>
            <a:r>
              <a:rPr lang="zh-CN" altLang="en-US" dirty="0"/>
              <a:t>中性，</a:t>
            </a:r>
            <a:r>
              <a:rPr lang="en-US" altLang="zh-CN" dirty="0"/>
              <a:t>100 = </a:t>
            </a:r>
            <a:r>
              <a:rPr lang="zh-CN" altLang="en-US" dirty="0"/>
              <a:t>极甜</a:t>
            </a:r>
          </a:p>
        </p:txBody>
      </p:sp>
    </p:spTree>
    <p:extLst>
      <p:ext uri="{BB962C8B-B14F-4D97-AF65-F5344CB8AC3E}">
        <p14:creationId xmlns:p14="http://schemas.microsoft.com/office/powerpoint/2010/main" val="3226297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B3084-815B-A2F3-6E8F-BB1B1D7CB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14F8F2F1-7D33-718D-F1E3-CC01C0429F6F}"/>
              </a:ext>
            </a:extLst>
          </p:cNvPr>
          <p:cNvGrpSpPr/>
          <p:nvPr/>
        </p:nvGrpSpPr>
        <p:grpSpPr>
          <a:xfrm>
            <a:off x="49794" y="96334"/>
            <a:ext cx="12142207" cy="727169"/>
            <a:chOff x="-6488" y="56362"/>
            <a:chExt cx="8832187" cy="596763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3FA3DAF6-4ECD-3F5B-9D3E-76DD8901B055}"/>
                </a:ext>
              </a:extLst>
            </p:cNvPr>
            <p:cNvSpPr/>
            <p:nvPr/>
          </p:nvSpPr>
          <p:spPr>
            <a:xfrm>
              <a:off x="651757" y="56362"/>
              <a:ext cx="1412280" cy="58093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r>
                <a:rPr lang="en-US" altLang="zh-CN" sz="4000" b="1" dirty="0">
                  <a:solidFill>
                    <a:srgbClr val="C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Result</a:t>
              </a:r>
              <a:r>
                <a:rPr lang="zh-CN" altLang="en-US" sz="4000" b="1" dirty="0">
                  <a:solidFill>
                    <a:srgbClr val="C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：</a:t>
              </a:r>
              <a:endParaRPr lang="en-US" altLang="zh-CN" sz="40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3497FAEE-D2F8-B3A2-52FB-60D458D03E2C}"/>
                </a:ext>
              </a:extLst>
            </p:cNvPr>
            <p:cNvCxnSpPr>
              <a:cxnSpLocks/>
            </p:cNvCxnSpPr>
            <p:nvPr/>
          </p:nvCxnSpPr>
          <p:spPr>
            <a:xfrm>
              <a:off x="574757" y="653125"/>
              <a:ext cx="8250942" cy="0"/>
            </a:xfrm>
            <a:prstGeom prst="line">
              <a:avLst/>
            </a:prstGeom>
            <a:ln w="12700" cap="rnd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38B46D35-4A07-9A48-AB21-E5FF18B5B8EE}"/>
                </a:ext>
              </a:extLst>
            </p:cNvPr>
            <p:cNvSpPr/>
            <p:nvPr/>
          </p:nvSpPr>
          <p:spPr>
            <a:xfrm>
              <a:off x="-6488" y="142486"/>
              <a:ext cx="332509" cy="51063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51465A1B-822E-D582-80F0-5BA4B6FFF156}"/>
                </a:ext>
              </a:extLst>
            </p:cNvPr>
            <p:cNvSpPr/>
            <p:nvPr/>
          </p:nvSpPr>
          <p:spPr>
            <a:xfrm>
              <a:off x="367416" y="142486"/>
              <a:ext cx="130866" cy="51063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3B15A1DC-1B73-7836-DF71-E40E76286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94" y="842786"/>
            <a:ext cx="3634740" cy="223912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D2C321B-474E-338C-A88E-45E6762385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4680" y="842786"/>
            <a:ext cx="3655896" cy="223912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ABDBC6A-8F4B-DCC7-CD93-92D666EE9F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215" y="3416798"/>
            <a:ext cx="3524319" cy="277224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0AA851C-AD1F-9F11-77CB-CBF788C13B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4680" y="3493883"/>
            <a:ext cx="3792912" cy="269515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2BE95B1C-E53C-E324-1E2F-D8ED9B9CAE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2530" y="842786"/>
            <a:ext cx="3134233" cy="227209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B2A4A969-41A4-A894-D3E4-3D6B8EF421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38201" y="3531783"/>
            <a:ext cx="3590096" cy="2542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653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B3084-815B-A2F3-6E8F-BB1B1D7CB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14F8F2F1-7D33-718D-F1E3-CC01C0429F6F}"/>
              </a:ext>
            </a:extLst>
          </p:cNvPr>
          <p:cNvGrpSpPr/>
          <p:nvPr/>
        </p:nvGrpSpPr>
        <p:grpSpPr>
          <a:xfrm>
            <a:off x="49794" y="96334"/>
            <a:ext cx="12142207" cy="727169"/>
            <a:chOff x="-6488" y="56362"/>
            <a:chExt cx="8832187" cy="596763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3FA3DAF6-4ECD-3F5B-9D3E-76DD8901B055}"/>
                </a:ext>
              </a:extLst>
            </p:cNvPr>
            <p:cNvSpPr/>
            <p:nvPr/>
          </p:nvSpPr>
          <p:spPr>
            <a:xfrm>
              <a:off x="651757" y="56362"/>
              <a:ext cx="1412280" cy="58093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r>
                <a:rPr lang="en-US" altLang="zh-CN" sz="4000" b="1" dirty="0">
                  <a:solidFill>
                    <a:srgbClr val="C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Result</a:t>
              </a:r>
              <a:r>
                <a:rPr lang="zh-CN" altLang="en-US" sz="4000" b="1" dirty="0">
                  <a:solidFill>
                    <a:srgbClr val="C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：</a:t>
              </a:r>
              <a:endParaRPr lang="en-US" altLang="zh-CN" sz="40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3497FAEE-D2F8-B3A2-52FB-60D458D03E2C}"/>
                </a:ext>
              </a:extLst>
            </p:cNvPr>
            <p:cNvCxnSpPr>
              <a:cxnSpLocks/>
            </p:cNvCxnSpPr>
            <p:nvPr/>
          </p:nvCxnSpPr>
          <p:spPr>
            <a:xfrm>
              <a:off x="574757" y="653125"/>
              <a:ext cx="8250942" cy="0"/>
            </a:xfrm>
            <a:prstGeom prst="line">
              <a:avLst/>
            </a:prstGeom>
            <a:ln w="12700" cap="rnd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38B46D35-4A07-9A48-AB21-E5FF18B5B8EE}"/>
                </a:ext>
              </a:extLst>
            </p:cNvPr>
            <p:cNvSpPr/>
            <p:nvPr/>
          </p:nvSpPr>
          <p:spPr>
            <a:xfrm>
              <a:off x="-6488" y="142486"/>
              <a:ext cx="332509" cy="51063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51465A1B-822E-D582-80F0-5BA4B6FFF156}"/>
                </a:ext>
              </a:extLst>
            </p:cNvPr>
            <p:cNvSpPr/>
            <p:nvPr/>
          </p:nvSpPr>
          <p:spPr>
            <a:xfrm>
              <a:off x="367416" y="142486"/>
              <a:ext cx="130866" cy="51063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B6A80BD0-71F9-C404-A82C-D7CF634B9F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560" y="861709"/>
            <a:ext cx="3906048" cy="281686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20ACC67-31B8-BF86-72A7-C3E5FFE184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362" y="813900"/>
            <a:ext cx="4137660" cy="295112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A08F642-7F25-8DD7-7875-BCA6A51200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4560" y="3765025"/>
            <a:ext cx="3968784" cy="281146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CC0D418-6E5E-3111-7B9E-EF8505B22C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6072" y="3732551"/>
            <a:ext cx="4133950" cy="2951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53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B3084-815B-A2F3-6E8F-BB1B1D7CB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14F8F2F1-7D33-718D-F1E3-CC01C0429F6F}"/>
              </a:ext>
            </a:extLst>
          </p:cNvPr>
          <p:cNvGrpSpPr/>
          <p:nvPr/>
        </p:nvGrpSpPr>
        <p:grpSpPr>
          <a:xfrm>
            <a:off x="49794" y="96334"/>
            <a:ext cx="12142207" cy="727169"/>
            <a:chOff x="-6488" y="56362"/>
            <a:chExt cx="8832187" cy="596763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3FA3DAF6-4ECD-3F5B-9D3E-76DD8901B055}"/>
                </a:ext>
              </a:extLst>
            </p:cNvPr>
            <p:cNvSpPr/>
            <p:nvPr/>
          </p:nvSpPr>
          <p:spPr>
            <a:xfrm>
              <a:off x="651757" y="56362"/>
              <a:ext cx="1412280" cy="58093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r>
                <a:rPr lang="en-US" altLang="zh-CN" sz="4000" b="1" dirty="0">
                  <a:solidFill>
                    <a:srgbClr val="C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Result</a:t>
              </a:r>
              <a:r>
                <a:rPr lang="zh-CN" altLang="en-US" sz="4000" b="1" dirty="0">
                  <a:solidFill>
                    <a:srgbClr val="C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：</a:t>
              </a:r>
              <a:endParaRPr lang="en-US" altLang="zh-CN" sz="40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3497FAEE-D2F8-B3A2-52FB-60D458D03E2C}"/>
                </a:ext>
              </a:extLst>
            </p:cNvPr>
            <p:cNvCxnSpPr>
              <a:cxnSpLocks/>
            </p:cNvCxnSpPr>
            <p:nvPr/>
          </p:nvCxnSpPr>
          <p:spPr>
            <a:xfrm>
              <a:off x="574757" y="653125"/>
              <a:ext cx="8250942" cy="0"/>
            </a:xfrm>
            <a:prstGeom prst="line">
              <a:avLst/>
            </a:prstGeom>
            <a:ln w="12700" cap="rnd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38B46D35-4A07-9A48-AB21-E5FF18B5B8EE}"/>
                </a:ext>
              </a:extLst>
            </p:cNvPr>
            <p:cNvSpPr/>
            <p:nvPr/>
          </p:nvSpPr>
          <p:spPr>
            <a:xfrm>
              <a:off x="-6488" y="142486"/>
              <a:ext cx="332509" cy="51063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51465A1B-822E-D582-80F0-5BA4B6FFF156}"/>
                </a:ext>
              </a:extLst>
            </p:cNvPr>
            <p:cNvSpPr/>
            <p:nvPr/>
          </p:nvSpPr>
          <p:spPr>
            <a:xfrm>
              <a:off x="367416" y="142486"/>
              <a:ext cx="130866" cy="51063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E833C375-0093-4931-DCA7-E40FDAE44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5151" y="962413"/>
            <a:ext cx="6453455" cy="174702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B66CAA0-B44B-FC60-9F72-542030CA5E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5151" y="2822115"/>
            <a:ext cx="6453455" cy="177393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7E23771-096E-1A55-8A23-3D475FA819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5150" y="4715670"/>
            <a:ext cx="6453456" cy="179304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3759C979-77B8-9609-58AD-E77471530C88}"/>
              </a:ext>
            </a:extLst>
          </p:cNvPr>
          <p:cNvSpPr txBox="1"/>
          <p:nvPr/>
        </p:nvSpPr>
        <p:spPr>
          <a:xfrm>
            <a:off x="1135380" y="1722120"/>
            <a:ext cx="1838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Qwen3 0.6B-Base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3FFD9F8-EB8B-FC14-DCC4-AC1AC4B63F3A}"/>
              </a:ext>
            </a:extLst>
          </p:cNvPr>
          <p:cNvSpPr txBox="1"/>
          <p:nvPr/>
        </p:nvSpPr>
        <p:spPr>
          <a:xfrm>
            <a:off x="1141266" y="3339750"/>
            <a:ext cx="1838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Qwen3 1.7B-Base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1FE531C-0FA8-8091-508B-0FEE4E9CE303}"/>
              </a:ext>
            </a:extLst>
          </p:cNvPr>
          <p:cNvSpPr txBox="1"/>
          <p:nvPr/>
        </p:nvSpPr>
        <p:spPr>
          <a:xfrm>
            <a:off x="1135380" y="5242861"/>
            <a:ext cx="1663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Qwen3 4B-Base</a:t>
            </a:r>
            <a:endParaRPr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86E0D5E-099B-F552-ED66-0BFBC554C137}"/>
              </a:ext>
            </a:extLst>
          </p:cNvPr>
          <p:cNvSpPr/>
          <p:nvPr/>
        </p:nvSpPr>
        <p:spPr>
          <a:xfrm>
            <a:off x="4701540" y="1758433"/>
            <a:ext cx="5852160" cy="44374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3A78CAA-6E08-3318-ADCA-518537831BE3}"/>
              </a:ext>
            </a:extLst>
          </p:cNvPr>
          <p:cNvSpPr/>
          <p:nvPr/>
        </p:nvSpPr>
        <p:spPr>
          <a:xfrm>
            <a:off x="4796446" y="2983472"/>
            <a:ext cx="5757254" cy="9408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4283566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B3084-815B-A2F3-6E8F-BB1B1D7CB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14F8F2F1-7D33-718D-F1E3-CC01C0429F6F}"/>
              </a:ext>
            </a:extLst>
          </p:cNvPr>
          <p:cNvGrpSpPr/>
          <p:nvPr/>
        </p:nvGrpSpPr>
        <p:grpSpPr>
          <a:xfrm>
            <a:off x="49794" y="96334"/>
            <a:ext cx="12142207" cy="727169"/>
            <a:chOff x="-6488" y="56362"/>
            <a:chExt cx="8832187" cy="596763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3FA3DAF6-4ECD-3F5B-9D3E-76DD8901B055}"/>
                </a:ext>
              </a:extLst>
            </p:cNvPr>
            <p:cNvSpPr/>
            <p:nvPr/>
          </p:nvSpPr>
          <p:spPr>
            <a:xfrm>
              <a:off x="651757" y="56362"/>
              <a:ext cx="2099064" cy="58093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r>
                <a:rPr lang="en-US" altLang="zh-CN" sz="4000" b="1" dirty="0">
                  <a:solidFill>
                    <a:srgbClr val="C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Further study</a:t>
              </a:r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3497FAEE-D2F8-B3A2-52FB-60D458D03E2C}"/>
                </a:ext>
              </a:extLst>
            </p:cNvPr>
            <p:cNvCxnSpPr>
              <a:cxnSpLocks/>
            </p:cNvCxnSpPr>
            <p:nvPr/>
          </p:nvCxnSpPr>
          <p:spPr>
            <a:xfrm>
              <a:off x="574757" y="653125"/>
              <a:ext cx="8250942" cy="0"/>
            </a:xfrm>
            <a:prstGeom prst="line">
              <a:avLst/>
            </a:prstGeom>
            <a:ln w="12700" cap="rnd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38B46D35-4A07-9A48-AB21-E5FF18B5B8EE}"/>
                </a:ext>
              </a:extLst>
            </p:cNvPr>
            <p:cNvSpPr/>
            <p:nvPr/>
          </p:nvSpPr>
          <p:spPr>
            <a:xfrm>
              <a:off x="-6488" y="142486"/>
              <a:ext cx="332509" cy="51063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51465A1B-822E-D582-80F0-5BA4B6FFF156}"/>
                </a:ext>
              </a:extLst>
            </p:cNvPr>
            <p:cNvSpPr/>
            <p:nvPr/>
          </p:nvSpPr>
          <p:spPr>
            <a:xfrm>
              <a:off x="367416" y="142486"/>
              <a:ext cx="130866" cy="51063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C75771A4-8D0A-19CB-E9B0-159E646DA7B5}"/>
              </a:ext>
            </a:extLst>
          </p:cNvPr>
          <p:cNvSpPr txBox="1"/>
          <p:nvPr/>
        </p:nvSpPr>
        <p:spPr>
          <a:xfrm>
            <a:off x="653780" y="2274838"/>
            <a:ext cx="1126835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Using servers to validate Qwen3-4B-Base scoring and its serial dependence effects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Combining multiple random number seeds to fit images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Attempt to obtain a stable curve by adjusting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Increasing memory length to observe changes in serial dependence effects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Study the specific mechanism of serial dependence effects within large language models through methods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84836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24637</TotalTime>
  <Words>625</Words>
  <Application>Microsoft Office PowerPoint</Application>
  <PresentationFormat>宽屏</PresentationFormat>
  <Paragraphs>45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等线</vt:lpstr>
      <vt:lpstr>华文楷体</vt:lpstr>
      <vt:lpstr>Arial</vt:lpstr>
      <vt:lpstr>Calibri</vt:lpstr>
      <vt:lpstr>Calibri Light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弭 元元</dc:creator>
  <cp:lastModifiedBy>北辰 金</cp:lastModifiedBy>
  <cp:revision>1989</cp:revision>
  <cp:lastPrinted>2022-10-15T03:01:03Z</cp:lastPrinted>
  <dcterms:created xsi:type="dcterms:W3CDTF">2021-06-20T13:35:32Z</dcterms:created>
  <dcterms:modified xsi:type="dcterms:W3CDTF">2026-07-16T15:14:12Z</dcterms:modified>
</cp:coreProperties>
</file>