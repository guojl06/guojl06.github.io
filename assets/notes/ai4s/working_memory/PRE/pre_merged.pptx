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1424" r:id="rId3"/>
    <p:sldId id="2478" r:id="rId5"/>
    <p:sldId id="1364" r:id="rId6"/>
    <p:sldId id="2493" r:id="rId7"/>
    <p:sldId id="2496" r:id="rId8"/>
    <p:sldId id="2497" r:id="rId9"/>
    <p:sldId id="2494" r:id="rId10"/>
    <p:sldId id="2498" r:id="rId11"/>
    <p:sldId id="2495" r:id="rId12"/>
    <p:sldId id="2499" r:id="rId13"/>
    <p:sldId id="2500" r:id="rId14"/>
    <p:sldId id="2501" r:id="rId15"/>
    <p:sldId id="2502" r:id="rId16"/>
    <p:sldId id="2503" r:id="rId17"/>
    <p:sldId id="2504" r:id="rId18"/>
    <p:sldId id="2505" r:id="rId19"/>
    <p:sldId id="2506" r:id="rId20"/>
    <p:sldId id="2507" r:id="rId21"/>
    <p:sldId id="2508" r:id="rId22"/>
    <p:sldId id="2509" r:id="rId23"/>
    <p:sldId id="2510" r:id="rId24"/>
    <p:sldId id="2511" r:id="rId25"/>
    <p:sldId id="2512" r:id="rId26"/>
    <p:sldId id="2513" r:id="rId27"/>
    <p:sldId id="2514" r:id="rId28"/>
    <p:sldId id="2515" r:id="rId29"/>
    <p:sldId id="2516" r:id="rId30"/>
    <p:sldId id="2517" r:id="rId31"/>
  </p:sldIdLst>
  <p:sldSz cx="12192000" cy="6858000"/>
  <p:notesSz cx="9928225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弭 元元" initials="弭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66"/>
    <a:srgbClr val="EC8C4A"/>
    <a:srgbClr val="FFE0CD"/>
    <a:srgbClr val="EEE8E4"/>
    <a:srgbClr val="F0E3DC"/>
    <a:srgbClr val="ED8F65"/>
    <a:srgbClr val="F3ECDF"/>
    <a:srgbClr val="B9F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79589" autoAdjust="0"/>
  </p:normalViewPr>
  <p:slideViewPr>
    <p:cSldViewPr snapToGrid="0">
      <p:cViewPr varScale="1">
        <p:scale>
          <a:sx n="126" d="100"/>
          <a:sy n="126" d="100"/>
        </p:scale>
        <p:origin x="12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1640" y="2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12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925" y="0"/>
            <a:ext cx="4303713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B4664-4E13-4294-98EB-0C153B9A77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363"/>
            <a:ext cx="430212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925" y="6456363"/>
            <a:ext cx="4303713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EC4420-F72D-43AD-8B22-E56769C7F11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3" y="1"/>
            <a:ext cx="4302231" cy="341064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700" y="1"/>
            <a:ext cx="4302231" cy="341064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63270818-307D-4E36-9B85-158C3C35D6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24175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3" y="6456613"/>
            <a:ext cx="4302231" cy="341063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700" y="6456613"/>
            <a:ext cx="4302231" cy="341063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55FE8CAB-B004-46A9-ACA2-F8D9B241EA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79875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79875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r>
              <a:rPr lang="en-US" altLang="zh-CN" sz="1800" dirty="0">
                <a:sym typeface="+mn-ea"/>
              </a:rPr>
              <a:t>Fischer &amp; Whitney (2014) </a:t>
            </a:r>
            <a:r>
              <a:rPr lang="zh-CN" altLang="en-US" sz="1800" dirty="0">
                <a:sym typeface="+mn-ea"/>
              </a:rPr>
              <a:t>首先开始定量研究序列依赖性。他们让被试判断一个光栅的方向，在</a:t>
            </a:r>
            <a:r>
              <a:rPr lang="en-US" altLang="zh-CN" sz="1800" dirty="0">
                <a:sym typeface="+mn-ea"/>
              </a:rPr>
              <a:t>response</a:t>
            </a:r>
            <a:r>
              <a:rPr lang="zh-CN" altLang="en-US" sz="1800" dirty="0">
                <a:sym typeface="+mn-ea"/>
              </a:rPr>
              <a:t>阶段并调节这条白色</a:t>
            </a:r>
            <a:r>
              <a:rPr lang="en-US" altLang="zh-CN" sz="1800" dirty="0">
                <a:sym typeface="+mn-ea"/>
              </a:rPr>
              <a:t>bar</a:t>
            </a:r>
            <a:r>
              <a:rPr lang="zh-CN" altLang="en-US" sz="1800" dirty="0">
                <a:sym typeface="+mn-ea"/>
              </a:rPr>
              <a:t>的角度，来报告他们感知到的方向。就是在这个过程中，他们发现了序列依赖性。举一个例子，比如这是上一个刺激的方向，这是这一试次中刺激的方向，而被试在反应阶段调节出的方向相比于真实的刺激，会稍微的偏向上一个刺激的方向。</a:t>
            </a:r>
            <a:endParaRPr lang="en-US" altLang="zh-CN" sz="18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dirty="0">
                <a:sym typeface="+mn-ea"/>
              </a:rPr>
              <a:t>如果将很多各式次的结果汇总在一起，它们的平均值就会形成一条这样的曲线，横轴代表上一个刺激的角度与这一个刺激的角度的差异，纵轴代表</a:t>
            </a:r>
            <a:r>
              <a:rPr lang="en-US" altLang="zh-CN" sz="1800" dirty="0">
                <a:sym typeface="+mn-ea"/>
              </a:rPr>
              <a:t>response</a:t>
            </a:r>
            <a:r>
              <a:rPr lang="zh-CN" altLang="en-US" sz="1800" dirty="0">
                <a:sym typeface="+mn-ea"/>
              </a:rPr>
              <a:t>报告的角度与实际角度的差异。比如上一个刺激相对于下一个刺激更顺时针，报告出的角度相对于真实刺激也会更顺时针，强烈偏向于先前刺激的方向，体现出吸引性的序列依赖性。随着两个刺激差异增大，效应先增强再减弱，在</a:t>
            </a:r>
            <a:r>
              <a:rPr lang="en-US" altLang="zh-CN" sz="1800" dirty="0">
                <a:sym typeface="+mn-ea"/>
              </a:rPr>
              <a:t>20</a:t>
            </a:r>
            <a:r>
              <a:rPr lang="zh-CN" altLang="en-US" sz="1800" dirty="0">
                <a:sym typeface="+mn-ea"/>
              </a:rPr>
              <a:t>度 达到峰值。</a:t>
            </a:r>
            <a:endParaRPr lang="en-US" altLang="zh-CN" sz="1800" dirty="0"/>
          </a:p>
          <a:p>
            <a:pPr defTabSz="914400">
              <a:defRPr/>
            </a:pPr>
            <a:endParaRPr lang="zh-CN" altLang="en-US" sz="1800" dirty="0"/>
          </a:p>
          <a:p>
            <a:pPr defTabSz="914400">
              <a:defRPr/>
            </a:pPr>
            <a:endParaRPr lang="zh-CN" altLang="en-US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24175" y="849313"/>
            <a:ext cx="4081463" cy="2295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>
              <a:defRPr/>
            </a:pPr>
            <a:endParaRPr lang="zh-CN" altLang="zh-CN" sz="1800" kern="100" dirty="0">
              <a:latin typeface="Calibri" panose="020F0502020204030204" pitchFamily="34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13A649-978D-4D2B-8D10-2AFC3BDC90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/>
        </p:nvGrpSpPr>
        <p:grpSpPr>
          <a:xfrm>
            <a:off x="0" y="6676650"/>
            <a:ext cx="12192000" cy="181350"/>
            <a:chOff x="0" y="6676650"/>
            <a:chExt cx="9144000" cy="181350"/>
          </a:xfrm>
        </p:grpSpPr>
        <p:sp>
          <p:nvSpPr>
            <p:cNvPr id="9" name="任意多边形: 形状 8"/>
            <p:cNvSpPr/>
            <p:nvPr/>
          </p:nvSpPr>
          <p:spPr>
            <a:xfrm flipH="1">
              <a:off x="6226849" y="6676650"/>
              <a:ext cx="2917151" cy="181350"/>
            </a:xfrm>
            <a:custGeom>
              <a:avLst/>
              <a:gdLst>
                <a:gd name="connsiteX0" fmla="*/ 2917151 w 2917151"/>
                <a:gd name="connsiteY0" fmla="*/ 0 h 181350"/>
                <a:gd name="connsiteX1" fmla="*/ 0 w 2917151"/>
                <a:gd name="connsiteY1" fmla="*/ 0 h 181350"/>
                <a:gd name="connsiteX2" fmla="*/ 0 w 2917151"/>
                <a:gd name="connsiteY2" fmla="*/ 181350 h 181350"/>
                <a:gd name="connsiteX3" fmla="*/ 2784049 w 2917151"/>
                <a:gd name="connsiteY3" fmla="*/ 181350 h 181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17151" h="181350">
                  <a:moveTo>
                    <a:pt x="2917151" y="0"/>
                  </a:moveTo>
                  <a:lnTo>
                    <a:pt x="0" y="0"/>
                  </a:lnTo>
                  <a:lnTo>
                    <a:pt x="0" y="181350"/>
                  </a:lnTo>
                  <a:lnTo>
                    <a:pt x="2784049" y="181350"/>
                  </a:lnTo>
                  <a:close/>
                </a:path>
              </a:pathLst>
            </a:custGeom>
            <a:solidFill>
              <a:srgbClr val="E2183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800"/>
            </a:p>
          </p:txBody>
        </p:sp>
        <p:sp>
          <p:nvSpPr>
            <p:cNvPr id="10" name="任意多边形 26"/>
            <p:cNvSpPr/>
            <p:nvPr/>
          </p:nvSpPr>
          <p:spPr>
            <a:xfrm flipH="1">
              <a:off x="5350095" y="6676650"/>
              <a:ext cx="1014484" cy="181350"/>
            </a:xfrm>
            <a:custGeom>
              <a:avLst/>
              <a:gdLst>
                <a:gd name="connsiteX0" fmla="*/ 923580 w 923580"/>
                <a:gd name="connsiteY0" fmla="*/ 0 h 165100"/>
                <a:gd name="connsiteX1" fmla="*/ 121175 w 923580"/>
                <a:gd name="connsiteY1" fmla="*/ 0 h 165100"/>
                <a:gd name="connsiteX2" fmla="*/ 0 w 923580"/>
                <a:gd name="connsiteY2" fmla="*/ 165100 h 165100"/>
                <a:gd name="connsiteX3" fmla="*/ 802405 w 923580"/>
                <a:gd name="connsiteY3" fmla="*/ 165100 h 1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3580" h="165100">
                  <a:moveTo>
                    <a:pt x="923580" y="0"/>
                  </a:moveTo>
                  <a:lnTo>
                    <a:pt x="121175" y="0"/>
                  </a:lnTo>
                  <a:lnTo>
                    <a:pt x="0" y="165100"/>
                  </a:lnTo>
                  <a:lnTo>
                    <a:pt x="802405" y="165100"/>
                  </a:lnTo>
                  <a:close/>
                </a:path>
              </a:pathLst>
            </a:custGeom>
            <a:solidFill>
              <a:srgbClr val="BD1C3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800"/>
            </a:p>
          </p:txBody>
        </p:sp>
        <p:sp>
          <p:nvSpPr>
            <p:cNvPr id="11" name="任意多边形 28"/>
            <p:cNvSpPr/>
            <p:nvPr/>
          </p:nvSpPr>
          <p:spPr>
            <a:xfrm flipH="1">
              <a:off x="0" y="6676650"/>
              <a:ext cx="5487798" cy="181350"/>
            </a:xfrm>
            <a:custGeom>
              <a:avLst/>
              <a:gdLst>
                <a:gd name="connsiteX0" fmla="*/ 4996060 w 4996060"/>
                <a:gd name="connsiteY0" fmla="*/ 0 h 165100"/>
                <a:gd name="connsiteX1" fmla="*/ 923580 w 4996060"/>
                <a:gd name="connsiteY1" fmla="*/ 0 h 165100"/>
                <a:gd name="connsiteX2" fmla="*/ 349005 w 4996060"/>
                <a:gd name="connsiteY2" fmla="*/ 0 h 165100"/>
                <a:gd name="connsiteX3" fmla="*/ 121175 w 4996060"/>
                <a:gd name="connsiteY3" fmla="*/ 0 h 165100"/>
                <a:gd name="connsiteX4" fmla="*/ 0 w 4996060"/>
                <a:gd name="connsiteY4" fmla="*/ 165100 h 165100"/>
                <a:gd name="connsiteX5" fmla="*/ 4996060 w 4996060"/>
                <a:gd name="connsiteY5" fmla="*/ 165100 h 165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96060" h="165100">
                  <a:moveTo>
                    <a:pt x="4996060" y="0"/>
                  </a:moveTo>
                  <a:lnTo>
                    <a:pt x="923580" y="0"/>
                  </a:lnTo>
                  <a:lnTo>
                    <a:pt x="349005" y="0"/>
                  </a:lnTo>
                  <a:lnTo>
                    <a:pt x="121175" y="0"/>
                  </a:lnTo>
                  <a:lnTo>
                    <a:pt x="0" y="165100"/>
                  </a:lnTo>
                  <a:lnTo>
                    <a:pt x="4996060" y="165100"/>
                  </a:lnTo>
                  <a:close/>
                </a:path>
              </a:pathLst>
            </a:custGeom>
            <a:solidFill>
              <a:srgbClr val="8016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1800" dirty="0"/>
            </a:p>
          </p:txBody>
        </p:sp>
      </p:grpSp>
      <p:sp>
        <p:nvSpPr>
          <p:cNvPr id="6" name="Slide Number Placeholder 5"/>
          <p:cNvSpPr txBox="1"/>
          <p:nvPr userDrawn="1"/>
        </p:nvSpPr>
        <p:spPr>
          <a:xfrm>
            <a:off x="9344781" y="6584763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CC5E4104-ED77-4A45-B872-2B72BBEF451C}" type="slidenum">
              <a:rPr lang="zh-CN" altLang="en-US" sz="1800" smtClean="0">
                <a:solidFill>
                  <a:schemeClr val="bg1"/>
                </a:solidFill>
              </a:rPr>
            </a:fld>
            <a:endParaRPr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90178-06BD-4B03-BD4E-B3BFE1CB707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B4053-B607-412E-A370-690EE89EF5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44700" y="2084059"/>
            <a:ext cx="8102600" cy="17943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Serial Dependence: Proceed from Psychology</a:t>
            </a:r>
            <a:endParaRPr kumimoji="1" lang="en-US" altLang="zh-CN" sz="4000" b="1" dirty="0">
              <a:solidFill>
                <a:srgbClr val="C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4663136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Serial Dependence in humanity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2" y="1087755"/>
            <a:ext cx="4126865" cy="5328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t="-1" r="51899" b="17271"/>
          <a:stretch>
            <a:fillRect/>
          </a:stretch>
        </p:blipFill>
        <p:spPr>
          <a:xfrm>
            <a:off x="1397633" y="1995170"/>
            <a:ext cx="3989296" cy="3020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127702"/>
            <a:ext cx="12142206" cy="695800"/>
            <a:chOff x="-6488" y="82105"/>
            <a:chExt cx="8832187" cy="571020"/>
          </a:xfrm>
        </p:grpSpPr>
        <p:sp>
          <p:nvSpPr>
            <p:cNvPr id="11" name="矩形 10"/>
            <p:cNvSpPr/>
            <p:nvPr/>
          </p:nvSpPr>
          <p:spPr>
            <a:xfrm>
              <a:off x="651757" y="82105"/>
              <a:ext cx="6250379" cy="5294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pPr algn="l"/>
              <a:r>
                <a:rPr kumimoji="1" lang="en-US" altLang="zh-CN" sz="36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Serial dependence paradigms: Adjustment tasks</a:t>
              </a:r>
              <a:endParaRPr kumimoji="1" lang="en-US" altLang="zh-CN" sz="36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973060" y="6210300"/>
            <a:ext cx="4051300" cy="3035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200" dirty="0">
                <a:latin typeface="+mj-lt"/>
              </a:rPr>
              <a:t>Fischer &amp; Whitney, Nature Neuroscience, 2014</a:t>
            </a:r>
            <a:endParaRPr lang="en-US" altLang="zh-CN" sz="1200" dirty="0">
              <a:latin typeface="+mj-lt"/>
            </a:endParaRPr>
          </a:p>
          <a:p>
            <a:endParaRPr lang="en-US" altLang="zh-CN" sz="1200" dirty="0">
              <a:latin typeface="+mj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5589" y="2096727"/>
            <a:ext cx="1559842" cy="14616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5092207" y="2096727"/>
            <a:ext cx="1559842" cy="1461970"/>
            <a:chOff x="5522102" y="1604602"/>
            <a:chExt cx="1559842" cy="146197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522102" y="1604602"/>
              <a:ext cx="1559842" cy="1461970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1776377">
              <a:off x="5766216" y="1890398"/>
              <a:ext cx="1071613" cy="961704"/>
            </a:xfrm>
            <a:prstGeom prst="rect">
              <a:avLst/>
            </a:prstGeom>
          </p:spPr>
        </p:pic>
      </p:grpSp>
      <p:sp>
        <p:nvSpPr>
          <p:cNvPr id="20" name="文本框 19"/>
          <p:cNvSpPr txBox="1"/>
          <p:nvPr/>
        </p:nvSpPr>
        <p:spPr>
          <a:xfrm>
            <a:off x="5339955" y="3558697"/>
            <a:ext cx="16642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Trial N-1</a:t>
            </a:r>
            <a:endParaRPr lang="en-US" altLang="zh-CN" sz="1600" dirty="0">
              <a:latin typeface="+mj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439197" y="3547735"/>
            <a:ext cx="1115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Trial N</a:t>
            </a:r>
            <a:endParaRPr lang="zh-CN" altLang="en-US" sz="1600" dirty="0">
              <a:latin typeface="+mj-lt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30010" y="2694098"/>
            <a:ext cx="5934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……</a:t>
            </a:r>
            <a:endParaRPr lang="en-US" altLang="zh-CN" sz="1600" dirty="0">
              <a:latin typeface="+mj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226345" y="3542621"/>
            <a:ext cx="1115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Response</a:t>
            </a:r>
            <a:endParaRPr lang="zh-CN" altLang="en-US" sz="1600" dirty="0">
              <a:latin typeface="+mj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9972914" y="2096727"/>
            <a:ext cx="1559842" cy="1461970"/>
            <a:chOff x="10402809" y="1604602"/>
            <a:chExt cx="1559842" cy="1461970"/>
          </a:xfrm>
        </p:grpSpPr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402809" y="1604602"/>
              <a:ext cx="1559842" cy="1461970"/>
            </a:xfrm>
            <a:prstGeom prst="rect">
              <a:avLst/>
            </a:prstGeom>
          </p:spPr>
        </p:pic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74668" y="1735213"/>
              <a:ext cx="1416124" cy="1177261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/>
        </p:nvGrpSpPr>
        <p:grpSpPr>
          <a:xfrm>
            <a:off x="4885373" y="4064635"/>
            <a:ext cx="2499677" cy="2291715"/>
            <a:chOff x="7654388" y="3528717"/>
            <a:chExt cx="3062184" cy="2807336"/>
          </a:xfrm>
        </p:grpSpPr>
        <p:pic>
          <p:nvPicPr>
            <p:cNvPr id="33" name="图片 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01655" y="3528717"/>
              <a:ext cx="2714917" cy="2468107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8869071" y="5996901"/>
                  <a:ext cx="1421214" cy="33915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9071" y="5996901"/>
                  <a:ext cx="1421214" cy="339152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/>
                <p:cNvSpPr txBox="1"/>
                <p:nvPr/>
              </p:nvSpPr>
              <p:spPr>
                <a:xfrm rot="16200000">
                  <a:off x="6957032" y="4469158"/>
                  <a:ext cx="1741653" cy="3469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𝑟𝑒𝑠𝑝𝑜𝑛𝑠𝑒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a14:m>
                  <a:r>
                    <a:rPr lang="en-US" altLang="zh-CN" dirty="0"/>
                    <a:t> 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35" name="文本框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957032" y="4469158"/>
                  <a:ext cx="1741653" cy="346941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7" name="图片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80" y="2182495"/>
            <a:ext cx="4858385" cy="3933825"/>
          </a:xfrm>
          <a:prstGeom prst="rect">
            <a:avLst/>
          </a:prstGeom>
        </p:spPr>
      </p:pic>
      <p:cxnSp>
        <p:nvCxnSpPr>
          <p:cNvPr id="41" name="直接连接符 40"/>
          <p:cNvCxnSpPr/>
          <p:nvPr/>
        </p:nvCxnSpPr>
        <p:spPr>
          <a:xfrm>
            <a:off x="10557510" y="2546985"/>
            <a:ext cx="403225" cy="573405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0667365" y="2489200"/>
            <a:ext cx="172085" cy="69215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右箭头 43"/>
          <p:cNvSpPr/>
          <p:nvPr/>
        </p:nvSpPr>
        <p:spPr>
          <a:xfrm rot="840000">
            <a:off x="10534015" y="2429510"/>
            <a:ext cx="139065" cy="135255"/>
          </a:xfrm>
          <a:prstGeom prst="bentArrow">
            <a:avLst>
              <a:gd name="adj1" fmla="val 13448"/>
              <a:gd name="adj2" fmla="val 23931"/>
              <a:gd name="adj3" fmla="val 25000"/>
              <a:gd name="adj4" fmla="val 78030"/>
            </a:avLst>
          </a:prstGeom>
          <a:solidFill>
            <a:srgbClr val="A4111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A4111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045065" y="2180590"/>
            <a:ext cx="1093470" cy="1854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sz="1600" dirty="0">
                <a:solidFill>
                  <a:srgbClr val="A41111"/>
                </a:solidFill>
                <a:latin typeface="+mj-lt"/>
              </a:rPr>
              <a:t>attraction</a:t>
            </a:r>
            <a:endParaRPr lang="en-US" altLang="zh-CN" sz="1600" dirty="0">
              <a:solidFill>
                <a:srgbClr val="A41111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8442" y="2076308"/>
            <a:ext cx="27461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+mj-lt"/>
              </a:rPr>
              <a:t>orientation of Gabor stimuli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6395" y="916940"/>
            <a:ext cx="1137539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en-US" altLang="zh-CN" sz="2000" dirty="0">
                <a:ea typeface="华文楷体" panose="02010600040101010101" pitchFamily="2" charset="-122"/>
              </a:rPr>
              <a:t>In the method of adjustment, a brief stimulus is followed by a response tool that resembles one of the stimulus’ features (e.g., the orientation, size). Participants adjust the tool to match their perception of the feature. This method is also known as a “delayed reproduction task” or simply “reproduction task.”</a:t>
            </a:r>
            <a:endParaRPr lang="en-US" altLang="zh-CN" sz="2000" dirty="0">
              <a:ea typeface="华文楷体" panose="0201060004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17765" y="4170680"/>
            <a:ext cx="45766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90204" pitchFamily="34" charset="0"/>
              <a:buChar char="•"/>
            </a:pPr>
            <a:r>
              <a:rPr lang="en-US" altLang="zh-CN" sz="2000" dirty="0">
                <a:ea typeface="华文楷体" panose="02010600040101010101" pitchFamily="2" charset="-122"/>
              </a:rPr>
              <a:t>On average, adjustment errors (reported minus true orientation) were positively related to the difference in orientation (Δ) between the previous and the present stimulus, showing a bias toward the previous orientation.</a:t>
            </a:r>
            <a:endParaRPr lang="en-US" altLang="zh-CN" sz="2000" dirty="0"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6" grpId="0"/>
      <p:bldP spid="27" grpId="0"/>
      <p:bldP spid="44" grpId="0" bldLvl="0" animBg="1"/>
      <p:bldP spid="45" grpId="0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2275132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Our Paradigm: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94700" y="1185453"/>
            <a:ext cx="111305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Purpose:</a:t>
            </a:r>
            <a:r>
              <a:rPr lang="en-US" altLang="zh-CN" sz="2000" dirty="0"/>
              <a:t> In the experiment of testing the serial dependence effect of a large model through vocabulary 		scoring, the continuity of vocabulary semantics is tested to determine whether it is related to the 		serial dependence effect</a:t>
            </a:r>
            <a:r>
              <a:rPr lang="zh-CN" altLang="en-US" sz="2000" dirty="0"/>
              <a:t> </a:t>
            </a:r>
            <a:endParaRPr lang="zh-CN" altLang="en-US" sz="2000" dirty="0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376" y="2372565"/>
            <a:ext cx="9121248" cy="40688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2275132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Our Paradigm: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355" y="2707193"/>
            <a:ext cx="4153480" cy="25530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680" y="2986484"/>
            <a:ext cx="3010320" cy="27816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572" y="2885502"/>
            <a:ext cx="2934109" cy="290553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253" y="3076984"/>
            <a:ext cx="2876951" cy="260068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2750820" y="5849831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Baseline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6766560" y="5849831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Same Domain</a:t>
            </a:r>
            <a:endParaRPr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9865245" y="5849831"/>
            <a:ext cx="14729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Cross Domain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07857" y="1166330"/>
            <a:ext cx="107670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Prompts : </a:t>
            </a:r>
            <a:r>
              <a:rPr lang="zh-CN" altLang="en-US" dirty="0"/>
              <a:t>你正在参加一个连续心理判断实验，每个试次会给出一个词语和一个评价维度，请你根据对该词</a:t>
            </a:r>
            <a:r>
              <a:rPr lang="en-US" altLang="zh-CN" dirty="0"/>
              <a:t>		</a:t>
            </a:r>
            <a:r>
              <a:rPr lang="zh-CN" altLang="en-US" dirty="0"/>
              <a:t>语意思的整体理解，为这个词语在其维度中进行打分。评分规则：</a:t>
            </a:r>
            <a:r>
              <a:rPr lang="en-US" altLang="zh-CN" dirty="0"/>
              <a:t>1. </a:t>
            </a:r>
            <a:r>
              <a:rPr lang="zh-CN" altLang="en-US" dirty="0"/>
              <a:t>输出</a:t>
            </a:r>
            <a:r>
              <a:rPr lang="en-US" altLang="zh-CN" dirty="0"/>
              <a:t>1-100</a:t>
            </a:r>
            <a:r>
              <a:rPr lang="zh-CN" altLang="en-US" dirty="0"/>
              <a:t>之间整数。</a:t>
            </a:r>
            <a:r>
              <a:rPr lang="en-US" altLang="zh-CN" dirty="0"/>
              <a:t>2. </a:t>
            </a:r>
            <a:r>
              <a:rPr lang="zh-CN" altLang="en-US" dirty="0"/>
              <a:t>只</a:t>
            </a:r>
            <a:r>
              <a:rPr lang="en-US" altLang="zh-CN" dirty="0"/>
              <a:t>			</a:t>
            </a:r>
            <a:r>
              <a:rPr lang="zh-CN" altLang="en-US" dirty="0"/>
              <a:t>能输出数字，不输出解释。</a:t>
            </a:r>
            <a:r>
              <a:rPr lang="en-US" altLang="zh-CN" dirty="0"/>
              <a:t>3. </a:t>
            </a:r>
            <a:r>
              <a:rPr lang="zh-CN" altLang="en-US" dirty="0"/>
              <a:t>根据当前词语和当前任务自然判断。</a:t>
            </a:r>
            <a:endParaRPr lang="zh-CN" altLang="en-US" dirty="0"/>
          </a:p>
          <a:p>
            <a:r>
              <a:rPr lang="en-US" altLang="zh-CN" dirty="0"/>
              <a:t>		</a:t>
            </a:r>
            <a:r>
              <a:rPr lang="zh-CN" altLang="en-US" dirty="0"/>
              <a:t>评价维度：情绪效价：</a:t>
            </a:r>
            <a:r>
              <a:rPr lang="en-US" altLang="zh-CN" dirty="0"/>
              <a:t>1 = </a:t>
            </a:r>
            <a:r>
              <a:rPr lang="zh-CN" altLang="en-US" dirty="0"/>
              <a:t>极端消极，</a:t>
            </a:r>
            <a:r>
              <a:rPr lang="en-US" altLang="zh-CN" dirty="0"/>
              <a:t>50 = </a:t>
            </a:r>
            <a:r>
              <a:rPr lang="zh-CN" altLang="en-US" dirty="0"/>
              <a:t>中性，</a:t>
            </a:r>
            <a:r>
              <a:rPr lang="en-US" altLang="zh-CN" dirty="0"/>
              <a:t>100 = </a:t>
            </a:r>
            <a:r>
              <a:rPr lang="zh-CN" altLang="en-US" dirty="0"/>
              <a:t>极端积极；味觉甜度：</a:t>
            </a:r>
            <a:r>
              <a:rPr lang="en-US" altLang="zh-CN" dirty="0"/>
              <a:t>1 = </a:t>
            </a:r>
            <a:r>
              <a:rPr lang="zh-CN" altLang="en-US" dirty="0"/>
              <a:t>极苦或无甜味，</a:t>
            </a:r>
            <a:r>
              <a:rPr lang="en-US" altLang="zh-CN" dirty="0"/>
              <a:t>		50 = </a:t>
            </a:r>
            <a:r>
              <a:rPr lang="zh-CN" altLang="en-US" dirty="0"/>
              <a:t>中性，</a:t>
            </a:r>
            <a:r>
              <a:rPr lang="en-US" altLang="zh-CN" dirty="0"/>
              <a:t>100 = </a:t>
            </a:r>
            <a:r>
              <a:rPr lang="zh-CN" altLang="en-US" dirty="0"/>
              <a:t>极甜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1412280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Result</a:t>
              </a:r>
              <a:r>
                <a:rPr lang="zh-CN" altLang="en-US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94" y="842786"/>
            <a:ext cx="3634740" cy="223912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680" y="842786"/>
            <a:ext cx="3655896" cy="22391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215" y="3416798"/>
            <a:ext cx="3524319" cy="27722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4680" y="3493883"/>
            <a:ext cx="3792912" cy="269515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2530" y="842786"/>
            <a:ext cx="3134233" cy="22720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8201" y="3531783"/>
            <a:ext cx="3590096" cy="25422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1412280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Result</a:t>
              </a:r>
              <a:r>
                <a:rPr lang="zh-CN" altLang="en-US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4560" y="861709"/>
            <a:ext cx="3906048" cy="28168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362" y="813900"/>
            <a:ext cx="4137660" cy="2951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560" y="3765025"/>
            <a:ext cx="3968784" cy="281146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072" y="3732551"/>
            <a:ext cx="4133950" cy="29511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1412280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Result</a:t>
              </a:r>
              <a:r>
                <a:rPr lang="zh-CN" altLang="en-US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：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5151" y="962413"/>
            <a:ext cx="6453455" cy="174702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5151" y="2822115"/>
            <a:ext cx="6453455" cy="17739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150" y="4715670"/>
            <a:ext cx="6453456" cy="179304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135380" y="1722120"/>
            <a:ext cx="183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Qwen3 0.6B-Base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1141266" y="3339750"/>
            <a:ext cx="1838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Qwen3 1.7B-Base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135380" y="5242861"/>
            <a:ext cx="166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Qwen3 4B-Base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701540" y="1758433"/>
            <a:ext cx="5852160" cy="44374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796446" y="2983472"/>
            <a:ext cx="5757254" cy="9408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49794" y="96334"/>
            <a:ext cx="12142207" cy="727169"/>
            <a:chOff x="-6488" y="56362"/>
            <a:chExt cx="8832187" cy="596763"/>
          </a:xfrm>
        </p:grpSpPr>
        <p:sp>
          <p:nvSpPr>
            <p:cNvPr id="11" name="矩形 10"/>
            <p:cNvSpPr/>
            <p:nvPr/>
          </p:nvSpPr>
          <p:spPr>
            <a:xfrm>
              <a:off x="651757" y="56362"/>
              <a:ext cx="2099064" cy="5809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spAutoFit/>
            </a:bodyPr>
            <a:lstStyle/>
            <a:p>
              <a:r>
                <a:rPr lang="en-US" altLang="zh-CN" sz="4000" b="1" dirty="0">
                  <a:solidFill>
                    <a:srgbClr val="C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Further study</a:t>
              </a:r>
              <a:endParaRPr lang="en-US" altLang="zh-CN" sz="4000" b="1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574757" y="653125"/>
              <a:ext cx="8250942" cy="0"/>
            </a:xfrm>
            <a:prstGeom prst="line">
              <a:avLst/>
            </a:prstGeom>
            <a:ln w="12700" cap="rnd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-6488" y="142486"/>
              <a:ext cx="332509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367416" y="142486"/>
              <a:ext cx="130866" cy="51063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653780" y="2274838"/>
            <a:ext cx="112683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 dirty="0"/>
              <a:t>Using servers to validate Qwen3-4B-Base scoring and its serial dependence effects</a:t>
            </a:r>
            <a:endParaRPr lang="en-US" altLang="zh-CN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 dirty="0"/>
              <a:t>Combining multiple random number seeds to fit images</a:t>
            </a:r>
            <a:endParaRPr lang="en-US" altLang="zh-CN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 dirty="0"/>
              <a:t>Attempt to obtain a stable curve by adjusting parameters</a:t>
            </a:r>
            <a:endParaRPr lang="en-US" altLang="zh-CN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 dirty="0"/>
              <a:t>Increasing memory length to observe changes in serial dependence effects</a:t>
            </a:r>
            <a:endParaRPr lang="en-US" altLang="zh-CN" sz="2400" dirty="0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 sz="2400" dirty="0"/>
              <a:t>Study the specific mechanism of serial dependence effects within large language models through methods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00000"/>
                </a:solidFill>
                <a:latin typeface="华文楷体" panose="02010600040101010101" pitchFamily="2" charset="-122"/>
              </a:rPr>
              <a:t>Part Ⅱ · Proactive Interference Release</a:t>
            </a:r>
            <a:endParaRPr sz="3800" b="1">
              <a:solidFill>
                <a:srgbClr val="C00000"/>
              </a:solidFill>
              <a:latin typeface="华文楷体" panose="02010600040101010101" pitchFamily="2" charset="-122"/>
            </a:endParaRPr>
          </a:p>
          <a:p>
            <a:pPr algn="ctr"/>
            <a:r>
              <a:rPr sz="2000" b="0">
                <a:solidFill>
                  <a:srgbClr val="707070"/>
                </a:solidFill>
                <a:latin typeface="华文楷体" panose="02010600040101010101" pitchFamily="2" charset="-122"/>
              </a:rPr>
              <a:t>Feature-Update 范式 · DeepSeek + Qwen3.5-2B · 千条数据</a:t>
            </a:r>
            <a:endParaRPr sz="2000" b="0">
              <a:solidFill>
                <a:srgbClr val="707070"/>
              </a:solidFill>
              <a:latin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背景：什么是前摄干扰（PI）？为什么在 LLM 上做？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前摄干扰（Proactive Interference, PI）：先前学过的旧信息，干扰对后续新信息的提取。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经典例子：连续背几组同类词表，越往后越难记——旧词在“抢”回忆通道。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Wickens (1960s)：同类词表逐次变难（PI 累积）；一旦换成新类别，准确率跳升 = “PI Release / 范畴释放”。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→ 这说明人类记忆是按“范畴”组织的；换范畴就能把旧干扰“卸载”。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我们的问题：LLM（Transformer）有没有这种 PI？它的记忆检索是按范畴（category-based）还是按内容（content-addressable）？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给一个“范畴切换/语义重启”线索，能不能像人一样触发 release？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实验范式：Feature-Update（基于 Unable to Forget, arXiv:2506.08184）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任务：一条文本流里，N 个 key（如 dish / music / weapon …）各自被反复赋予新值。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流格式：“dish: sushi; music: bongos; dish: chicken kebab; music: gamelan; …”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流被全随机打乱（禁止连续同一 key）——模型必须逐个搜索，不能只读末尾。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流结束后问：“What are the current value of each key (…) ?” 每个 key 答最新值。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评分：exact-match，论文逐行移植（verbal + colon 正则，strip+lower 精确匹配）。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为什么这测 PI：每个 key 被覆盖多次，模型须只取“最后一次”；但旧值（已被覆盖）会前摄干扰——模型常吐出旧值/中间值，而非最新值。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负载 u（每个 key 的更新次数）越大，干扰越重 → G0 baseline 准确率随 u 单调下降。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干预组设计：G0–G8s + 组合策略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G0 baseline：不加任何干预，看天然 PI 有多严重。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G1–G7：各种 prompt 工程（语义遗忘提示 / mock-QA 重置 / 句法断崖 / glitch token …），多数无效或微效。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G8s = hackreset：在流中注入一段“全新、无关的语义流”，强行让模型“重启”上下文——模拟 Wickens 的范畴切换。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组合策略：在 G8s release 基础上叠加辅助干预，看能否进一步增强。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G2+G8s, G7+G2+G8s, G2+G5+G8s, G2+G7+G8s …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G2+G4+G3+G8s（含 glitch token）等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扫参：17 策略 × 更新次数 u3→u400 × 注入位置；DeepSeek 2410 条 + Qwen3.5-2B 1025+ 条。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数据规模与跨模型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DeepSeek-Chat（API，大规模）：2410 条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Batch1：46 key × 17 策略 × 8 updates = 1360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Batch2：位置扫描 5 策略 × 3 updates × 7 位置 = 1050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Qwen3.5-2B（本地，24 层）：1025 条（15 key，u3–u97，17 策略）+ 位置扫描 1050 条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temperature=0 / greedy，确定性；评分与论文逐行对齐。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→ 两个数量级不同的模型交叉验证，看现象是否稳健。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现象 ①：Release 的“下降后上升”（DeepSeek, 46 key）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pic>
        <p:nvPicPr>
          <p:cNvPr id="3" name="Picture 2" descr="c_dip_ri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7" y="914400"/>
            <a:ext cx="8046720" cy="4219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707070"/>
                </a:solidFill>
                <a:latin typeface="等线"/>
              </a:rPr>
              <a:t>G8s / G2+G8s 呈典型“下降后上升”：低负载（u6）时 release 线索反而干扰简单回忆，准确率掉到 ~0.18；高负载（u97+）PI 严重时，release 把准确率从 0.54 拉回 0.79。G0 baseline 单调下降。结论：release 线索是“PI 解药”，但它只在 PI 真正发生时起效。</a:t>
            </a:r>
            <a:endParaRPr sz="125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现象 ②：G2+G8s 王牌组合（高 PI 区最强，DeepSeek）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策略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u97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u197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u400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G0 baseline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0.73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0.54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0.44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G8s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0.69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0.71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0.62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G2+G8s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0.79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0.79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0.55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G2+G7+G8s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0.77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0.75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0.61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G2+G5+G8s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0.80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0.74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0.47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07070"/>
                </a:solidFill>
                <a:latin typeface="等线"/>
              </a:rPr>
              <a:t>高 PI（u97–u400）下 G2+G8s 及变体达 0.75–0.80，显著超 G0（u197：0.79 vs 0.54）。G2（mock-QA 自我重置）+ G8s（语义重启）是大多数情况下的王牌组合。</a:t>
            </a:r>
            <a:endParaRPr sz="120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现象 ③：G4 glitch token 的“先破坏后组合”反转（DeepSeek）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pic>
        <p:nvPicPr>
          <p:cNvPr id="3" name="Picture 2" descr="c_g4_revers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7" y="914400"/>
            <a:ext cx="8046720" cy="4219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707070"/>
                </a:solidFill>
                <a:latin typeface="等线"/>
              </a:rPr>
              <a:t>G4（一个“glitch token”干扰词）单独使用 ≈ G0，低负载甚至略伤；但极端高负载（u400）下，含 G4 的组合（G2+G4+G3+G8s=0.65）反成全场最强。猜测：glitch 的“破坏性”在高 PI 下打断了旧值锚定，配合 G8s release 实现奇异提升——先破坏，后组合。</a:t>
            </a:r>
            <a:endParaRPr sz="125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跨模型复现：Qwen3.5-2B（24 层）同样出现 Release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update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G0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G8s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G2+G8s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G7+G2+G8s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u3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0.71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0.60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B7A3A"/>
                          </a:solidFill>
                          <a:latin typeface="等线"/>
                        </a:rPr>
                        <a:t>0.77</a:t>
                      </a:r>
                      <a:endParaRPr sz="1100" b="0">
                        <a:solidFill>
                          <a:srgbClr val="1B7A3A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0.61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u12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等线"/>
                        </a:rPr>
                        <a:t>0.13</a:t>
                      </a:r>
                      <a:endParaRPr sz="1100" b="0">
                        <a:solidFill>
                          <a:srgbClr val="C0392B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0.33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等线"/>
                        </a:rPr>
                        <a:t>0.27</a:t>
                      </a:r>
                      <a:endParaRPr sz="1100" b="0">
                        <a:solidFill>
                          <a:srgbClr val="C0392B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等线"/>
                        </a:rPr>
                        <a:t>0.24</a:t>
                      </a:r>
                      <a:endParaRPr sz="1100" b="0">
                        <a:solidFill>
                          <a:srgbClr val="C0392B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u48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等线"/>
                        </a:rPr>
                        <a:t>0.00</a:t>
                      </a:r>
                      <a:endParaRPr sz="1100" b="0">
                        <a:solidFill>
                          <a:srgbClr val="C0392B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0.47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等线"/>
                        </a:rPr>
                        <a:t>0.25</a:t>
                      </a:r>
                      <a:endParaRPr sz="1100" b="0">
                        <a:solidFill>
                          <a:srgbClr val="C0392B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0.42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u97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C0392B"/>
                          </a:solidFill>
                          <a:latin typeface="等线"/>
                        </a:rPr>
                        <a:t>0.00</a:t>
                      </a:r>
                      <a:endParaRPr sz="1100" b="0">
                        <a:solidFill>
                          <a:srgbClr val="C0392B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0.49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0.55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0.64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07070"/>
                </a:solidFill>
                <a:latin typeface="等线"/>
              </a:rPr>
              <a:t>小模型（2B）同样复现：u48/u97 G0=0 → G8s/G7+G2+G8s=0.47–0.64。Release 跨模型规模一致。（注：2B 上 G8s 单独比 G2+G8s 更强，与 DeepSeek 相反，疑因小模型注意力带宽窄，G2 反而稀释。）</a:t>
            </a:r>
            <a:endParaRPr sz="120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机制假说（⚠ 待验证 — 机制实验尚未进行）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H1（层级定位）：Layer 11（24 层的 46%）是 release 核心层——G0 vs G8s activation cosine 在该层最大分叉（0.77）。待 logit-lens / attention diff 验证。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H2（G8s 为何起效）：G8s 提供“干净语义重启”，重定向查询位置注意力、打断旧值锚定——比温和 category-switch 更激进（与 Part Ⅲ 对照）。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H3（G4 glitch 反转）：glitch token 在高 PI 下扰动已固化的旧值表征，使其更易被 G2+G8s 覆盖。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H4（失败模式依赖）：release 是否奏效取决于 PI 失败模式（首因锚定 vs 中间值检索失败）。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以上为基于行为数据的合理猜测；logit-lens / attention / activation patching 等机制实验待开展。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C00000"/>
                </a:solidFill>
                <a:latin typeface="华文楷体" panose="02010600040101010101" pitchFamily="2" charset="-122"/>
              </a:rPr>
              <a:t>Part Ⅲ · Slot-PI 范式</a:t>
            </a:r>
            <a:endParaRPr sz="3800" b="1">
              <a:solidFill>
                <a:srgbClr val="C00000"/>
              </a:solidFill>
              <a:latin typeface="华文楷体" panose="02010600040101010101" pitchFamily="2" charset="-122"/>
            </a:endParaRPr>
          </a:p>
          <a:p>
            <a:pPr algn="ctr"/>
            <a:r>
              <a:rPr sz="2000" b="0">
                <a:solidFill>
                  <a:srgbClr val="707070"/>
                </a:solidFill>
                <a:latin typeface="华文楷体" panose="02010600040101010101" pitchFamily="2" charset="-122"/>
              </a:rPr>
              <a:t>PI 稳健存在，但 Release 缺失· DeepSeek + Qwen3-4B</a:t>
            </a:r>
            <a:endParaRPr sz="2000" b="0">
              <a:solidFill>
                <a:srgbClr val="707070"/>
              </a:solidFill>
              <a:latin typeface="华文楷体" panose="020106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Slot-PI 范式：警探·目击者·信誉度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情景：你是警探，收到 N 个目击者对嫌疑人的描述；每个目击者有信誉度 1–5★。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6 个固定槽位：height / clothing / hair / item / exit / time。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每个目击者更新其中几个槽位；覆盖规则：仅当 cred_new ≥ cred_old 才覆盖该槽位。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Query：每个槽位引用**最高信誉**目击者的原话（不转述）。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PI 指标：**cred&lt;gold**——若回答里出现“信誉低于 gold 的旧值”= 真正 PI（被覆盖的旧值本不该记得却记得了）。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→ 这套范式能区分“真 PI”（旧值侵入）和“同信誉选错”（primacy/recency 竞争）。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Slot-PI 数据规模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DeepSeek-Chat（temp=0）为主模型，Qwen3-4B（GPU, greedy）交叉验证。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6 类实验：PI 累积（25→200 NPC）/ 槽位数 s 扫描 / Batch vs Sequential / Dual-Case 分案 / 正交槽位 / Context 控制。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每个条件 3–5 次重复；唯一值池（无放回），避免名字/值重复混淆。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现象：PI 稳健存在（DeepSeek, s=2）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pic>
        <p:nvPicPr>
          <p:cNvPr id="3" name="Picture 2" descr="c_pi_build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7" y="914400"/>
            <a:ext cx="8046720" cy="4219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707070"/>
                </a:solidFill>
                <a:latin typeface="等线"/>
              </a:rPr>
              <a:t>PI 侵入随目击者数线性增长（21→164）；cred&lt;gold ≈ 80% 证明大部分侵入是真正 PI；diff（信誉不同）≈ equal（信誉同）两条曲线几乎重合——信誉度不影响 PI，PI 是纯槽位值的记忆竞争。（consistent 对照 100% 准确，确认 PI 源自信息矛盾而非信息量。）</a:t>
            </a:r>
            <a:endParaRPr sz="125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进一步结果：PI 是稳健的结构性现象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s（每目击者更新槽位数）无主效应：1→6 槽位，PI 总量与 cred&lt;gold 比例都稳定（~80%）。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Sequential ≈ Batch：逐人确认 vs 一次性呈现，PI 几乎无差异。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PI vs Context Length：固定 NPC 数、只变目标信息量，PI 仍随信息量线性增长——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→ PI 是独立因素，不是“长文本副作用”。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height / time 是 PI 重灾区（连续数值维度易混淆），clothing 最抗 PI（关键词独特）。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PI Release 实验①：Dual-Case（同槽位双案）——无法释放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设计：两个案件（仓库 / 盗车）的目击者混在一起；query 显式要求分案回答，目击者前加 [WAREHOUSE]/[CAR THEFT] 标签。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逻辑：如果模型只是“没动力”分案，那显式要求分案应能 release。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结果：**跨案污染 cross = 93%（2.8/3）无法消除**——即使分案 + 标签，仓库案目击者的身高值仍混进盗车案描述。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→ 同槽位的旧值永远竞争当前提取，温和的“分案/范畴线索”无效。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PI Release 实验②：Orthogonal（零槽位重叠）——cross=0 但有注意力代价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pic>
        <p:nvPicPr>
          <p:cNvPr id="3" name="Picture 2" descr="c_orthogo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7" y="914400"/>
            <a:ext cx="8046720" cy="42196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707070"/>
                </a:solidFill>
                <a:latin typeface="等线"/>
              </a:rPr>
              <a:t>把两案槽位完全分离（仓库用 height/clothing/…，盗车用 license_plate/car_model/…），cross 结构上=0。但切换组 AB（仓库→盗车）、BA 仍崩塌：旧案信息被新案稀释 → dual-task cost -20%~-63%。证明存在第二种 PI：注意力竞争（discourse-level），与槽位重叠无关。</a:t>
            </a:r>
            <a:endParaRPr sz="125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跨模型一致性：Qwen3-4B + DeepSeek 结论一致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现象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Qwen3-4B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DeepSeek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等线"/>
                        </a:rPr>
                        <a:t>一致性</a:t>
                      </a:r>
                      <a:endParaRPr sz="1200" b="1">
                        <a:solidFill>
                          <a:srgbClr val="FFFFFF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2A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cred&lt;gold ≈ 80%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完美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s 无主效应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完美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PI 由信息量驱动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一致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同槽位 cross &gt; 0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67%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93%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方向一致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正交 cross = 0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✓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结构必然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Dual-task cost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-33~-50%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-20~-63%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方向一致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EAEAF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等线"/>
                        </a:rPr>
                        <a:t>PI Release</a:t>
                      </a:r>
                      <a:endParaRPr sz="1100" b="1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✗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✗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333"/>
                          </a:solidFill>
                          <a:latin typeface="等线"/>
                        </a:rPr>
                        <a:t>一致 null</a:t>
                      </a:r>
                      <a:endParaRPr sz="1100" b="0">
                        <a:solidFill>
                          <a:srgbClr val="333333"/>
                        </a:solidFill>
                        <a:latin typeface="等线"/>
                      </a:endParaRPr>
                    </a:p>
                  </a:txBody>
                  <a:tcPr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707070"/>
                </a:solidFill>
                <a:latin typeface="等线"/>
              </a:rPr>
              <a:t>规模（0.6B→4B→671B）改变绝对性能，但不改变定性结论：PI Release 在 Transformer 上不存在。</a:t>
            </a:r>
            <a:endParaRPr sz="1200" b="0">
              <a:solidFill>
                <a:srgbClr val="707070"/>
              </a:solidFill>
              <a:latin typeface="等线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>
                <a:solidFill>
                  <a:srgbClr val="C00000"/>
                </a:solidFill>
                <a:latin typeface="华文楷体" panose="02010600040101010101" pitchFamily="2" charset="-122"/>
              </a:rPr>
              <a:t>结论：LLM 缺 category-based memory filtering</a:t>
            </a:r>
            <a:endParaRPr sz="2200" b="1">
              <a:solidFill>
                <a:srgbClr val="C00000"/>
              </a:solidFill>
              <a:latin typeface="华文楷体" panose="02010600040101010101" pitchFamily="2" charset="-12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Wickens PI Release 需两条件：(a) 提取线索切换 + (b) category-based filtering。LLM 有 (a) 无 (b)。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两种 PI 机制：</a:t>
            </a:r>
            <a:endParaRPr sz="1600" b="1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Slot-level PI：同槽位旧值永远竞争（content-addressable 汇聚，不经 category 过滤）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 lvl="1">
              <a:spcAft>
                <a:spcPts val="500"/>
              </a:spcAft>
            </a:pPr>
            <a:r>
              <a:rPr sz="1400" b="0">
                <a:solidFill>
                  <a:srgbClr val="333333"/>
                </a:solidFill>
                <a:latin typeface="等线"/>
              </a:rPr>
              <a:t>– Discourse-level PI：处理新信息稀释旧信息（注意力竞争）</a:t>
            </a:r>
            <a:endParaRPr sz="1400" b="0">
              <a:solidFill>
                <a:srgbClr val="333333"/>
              </a:solidFill>
              <a:latin typeface="等线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333333"/>
                </a:solidFill>
                <a:latin typeface="等线"/>
              </a:rPr>
              <a:t>• ★ 与 Part Ⅱ 对照：温和 category-switch 无效（Part Ⅲ），而激进 G8s 语义重启能诱发 release（Part Ⅱ）——暗示 release 的关键不是“范畴标签”，而是“打断 content-addressable 汇聚”。</a:t>
            </a:r>
            <a:endParaRPr sz="1600" b="1">
              <a:solidFill>
                <a:srgbClr val="333333"/>
              </a:solidFill>
              <a:latin typeface="等线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6714</Words>
  <Application>WPS 演示</Application>
  <PresentationFormat>宽屏</PresentationFormat>
  <Paragraphs>344</Paragraphs>
  <Slides>28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0" baseType="lpstr">
      <vt:lpstr>Arial</vt:lpstr>
      <vt:lpstr>宋体</vt:lpstr>
      <vt:lpstr>Wingdings</vt:lpstr>
      <vt:lpstr>华文楷体</vt:lpstr>
      <vt:lpstr>Calibri</vt:lpstr>
      <vt:lpstr>Times New Roman</vt:lpstr>
      <vt:lpstr>Cambria Math</vt:lpstr>
      <vt:lpstr>Kingsoft Math</vt:lpstr>
      <vt:lpstr>Helvetica Neue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Calibri Light</vt:lpstr>
      <vt:lpstr>等线</vt:lpstr>
      <vt:lpstr>汉仪书宋二KW</vt:lpstr>
      <vt:lpstr>等线</vt:lpstr>
      <vt:lpstr>Apple Color Emoji</vt:lpstr>
      <vt:lpstr>儷宋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背景：什么是前摄干扰（PI）？为什么在 LLM 上做？</vt:lpstr>
      <vt:lpstr>实验范式：Feature-Update（基于 Unable to Forget, arXiv:2506.08184）</vt:lpstr>
      <vt:lpstr>干预组设计：G0–G8s + 组合策略</vt:lpstr>
      <vt:lpstr>数据规模与跨模型</vt:lpstr>
      <vt:lpstr>PowerPoint 演示文稿</vt:lpstr>
      <vt:lpstr>PowerPoint 演示文稿</vt:lpstr>
      <vt:lpstr>PowerPoint 演示文稿</vt:lpstr>
      <vt:lpstr>PowerPoint 演示文稿</vt:lpstr>
      <vt:lpstr>机制假说（⚠ 待验证 — 机制实验尚未进行）</vt:lpstr>
      <vt:lpstr>PowerPoint 演示文稿</vt:lpstr>
      <vt:lpstr>Slot-PI 范式：警探·目击者·信誉度</vt:lpstr>
      <vt:lpstr>Slot-PI 数据规模</vt:lpstr>
      <vt:lpstr>PowerPoint 演示文稿</vt:lpstr>
      <vt:lpstr>进一步结果：PI 是稳健的结构性现象</vt:lpstr>
      <vt:lpstr>PI Release 实验①：Dual-Case（同槽位双案）——无法释放</vt:lpstr>
      <vt:lpstr>PowerPoint 演示文稿</vt:lpstr>
      <vt:lpstr>PowerPoint 演示文稿</vt:lpstr>
      <vt:lpstr>结论：LLM 缺 category-based memory filtering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弭 元元</dc:creator>
  <cp:lastModifiedBy>郭嘉乐(2025013332)</cp:lastModifiedBy>
  <cp:revision>1990</cp:revision>
  <cp:lastPrinted>2026-07-17T05:22:10Z</cp:lastPrinted>
  <dcterms:created xsi:type="dcterms:W3CDTF">2026-07-17T05:22:10Z</dcterms:created>
  <dcterms:modified xsi:type="dcterms:W3CDTF">2026-07-17T05:22:10Z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82D13C39D74A909102BC596A12211612_42</vt:lpwstr>
  </property>
  <property fmtid="{D5CDD505-2E9C-101B-9397-08002B2CF9AE}" pid="3" name="KSOProductBuildVer">
    <vt:lpwstr>2052-12.1.26035.26035</vt:lpwstr>
  </property>
</Properties>
</file>