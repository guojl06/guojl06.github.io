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notesMasterIdLst>
    <p:notesMasterId r:id="rId48"/>
  </p:notesMasterIdLst>
  <p:handoutMasterIdLst>
    <p:handoutMasterId r:id="rId49"/>
  </p:handoutMasterIdLst>
  <p:sldIdLst>
    <p:sldId id="890" r:id="rId2"/>
    <p:sldId id="2458" r:id="rId3"/>
    <p:sldId id="2463" r:id="rId4"/>
    <p:sldId id="1366" r:id="rId5"/>
    <p:sldId id="1371" r:id="rId6"/>
    <p:sldId id="2461" r:id="rId7"/>
    <p:sldId id="2462" r:id="rId8"/>
    <p:sldId id="2464" r:id="rId9"/>
    <p:sldId id="2465" r:id="rId10"/>
    <p:sldId id="2466" r:id="rId11"/>
    <p:sldId id="2468" r:id="rId12"/>
    <p:sldId id="2467" r:id="rId13"/>
    <p:sldId id="2469" r:id="rId14"/>
    <p:sldId id="2470" r:id="rId15"/>
    <p:sldId id="2471" r:id="rId16"/>
    <p:sldId id="1416" r:id="rId17"/>
    <p:sldId id="1398" r:id="rId18"/>
    <p:sldId id="2474" r:id="rId19"/>
    <p:sldId id="2475" r:id="rId20"/>
    <p:sldId id="2472" r:id="rId21"/>
    <p:sldId id="2473" r:id="rId22"/>
    <p:sldId id="2477" r:id="rId23"/>
    <p:sldId id="2478" r:id="rId24"/>
    <p:sldId id="2479" r:id="rId25"/>
    <p:sldId id="2480" r:id="rId26"/>
    <p:sldId id="2481" r:id="rId27"/>
    <p:sldId id="2482" r:id="rId28"/>
    <p:sldId id="2483" r:id="rId29"/>
    <p:sldId id="2484" r:id="rId30"/>
    <p:sldId id="2485" r:id="rId31"/>
    <p:sldId id="2486" r:id="rId32"/>
    <p:sldId id="1424" r:id="rId33"/>
    <p:sldId id="1019" r:id="rId34"/>
    <p:sldId id="2491" r:id="rId35"/>
    <p:sldId id="1361" r:id="rId36"/>
    <p:sldId id="1364" r:id="rId37"/>
    <p:sldId id="1370" r:id="rId38"/>
    <p:sldId id="1372" r:id="rId39"/>
    <p:sldId id="1417" r:id="rId40"/>
    <p:sldId id="2489" r:id="rId41"/>
    <p:sldId id="2492" r:id="rId42"/>
    <p:sldId id="2490" r:id="rId43"/>
    <p:sldId id="1425" r:id="rId44"/>
    <p:sldId id="1007" r:id="rId45"/>
    <p:sldId id="2460" r:id="rId46"/>
    <p:sldId id="2476" r:id="rId47"/>
  </p:sldIdLst>
  <p:sldSz cx="12192000" cy="6858000"/>
  <p:notesSz cx="9928225" cy="67976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弭 元元" initials="弭" lastIdx="2" clrIdx="0">
    <p:extLst>
      <p:ext uri="{19B8F6BF-5375-455C-9EA6-DF929625EA0E}">
        <p15:presenceInfo xmlns:p15="http://schemas.microsoft.com/office/powerpoint/2012/main" userId="6940eee48c3d404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66"/>
    <a:srgbClr val="EC8C4A"/>
    <a:srgbClr val="FFE0CD"/>
    <a:srgbClr val="EEE8E4"/>
    <a:srgbClr val="F0E3DC"/>
    <a:srgbClr val="ED8F65"/>
    <a:srgbClr val="F3ECDF"/>
    <a:srgbClr val="B9F3D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2DE63D5-997A-4646-A377-4702673A728D}" styleName="浅色样式 2 - 强调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浅色样式 2 - 强调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69" autoAdjust="0"/>
    <p:restoredTop sz="79589" autoAdjust="0"/>
  </p:normalViewPr>
  <p:slideViewPr>
    <p:cSldViewPr snapToGrid="0">
      <p:cViewPr>
        <p:scale>
          <a:sx n="106" d="100"/>
          <a:sy n="106" d="100"/>
        </p:scale>
        <p:origin x="1056" y="144"/>
      </p:cViewPr>
      <p:guideLst/>
    </p:cSldViewPr>
  </p:slid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69" d="100"/>
          <a:sy n="69" d="100"/>
        </p:scale>
        <p:origin x="1640" y="2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0B5F4BAB-15FC-7A12-039A-5D7A32BFB8DA}"/>
              </a:ext>
            </a:extLst>
          </p:cNvPr>
          <p:cNvSpPr>
            <a:spLocks noGrp="1"/>
          </p:cNvSpPr>
          <p:nvPr>
            <p:ph type="hdr" sz="quarter"/>
          </p:nvPr>
        </p:nvSpPr>
        <p:spPr>
          <a:xfrm>
            <a:off x="0" y="0"/>
            <a:ext cx="4302125" cy="341313"/>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9FD49591-F5C0-8AE3-3508-F95ABD8A918A}"/>
              </a:ext>
            </a:extLst>
          </p:cNvPr>
          <p:cNvSpPr>
            <a:spLocks noGrp="1"/>
          </p:cNvSpPr>
          <p:nvPr>
            <p:ph type="dt" sz="quarter" idx="1"/>
          </p:nvPr>
        </p:nvSpPr>
        <p:spPr>
          <a:xfrm>
            <a:off x="5622925" y="0"/>
            <a:ext cx="4303713" cy="341313"/>
          </a:xfrm>
          <a:prstGeom prst="rect">
            <a:avLst/>
          </a:prstGeom>
        </p:spPr>
        <p:txBody>
          <a:bodyPr vert="horz" lIns="91440" tIns="45720" rIns="91440" bIns="45720" rtlCol="0"/>
          <a:lstStyle>
            <a:lvl1pPr algn="r">
              <a:defRPr sz="1200"/>
            </a:lvl1pPr>
          </a:lstStyle>
          <a:p>
            <a:fld id="{DB1B4664-4E13-4294-98EB-0C153B9A772E}" type="datetimeFigureOut">
              <a:rPr lang="zh-CN" altLang="en-US" smtClean="0"/>
              <a:t>2026/6/27</a:t>
            </a:fld>
            <a:endParaRPr lang="zh-CN" altLang="en-US"/>
          </a:p>
        </p:txBody>
      </p:sp>
      <p:sp>
        <p:nvSpPr>
          <p:cNvPr id="4" name="页脚占位符 3">
            <a:extLst>
              <a:ext uri="{FF2B5EF4-FFF2-40B4-BE49-F238E27FC236}">
                <a16:creationId xmlns:a16="http://schemas.microsoft.com/office/drawing/2014/main" id="{0652BD96-E00D-3B43-3B0B-119F940051F3}"/>
              </a:ext>
            </a:extLst>
          </p:cNvPr>
          <p:cNvSpPr>
            <a:spLocks noGrp="1"/>
          </p:cNvSpPr>
          <p:nvPr>
            <p:ph type="ftr" sz="quarter" idx="2"/>
          </p:nvPr>
        </p:nvSpPr>
        <p:spPr>
          <a:xfrm>
            <a:off x="0" y="6456363"/>
            <a:ext cx="4302125" cy="341312"/>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B1567100-D509-4764-78A1-948F81624A18}"/>
              </a:ext>
            </a:extLst>
          </p:cNvPr>
          <p:cNvSpPr>
            <a:spLocks noGrp="1"/>
          </p:cNvSpPr>
          <p:nvPr>
            <p:ph type="sldNum" sz="quarter" idx="3"/>
          </p:nvPr>
        </p:nvSpPr>
        <p:spPr>
          <a:xfrm>
            <a:off x="5622925" y="6456363"/>
            <a:ext cx="4303713" cy="341312"/>
          </a:xfrm>
          <a:prstGeom prst="rect">
            <a:avLst/>
          </a:prstGeom>
        </p:spPr>
        <p:txBody>
          <a:bodyPr vert="horz" lIns="91440" tIns="45720" rIns="91440" bIns="45720" rtlCol="0" anchor="b"/>
          <a:lstStyle>
            <a:lvl1pPr algn="r">
              <a:defRPr sz="1200"/>
            </a:lvl1pPr>
          </a:lstStyle>
          <a:p>
            <a:fld id="{16EC4420-F72D-43AD-8B22-E56769C7F11E}" type="slidenum">
              <a:rPr lang="zh-CN" altLang="en-US" smtClean="0"/>
              <a:t>‹#›</a:t>
            </a:fld>
            <a:endParaRPr lang="zh-CN" altLang="en-US"/>
          </a:p>
        </p:txBody>
      </p:sp>
    </p:spTree>
    <p:extLst>
      <p:ext uri="{BB962C8B-B14F-4D97-AF65-F5344CB8AC3E}">
        <p14:creationId xmlns:p14="http://schemas.microsoft.com/office/powerpoint/2010/main" val="296981605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3" y="1"/>
            <a:ext cx="4302231" cy="341064"/>
          </a:xfrm>
          <a:prstGeom prst="rect">
            <a:avLst/>
          </a:prstGeom>
        </p:spPr>
        <p:txBody>
          <a:bodyPr vert="horz" lIns="91434" tIns="45717" rIns="91434" bIns="45717" rtlCol="0"/>
          <a:lstStyle>
            <a:lvl1pPr algn="l">
              <a:defRPr sz="1200"/>
            </a:lvl1pPr>
          </a:lstStyle>
          <a:p>
            <a:endParaRPr lang="zh-CN" altLang="en-US"/>
          </a:p>
        </p:txBody>
      </p:sp>
      <p:sp>
        <p:nvSpPr>
          <p:cNvPr id="3" name="日期占位符 2"/>
          <p:cNvSpPr>
            <a:spLocks noGrp="1"/>
          </p:cNvSpPr>
          <p:nvPr>
            <p:ph type="dt" idx="1"/>
          </p:nvPr>
        </p:nvSpPr>
        <p:spPr>
          <a:xfrm>
            <a:off x="5623700" y="1"/>
            <a:ext cx="4302231" cy="341064"/>
          </a:xfrm>
          <a:prstGeom prst="rect">
            <a:avLst/>
          </a:prstGeom>
        </p:spPr>
        <p:txBody>
          <a:bodyPr vert="horz" lIns="91434" tIns="45717" rIns="91434" bIns="45717" rtlCol="0"/>
          <a:lstStyle>
            <a:lvl1pPr algn="r">
              <a:defRPr sz="1200"/>
            </a:lvl1pPr>
          </a:lstStyle>
          <a:p>
            <a:fld id="{63270818-307D-4E36-9B85-158C3C35D68C}" type="datetimeFigureOut">
              <a:rPr lang="zh-CN" altLang="en-US" smtClean="0"/>
              <a:t>2026/6/27</a:t>
            </a:fld>
            <a:endParaRPr lang="zh-CN" altLang="en-US"/>
          </a:p>
        </p:txBody>
      </p:sp>
      <p:sp>
        <p:nvSpPr>
          <p:cNvPr id="4" name="幻灯片图像占位符 3"/>
          <p:cNvSpPr>
            <a:spLocks noGrp="1" noRot="1" noChangeAspect="1"/>
          </p:cNvSpPr>
          <p:nvPr>
            <p:ph type="sldImg" idx="2"/>
          </p:nvPr>
        </p:nvSpPr>
        <p:spPr>
          <a:xfrm>
            <a:off x="2924175" y="849313"/>
            <a:ext cx="4079875" cy="2295525"/>
          </a:xfrm>
          <a:prstGeom prst="rect">
            <a:avLst/>
          </a:prstGeom>
          <a:noFill/>
          <a:ln w="12700">
            <a:solidFill>
              <a:prstClr val="black"/>
            </a:solidFill>
          </a:ln>
        </p:spPr>
        <p:txBody>
          <a:bodyPr vert="horz" lIns="91434" tIns="45717" rIns="91434" bIns="45717" rtlCol="0" anchor="ctr"/>
          <a:lstStyle/>
          <a:p>
            <a:endParaRPr lang="zh-CN" altLang="en-US"/>
          </a:p>
        </p:txBody>
      </p:sp>
      <p:sp>
        <p:nvSpPr>
          <p:cNvPr id="5" name="备注占位符 4"/>
          <p:cNvSpPr>
            <a:spLocks noGrp="1"/>
          </p:cNvSpPr>
          <p:nvPr>
            <p:ph type="body" sz="quarter" idx="3"/>
          </p:nvPr>
        </p:nvSpPr>
        <p:spPr>
          <a:xfrm>
            <a:off x="992823" y="3271381"/>
            <a:ext cx="7942580" cy="2676585"/>
          </a:xfrm>
          <a:prstGeom prst="rect">
            <a:avLst/>
          </a:prstGeom>
        </p:spPr>
        <p:txBody>
          <a:bodyPr vert="horz" lIns="91434" tIns="45717" rIns="91434" bIns="45717"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3" y="6456613"/>
            <a:ext cx="4302231" cy="341063"/>
          </a:xfrm>
          <a:prstGeom prst="rect">
            <a:avLst/>
          </a:prstGeom>
        </p:spPr>
        <p:txBody>
          <a:bodyPr vert="horz" lIns="91434" tIns="45717" rIns="91434" bIns="45717"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623700" y="6456613"/>
            <a:ext cx="4302231" cy="341063"/>
          </a:xfrm>
          <a:prstGeom prst="rect">
            <a:avLst/>
          </a:prstGeom>
        </p:spPr>
        <p:txBody>
          <a:bodyPr vert="horz" lIns="91434" tIns="45717" rIns="91434" bIns="45717" rtlCol="0" anchor="b"/>
          <a:lstStyle>
            <a:lvl1pPr algn="r">
              <a:defRPr sz="1200"/>
            </a:lvl1pPr>
          </a:lstStyle>
          <a:p>
            <a:fld id="{55FE8CAB-B004-46A9-ACA2-F8D9B241EAF6}" type="slidenum">
              <a:rPr lang="zh-CN" altLang="en-US" smtClean="0"/>
              <a:t>‹#›</a:t>
            </a:fld>
            <a:endParaRPr lang="zh-CN" altLang="en-US"/>
          </a:p>
        </p:txBody>
      </p:sp>
    </p:spTree>
    <p:extLst>
      <p:ext uri="{BB962C8B-B14F-4D97-AF65-F5344CB8AC3E}">
        <p14:creationId xmlns:p14="http://schemas.microsoft.com/office/powerpoint/2010/main" val="9305673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924175" y="849313"/>
            <a:ext cx="4079875" cy="2295525"/>
          </a:xfrm>
        </p:spPr>
      </p:sp>
      <p:sp>
        <p:nvSpPr>
          <p:cNvPr id="3" name="备注占位符 2"/>
          <p:cNvSpPr>
            <a:spLocks noGrp="1"/>
          </p:cNvSpPr>
          <p:nvPr>
            <p:ph type="body" idx="1"/>
          </p:nvPr>
        </p:nvSpPr>
        <p:spPr/>
        <p:txBody>
          <a:bodyPr/>
          <a:lstStyle/>
          <a:p>
            <a:pPr defTabSz="914338">
              <a:defRPr/>
            </a:pPr>
            <a:endParaRPr lang="zh-CN" altLang="en-US" dirty="0"/>
          </a:p>
        </p:txBody>
      </p:sp>
      <p:sp>
        <p:nvSpPr>
          <p:cNvPr id="4" name="幻灯片编号占位符 3"/>
          <p:cNvSpPr>
            <a:spLocks noGrp="1"/>
          </p:cNvSpPr>
          <p:nvPr>
            <p:ph type="sldNum" sz="quarter" idx="10"/>
          </p:nvPr>
        </p:nvSpPr>
        <p:spPr/>
        <p:txBody>
          <a:bodyPr/>
          <a:lstStyle/>
          <a:p>
            <a:fld id="{6413A649-978D-4D2B-8D10-2AFC3BDC9044}" type="slidenum">
              <a:rPr lang="zh-CN" altLang="en-US" smtClean="0"/>
              <a:t>1</a:t>
            </a:fld>
            <a:endParaRPr lang="zh-CN" altLang="en-US"/>
          </a:p>
        </p:txBody>
      </p:sp>
    </p:spTree>
    <p:extLst>
      <p:ext uri="{BB962C8B-B14F-4D97-AF65-F5344CB8AC3E}">
        <p14:creationId xmlns:p14="http://schemas.microsoft.com/office/powerpoint/2010/main" val="19003315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C74987-98CD-50B1-38FF-CF6443D2650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767D540-C4FE-107D-5C42-F09A86CA026B}"/>
              </a:ext>
            </a:extLst>
          </p:cNvPr>
          <p:cNvSpPr>
            <a:spLocks noGrp="1" noRot="1" noChangeAspect="1"/>
          </p:cNvSpPr>
          <p:nvPr>
            <p:ph type="sldImg"/>
          </p:nvPr>
        </p:nvSpPr>
        <p:spPr>
          <a:xfrm>
            <a:off x="2924175" y="849313"/>
            <a:ext cx="4079875" cy="2295525"/>
          </a:xfrm>
        </p:spPr>
      </p:sp>
      <p:sp>
        <p:nvSpPr>
          <p:cNvPr id="3" name="备注占位符 2">
            <a:extLst>
              <a:ext uri="{FF2B5EF4-FFF2-40B4-BE49-F238E27FC236}">
                <a16:creationId xmlns:a16="http://schemas.microsoft.com/office/drawing/2014/main" id="{5BE43630-D714-1417-6468-8F0E8F8A86AE}"/>
              </a:ext>
            </a:extLst>
          </p:cNvPr>
          <p:cNvSpPr>
            <a:spLocks noGrp="1"/>
          </p:cNvSpPr>
          <p:nvPr>
            <p:ph type="body" idx="1"/>
          </p:nvPr>
        </p:nvSpPr>
        <p:spPr/>
        <p:txBody>
          <a:bodyPr/>
          <a:lstStyle/>
          <a:p>
            <a:pPr defTabSz="914338">
              <a:defRPr/>
            </a:pPr>
            <a:endParaRPr lang="zh-CN" altLang="en-US" dirty="0"/>
          </a:p>
        </p:txBody>
      </p:sp>
      <p:sp>
        <p:nvSpPr>
          <p:cNvPr id="4" name="幻灯片编号占位符 3">
            <a:extLst>
              <a:ext uri="{FF2B5EF4-FFF2-40B4-BE49-F238E27FC236}">
                <a16:creationId xmlns:a16="http://schemas.microsoft.com/office/drawing/2014/main" id="{187C0883-0913-54B4-C956-A1978CFCC0D5}"/>
              </a:ext>
            </a:extLst>
          </p:cNvPr>
          <p:cNvSpPr>
            <a:spLocks noGrp="1"/>
          </p:cNvSpPr>
          <p:nvPr>
            <p:ph type="sldNum" sz="quarter" idx="10"/>
          </p:nvPr>
        </p:nvSpPr>
        <p:spPr/>
        <p:txBody>
          <a:bodyPr/>
          <a:lstStyle/>
          <a:p>
            <a:fld id="{6413A649-978D-4D2B-8D10-2AFC3BDC9044}" type="slidenum">
              <a:rPr lang="zh-CN" altLang="en-US" smtClean="0"/>
              <a:t>2</a:t>
            </a:fld>
            <a:endParaRPr lang="zh-CN" altLang="en-US"/>
          </a:p>
        </p:txBody>
      </p:sp>
    </p:spTree>
    <p:extLst>
      <p:ext uri="{BB962C8B-B14F-4D97-AF65-F5344CB8AC3E}">
        <p14:creationId xmlns:p14="http://schemas.microsoft.com/office/powerpoint/2010/main" val="33098872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BCED2-335D-AE6E-E874-8855FD0D900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F862464-48B5-435F-07FE-F7F063C7C5B1}"/>
              </a:ext>
            </a:extLst>
          </p:cNvPr>
          <p:cNvSpPr>
            <a:spLocks noGrp="1" noRot="1" noChangeAspect="1"/>
          </p:cNvSpPr>
          <p:nvPr>
            <p:ph type="sldImg"/>
          </p:nvPr>
        </p:nvSpPr>
        <p:spPr>
          <a:xfrm>
            <a:off x="2924175" y="849313"/>
            <a:ext cx="4079875" cy="2295525"/>
          </a:xfrm>
        </p:spPr>
      </p:sp>
      <p:sp>
        <p:nvSpPr>
          <p:cNvPr id="3" name="备注占位符 2">
            <a:extLst>
              <a:ext uri="{FF2B5EF4-FFF2-40B4-BE49-F238E27FC236}">
                <a16:creationId xmlns:a16="http://schemas.microsoft.com/office/drawing/2014/main" id="{3BA64AFE-2A8E-9CAF-48E9-E50A6256121E}"/>
              </a:ext>
            </a:extLst>
          </p:cNvPr>
          <p:cNvSpPr>
            <a:spLocks noGrp="1"/>
          </p:cNvSpPr>
          <p:nvPr>
            <p:ph type="body" idx="1"/>
          </p:nvPr>
        </p:nvSpPr>
        <p:spPr/>
        <p:txBody>
          <a:bodyPr/>
          <a:lstStyle/>
          <a:p>
            <a:pPr defTabSz="914338">
              <a:defRPr/>
            </a:pP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4" name="幻灯片编号占位符 3">
            <a:extLst>
              <a:ext uri="{FF2B5EF4-FFF2-40B4-BE49-F238E27FC236}">
                <a16:creationId xmlns:a16="http://schemas.microsoft.com/office/drawing/2014/main" id="{02605622-A84C-E1BF-A116-ECE6CA70285F}"/>
              </a:ext>
            </a:extLst>
          </p:cNvPr>
          <p:cNvSpPr>
            <a:spLocks noGrp="1"/>
          </p:cNvSpPr>
          <p:nvPr>
            <p:ph type="sldNum" sz="quarter" idx="10"/>
          </p:nvPr>
        </p:nvSpPr>
        <p:spPr/>
        <p:txBody>
          <a:bodyPr/>
          <a:lstStyle/>
          <a:p>
            <a:fld id="{6413A649-978D-4D2B-8D10-2AFC3BDC9044}" type="slidenum">
              <a:rPr lang="zh-CN" altLang="en-US" smtClean="0"/>
              <a:t>3</a:t>
            </a:fld>
            <a:endParaRPr lang="zh-CN" altLang="en-US"/>
          </a:p>
        </p:txBody>
      </p:sp>
    </p:spTree>
    <p:extLst>
      <p:ext uri="{BB962C8B-B14F-4D97-AF65-F5344CB8AC3E}">
        <p14:creationId xmlns:p14="http://schemas.microsoft.com/office/powerpoint/2010/main" val="28486302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C40A1-9116-4A38-D5FA-1C576448B79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54324E6-BB13-8959-A398-9B90367DBFE1}"/>
              </a:ext>
            </a:extLst>
          </p:cNvPr>
          <p:cNvSpPr>
            <a:spLocks noGrp="1" noRot="1" noChangeAspect="1"/>
          </p:cNvSpPr>
          <p:nvPr>
            <p:ph type="sldImg"/>
          </p:nvPr>
        </p:nvSpPr>
        <p:spPr>
          <a:xfrm>
            <a:off x="2924175" y="849313"/>
            <a:ext cx="4079875" cy="2295525"/>
          </a:xfrm>
        </p:spPr>
      </p:sp>
      <p:sp>
        <p:nvSpPr>
          <p:cNvPr id="3" name="备注占位符 2">
            <a:extLst>
              <a:ext uri="{FF2B5EF4-FFF2-40B4-BE49-F238E27FC236}">
                <a16:creationId xmlns:a16="http://schemas.microsoft.com/office/drawing/2014/main" id="{E78FEE97-9E5F-6F6C-4934-544E459BFF12}"/>
              </a:ext>
            </a:extLst>
          </p:cNvPr>
          <p:cNvSpPr>
            <a:spLocks noGrp="1"/>
          </p:cNvSpPr>
          <p:nvPr>
            <p:ph type="body" idx="1"/>
          </p:nvPr>
        </p:nvSpPr>
        <p:spPr/>
        <p:txBody>
          <a:bodyPr/>
          <a:lstStyle/>
          <a:p>
            <a:pPr defTabSz="914338">
              <a:defRPr/>
            </a:pP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4" name="幻灯片编号占位符 3">
            <a:extLst>
              <a:ext uri="{FF2B5EF4-FFF2-40B4-BE49-F238E27FC236}">
                <a16:creationId xmlns:a16="http://schemas.microsoft.com/office/drawing/2014/main" id="{C57C77F7-CA6C-E0D8-4E82-AD19EA99655D}"/>
              </a:ext>
            </a:extLst>
          </p:cNvPr>
          <p:cNvSpPr>
            <a:spLocks noGrp="1"/>
          </p:cNvSpPr>
          <p:nvPr>
            <p:ph type="sldNum" sz="quarter" idx="10"/>
          </p:nvPr>
        </p:nvSpPr>
        <p:spPr/>
        <p:txBody>
          <a:bodyPr/>
          <a:lstStyle/>
          <a:p>
            <a:fld id="{6413A649-978D-4D2B-8D10-2AFC3BDC9044}" type="slidenum">
              <a:rPr lang="zh-CN" altLang="en-US" smtClean="0"/>
              <a:t>4</a:t>
            </a:fld>
            <a:endParaRPr lang="zh-CN" altLang="en-US"/>
          </a:p>
        </p:txBody>
      </p:sp>
    </p:spTree>
    <p:extLst>
      <p:ext uri="{BB962C8B-B14F-4D97-AF65-F5344CB8AC3E}">
        <p14:creationId xmlns:p14="http://schemas.microsoft.com/office/powerpoint/2010/main" val="19511805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9BECA-54F3-BC3A-4D49-F688126D1EE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CDA532B-74B9-C8B0-7CDC-4E029DE56DDA}"/>
              </a:ext>
            </a:extLst>
          </p:cNvPr>
          <p:cNvSpPr>
            <a:spLocks noGrp="1" noRot="1" noChangeAspect="1"/>
          </p:cNvSpPr>
          <p:nvPr>
            <p:ph type="sldImg"/>
          </p:nvPr>
        </p:nvSpPr>
        <p:spPr>
          <a:xfrm>
            <a:off x="2924175" y="849313"/>
            <a:ext cx="4079875" cy="2295525"/>
          </a:xfrm>
        </p:spPr>
      </p:sp>
      <p:sp>
        <p:nvSpPr>
          <p:cNvPr id="3" name="备注占位符 2">
            <a:extLst>
              <a:ext uri="{FF2B5EF4-FFF2-40B4-BE49-F238E27FC236}">
                <a16:creationId xmlns:a16="http://schemas.microsoft.com/office/drawing/2014/main" id="{0C576C6B-FF1C-3A49-62BF-D5BAD9665170}"/>
              </a:ext>
            </a:extLst>
          </p:cNvPr>
          <p:cNvSpPr>
            <a:spLocks noGrp="1"/>
          </p:cNvSpPr>
          <p:nvPr>
            <p:ph type="body" idx="1"/>
          </p:nvPr>
        </p:nvSpPr>
        <p:spPr/>
        <p:txBody>
          <a:bodyPr/>
          <a:lstStyle/>
          <a:p>
            <a:pPr defTabSz="914338">
              <a:defRPr/>
            </a:pP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4" name="幻灯片编号占位符 3">
            <a:extLst>
              <a:ext uri="{FF2B5EF4-FFF2-40B4-BE49-F238E27FC236}">
                <a16:creationId xmlns:a16="http://schemas.microsoft.com/office/drawing/2014/main" id="{E6C11BE1-F2EB-D601-710E-D1731D45C284}"/>
              </a:ext>
            </a:extLst>
          </p:cNvPr>
          <p:cNvSpPr>
            <a:spLocks noGrp="1"/>
          </p:cNvSpPr>
          <p:nvPr>
            <p:ph type="sldNum" sz="quarter" idx="10"/>
          </p:nvPr>
        </p:nvSpPr>
        <p:spPr/>
        <p:txBody>
          <a:bodyPr/>
          <a:lstStyle/>
          <a:p>
            <a:fld id="{6413A649-978D-4D2B-8D10-2AFC3BDC9044}" type="slidenum">
              <a:rPr lang="zh-CN" altLang="en-US" smtClean="0"/>
              <a:t>5</a:t>
            </a:fld>
            <a:endParaRPr lang="zh-CN" altLang="en-US"/>
          </a:p>
        </p:txBody>
      </p:sp>
    </p:spTree>
    <p:extLst>
      <p:ext uri="{BB962C8B-B14F-4D97-AF65-F5344CB8AC3E}">
        <p14:creationId xmlns:p14="http://schemas.microsoft.com/office/powerpoint/2010/main" val="31209748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EEA9B-A913-818E-1521-6DA5F8352EE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BB265AD-6ADB-AC83-B906-CF51ADC9AEBE}"/>
              </a:ext>
            </a:extLst>
          </p:cNvPr>
          <p:cNvSpPr>
            <a:spLocks noGrp="1" noRot="1" noChangeAspect="1"/>
          </p:cNvSpPr>
          <p:nvPr>
            <p:ph type="sldImg"/>
          </p:nvPr>
        </p:nvSpPr>
        <p:spPr>
          <a:xfrm>
            <a:off x="2924175" y="849313"/>
            <a:ext cx="4079875" cy="2295525"/>
          </a:xfrm>
        </p:spPr>
      </p:sp>
      <p:sp>
        <p:nvSpPr>
          <p:cNvPr id="3" name="备注占位符 2">
            <a:extLst>
              <a:ext uri="{FF2B5EF4-FFF2-40B4-BE49-F238E27FC236}">
                <a16:creationId xmlns:a16="http://schemas.microsoft.com/office/drawing/2014/main" id="{36D17A2B-2BF3-4F56-C7A5-5D3A000B856E}"/>
              </a:ext>
            </a:extLst>
          </p:cNvPr>
          <p:cNvSpPr>
            <a:spLocks noGrp="1"/>
          </p:cNvSpPr>
          <p:nvPr>
            <p:ph type="body" idx="1"/>
          </p:nvPr>
        </p:nvSpPr>
        <p:spPr/>
        <p:txBody>
          <a:bodyPr/>
          <a:lstStyle/>
          <a:p>
            <a:pPr defTabSz="914338">
              <a:defRPr/>
            </a:pP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4" name="幻灯片编号占位符 3">
            <a:extLst>
              <a:ext uri="{FF2B5EF4-FFF2-40B4-BE49-F238E27FC236}">
                <a16:creationId xmlns:a16="http://schemas.microsoft.com/office/drawing/2014/main" id="{679809D6-F567-B4C6-6A3B-D19D546B9E56}"/>
              </a:ext>
            </a:extLst>
          </p:cNvPr>
          <p:cNvSpPr>
            <a:spLocks noGrp="1"/>
          </p:cNvSpPr>
          <p:nvPr>
            <p:ph type="sldNum" sz="quarter" idx="10"/>
          </p:nvPr>
        </p:nvSpPr>
        <p:spPr/>
        <p:txBody>
          <a:bodyPr/>
          <a:lstStyle/>
          <a:p>
            <a:fld id="{6413A649-978D-4D2B-8D10-2AFC3BDC9044}" type="slidenum">
              <a:rPr lang="zh-CN" altLang="en-US" smtClean="0"/>
              <a:t>6</a:t>
            </a:fld>
            <a:endParaRPr lang="zh-CN" altLang="en-US"/>
          </a:p>
        </p:txBody>
      </p:sp>
    </p:spTree>
    <p:extLst>
      <p:ext uri="{BB962C8B-B14F-4D97-AF65-F5344CB8AC3E}">
        <p14:creationId xmlns:p14="http://schemas.microsoft.com/office/powerpoint/2010/main" val="236495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700816-BBD3-EE73-CE67-A3D2C43A465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3B5FBF8-7868-FE44-E5E2-34E840A150DD}"/>
              </a:ext>
            </a:extLst>
          </p:cNvPr>
          <p:cNvSpPr>
            <a:spLocks noGrp="1" noRot="1" noChangeAspect="1"/>
          </p:cNvSpPr>
          <p:nvPr>
            <p:ph type="sldImg"/>
          </p:nvPr>
        </p:nvSpPr>
        <p:spPr>
          <a:xfrm>
            <a:off x="2924175" y="849313"/>
            <a:ext cx="4079875" cy="2295525"/>
          </a:xfrm>
        </p:spPr>
      </p:sp>
      <p:sp>
        <p:nvSpPr>
          <p:cNvPr id="3" name="备注占位符 2">
            <a:extLst>
              <a:ext uri="{FF2B5EF4-FFF2-40B4-BE49-F238E27FC236}">
                <a16:creationId xmlns:a16="http://schemas.microsoft.com/office/drawing/2014/main" id="{3BF7A419-5520-F717-B22F-71EA1D4053C8}"/>
              </a:ext>
            </a:extLst>
          </p:cNvPr>
          <p:cNvSpPr>
            <a:spLocks noGrp="1"/>
          </p:cNvSpPr>
          <p:nvPr>
            <p:ph type="body" idx="1"/>
          </p:nvPr>
        </p:nvSpPr>
        <p:spPr/>
        <p:txBody>
          <a:bodyPr/>
          <a:lstStyle/>
          <a:p>
            <a:pPr defTabSz="914338">
              <a:defRPr/>
            </a:pP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4" name="幻灯片编号占位符 3">
            <a:extLst>
              <a:ext uri="{FF2B5EF4-FFF2-40B4-BE49-F238E27FC236}">
                <a16:creationId xmlns:a16="http://schemas.microsoft.com/office/drawing/2014/main" id="{41B5114C-969E-60CD-2FC3-27653AD2BE4E}"/>
              </a:ext>
            </a:extLst>
          </p:cNvPr>
          <p:cNvSpPr>
            <a:spLocks noGrp="1"/>
          </p:cNvSpPr>
          <p:nvPr>
            <p:ph type="sldNum" sz="quarter" idx="10"/>
          </p:nvPr>
        </p:nvSpPr>
        <p:spPr/>
        <p:txBody>
          <a:bodyPr/>
          <a:lstStyle/>
          <a:p>
            <a:fld id="{6413A649-978D-4D2B-8D10-2AFC3BDC9044}" type="slidenum">
              <a:rPr lang="zh-CN" altLang="en-US" smtClean="0"/>
              <a:t>7</a:t>
            </a:fld>
            <a:endParaRPr lang="zh-CN" altLang="en-US"/>
          </a:p>
        </p:txBody>
      </p:sp>
    </p:spTree>
    <p:extLst>
      <p:ext uri="{BB962C8B-B14F-4D97-AF65-F5344CB8AC3E}">
        <p14:creationId xmlns:p14="http://schemas.microsoft.com/office/powerpoint/2010/main" val="41139013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8A3B6-E987-65F0-564C-2D592E1B57E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83F2473-BF0C-8631-5F5F-BD91645C78DD}"/>
              </a:ext>
            </a:extLst>
          </p:cNvPr>
          <p:cNvSpPr>
            <a:spLocks noGrp="1" noRot="1" noChangeAspect="1"/>
          </p:cNvSpPr>
          <p:nvPr>
            <p:ph type="sldImg"/>
          </p:nvPr>
        </p:nvSpPr>
        <p:spPr>
          <a:xfrm>
            <a:off x="2924175" y="849313"/>
            <a:ext cx="4079875" cy="2295525"/>
          </a:xfrm>
        </p:spPr>
      </p:sp>
      <p:sp>
        <p:nvSpPr>
          <p:cNvPr id="3" name="备注占位符 2">
            <a:extLst>
              <a:ext uri="{FF2B5EF4-FFF2-40B4-BE49-F238E27FC236}">
                <a16:creationId xmlns:a16="http://schemas.microsoft.com/office/drawing/2014/main" id="{EAE5790A-B5EA-3297-5AC9-49E201799482}"/>
              </a:ext>
            </a:extLst>
          </p:cNvPr>
          <p:cNvSpPr>
            <a:spLocks noGrp="1"/>
          </p:cNvSpPr>
          <p:nvPr>
            <p:ph type="body" idx="1"/>
          </p:nvPr>
        </p:nvSpPr>
        <p:spPr/>
        <p:txBody>
          <a:bodyPr/>
          <a:lstStyle/>
          <a:p>
            <a:pPr defTabSz="914338">
              <a:defRPr/>
            </a:pP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4" name="幻灯片编号占位符 3">
            <a:extLst>
              <a:ext uri="{FF2B5EF4-FFF2-40B4-BE49-F238E27FC236}">
                <a16:creationId xmlns:a16="http://schemas.microsoft.com/office/drawing/2014/main" id="{AEA0AED6-8028-32D7-EAAF-773E45B18B30}"/>
              </a:ext>
            </a:extLst>
          </p:cNvPr>
          <p:cNvSpPr>
            <a:spLocks noGrp="1"/>
          </p:cNvSpPr>
          <p:nvPr>
            <p:ph type="sldNum" sz="quarter" idx="10"/>
          </p:nvPr>
        </p:nvSpPr>
        <p:spPr/>
        <p:txBody>
          <a:bodyPr/>
          <a:lstStyle/>
          <a:p>
            <a:fld id="{6413A649-978D-4D2B-8D10-2AFC3BDC9044}" type="slidenum">
              <a:rPr lang="zh-CN" altLang="en-US" smtClean="0"/>
              <a:t>8</a:t>
            </a:fld>
            <a:endParaRPr lang="zh-CN" altLang="en-US"/>
          </a:p>
        </p:txBody>
      </p:sp>
    </p:spTree>
    <p:extLst>
      <p:ext uri="{BB962C8B-B14F-4D97-AF65-F5344CB8AC3E}">
        <p14:creationId xmlns:p14="http://schemas.microsoft.com/office/powerpoint/2010/main" val="5118072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4E795-486F-1358-A591-AE12EBFD19C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5884499-4846-E66B-11E4-BFF6E228943C}"/>
              </a:ext>
            </a:extLst>
          </p:cNvPr>
          <p:cNvSpPr>
            <a:spLocks noGrp="1" noRot="1" noChangeAspect="1"/>
          </p:cNvSpPr>
          <p:nvPr>
            <p:ph type="sldImg"/>
          </p:nvPr>
        </p:nvSpPr>
        <p:spPr>
          <a:xfrm>
            <a:off x="2924175" y="849313"/>
            <a:ext cx="4079875" cy="2295525"/>
          </a:xfrm>
        </p:spPr>
      </p:sp>
      <p:sp>
        <p:nvSpPr>
          <p:cNvPr id="3" name="备注占位符 2">
            <a:extLst>
              <a:ext uri="{FF2B5EF4-FFF2-40B4-BE49-F238E27FC236}">
                <a16:creationId xmlns:a16="http://schemas.microsoft.com/office/drawing/2014/main" id="{6874C979-DB7E-BFF9-252D-0D86D21F74EF}"/>
              </a:ext>
            </a:extLst>
          </p:cNvPr>
          <p:cNvSpPr>
            <a:spLocks noGrp="1"/>
          </p:cNvSpPr>
          <p:nvPr>
            <p:ph type="body" idx="1"/>
          </p:nvPr>
        </p:nvSpPr>
        <p:spPr/>
        <p:txBody>
          <a:bodyPr/>
          <a:lstStyle/>
          <a:p>
            <a:pPr defTabSz="914338">
              <a:defRPr/>
            </a:pP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4" name="幻灯片编号占位符 3">
            <a:extLst>
              <a:ext uri="{FF2B5EF4-FFF2-40B4-BE49-F238E27FC236}">
                <a16:creationId xmlns:a16="http://schemas.microsoft.com/office/drawing/2014/main" id="{8DD11D69-E93F-69DA-D325-31E97790E0AD}"/>
              </a:ext>
            </a:extLst>
          </p:cNvPr>
          <p:cNvSpPr>
            <a:spLocks noGrp="1"/>
          </p:cNvSpPr>
          <p:nvPr>
            <p:ph type="sldNum" sz="quarter" idx="10"/>
          </p:nvPr>
        </p:nvSpPr>
        <p:spPr/>
        <p:txBody>
          <a:bodyPr/>
          <a:lstStyle/>
          <a:p>
            <a:fld id="{6413A649-978D-4D2B-8D10-2AFC3BDC9044}" type="slidenum">
              <a:rPr lang="zh-CN" altLang="en-US" smtClean="0"/>
              <a:t>9</a:t>
            </a:fld>
            <a:endParaRPr lang="zh-CN" altLang="en-US"/>
          </a:p>
        </p:txBody>
      </p:sp>
    </p:spTree>
    <p:extLst>
      <p:ext uri="{BB962C8B-B14F-4D97-AF65-F5344CB8AC3E}">
        <p14:creationId xmlns:p14="http://schemas.microsoft.com/office/powerpoint/2010/main" val="13717049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14C0D-C0E3-0917-AD05-7F5156B4F32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913A46B-21F3-391D-3CA7-441F82CB1121}"/>
              </a:ext>
            </a:extLst>
          </p:cNvPr>
          <p:cNvSpPr>
            <a:spLocks noGrp="1" noRot="1" noChangeAspect="1"/>
          </p:cNvSpPr>
          <p:nvPr>
            <p:ph type="sldImg"/>
          </p:nvPr>
        </p:nvSpPr>
        <p:spPr>
          <a:xfrm>
            <a:off x="2924175" y="849313"/>
            <a:ext cx="4079875" cy="2295525"/>
          </a:xfrm>
        </p:spPr>
      </p:sp>
      <p:sp>
        <p:nvSpPr>
          <p:cNvPr id="3" name="备注占位符 2">
            <a:extLst>
              <a:ext uri="{FF2B5EF4-FFF2-40B4-BE49-F238E27FC236}">
                <a16:creationId xmlns:a16="http://schemas.microsoft.com/office/drawing/2014/main" id="{F0F588F0-EA18-A47E-7D05-2BBFD29E3B1A}"/>
              </a:ext>
            </a:extLst>
          </p:cNvPr>
          <p:cNvSpPr>
            <a:spLocks noGrp="1"/>
          </p:cNvSpPr>
          <p:nvPr>
            <p:ph type="body" idx="1"/>
          </p:nvPr>
        </p:nvSpPr>
        <p:spPr/>
        <p:txBody>
          <a:bodyPr/>
          <a:lstStyle/>
          <a:p>
            <a:pPr defTabSz="914338">
              <a:defRPr/>
            </a:pP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4" name="幻灯片编号占位符 3">
            <a:extLst>
              <a:ext uri="{FF2B5EF4-FFF2-40B4-BE49-F238E27FC236}">
                <a16:creationId xmlns:a16="http://schemas.microsoft.com/office/drawing/2014/main" id="{5749C540-4DDA-3C09-D35B-ED4FC0220CDC}"/>
              </a:ext>
            </a:extLst>
          </p:cNvPr>
          <p:cNvSpPr>
            <a:spLocks noGrp="1"/>
          </p:cNvSpPr>
          <p:nvPr>
            <p:ph type="sldNum" sz="quarter" idx="10"/>
          </p:nvPr>
        </p:nvSpPr>
        <p:spPr/>
        <p:txBody>
          <a:bodyPr/>
          <a:lstStyle/>
          <a:p>
            <a:fld id="{6413A649-978D-4D2B-8D10-2AFC3BDC9044}" type="slidenum">
              <a:rPr lang="zh-CN" altLang="en-US" smtClean="0"/>
              <a:t>10</a:t>
            </a:fld>
            <a:endParaRPr lang="zh-CN" altLang="en-US"/>
          </a:p>
        </p:txBody>
      </p:sp>
    </p:spTree>
    <p:extLst>
      <p:ext uri="{BB962C8B-B14F-4D97-AF65-F5344CB8AC3E}">
        <p14:creationId xmlns:p14="http://schemas.microsoft.com/office/powerpoint/2010/main" val="32428407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FD15E-FA44-DA87-1E82-F15B0B37CF6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5CEF246-12B8-8A8D-F048-D0023EA3891B}"/>
              </a:ext>
            </a:extLst>
          </p:cNvPr>
          <p:cNvSpPr>
            <a:spLocks noGrp="1" noRot="1" noChangeAspect="1"/>
          </p:cNvSpPr>
          <p:nvPr>
            <p:ph type="sldImg"/>
          </p:nvPr>
        </p:nvSpPr>
        <p:spPr>
          <a:xfrm>
            <a:off x="2924175" y="849313"/>
            <a:ext cx="4079875" cy="2295525"/>
          </a:xfrm>
        </p:spPr>
      </p:sp>
      <p:sp>
        <p:nvSpPr>
          <p:cNvPr id="3" name="备注占位符 2">
            <a:extLst>
              <a:ext uri="{FF2B5EF4-FFF2-40B4-BE49-F238E27FC236}">
                <a16:creationId xmlns:a16="http://schemas.microsoft.com/office/drawing/2014/main" id="{EFC049D8-54DF-35F3-738B-EC3D71219286}"/>
              </a:ext>
            </a:extLst>
          </p:cNvPr>
          <p:cNvSpPr>
            <a:spLocks noGrp="1"/>
          </p:cNvSpPr>
          <p:nvPr>
            <p:ph type="body" idx="1"/>
          </p:nvPr>
        </p:nvSpPr>
        <p:spPr/>
        <p:txBody>
          <a:bodyPr/>
          <a:lstStyle/>
          <a:p>
            <a:pPr defTabSz="914338">
              <a:defRPr/>
            </a:pP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4" name="幻灯片编号占位符 3">
            <a:extLst>
              <a:ext uri="{FF2B5EF4-FFF2-40B4-BE49-F238E27FC236}">
                <a16:creationId xmlns:a16="http://schemas.microsoft.com/office/drawing/2014/main" id="{12742E25-2AE9-3C09-077E-E58F332359B3}"/>
              </a:ext>
            </a:extLst>
          </p:cNvPr>
          <p:cNvSpPr>
            <a:spLocks noGrp="1"/>
          </p:cNvSpPr>
          <p:nvPr>
            <p:ph type="sldNum" sz="quarter" idx="10"/>
          </p:nvPr>
        </p:nvSpPr>
        <p:spPr/>
        <p:txBody>
          <a:bodyPr/>
          <a:lstStyle/>
          <a:p>
            <a:fld id="{6413A649-978D-4D2B-8D10-2AFC3BDC9044}" type="slidenum">
              <a:rPr lang="zh-CN" altLang="en-US" smtClean="0"/>
              <a:t>11</a:t>
            </a:fld>
            <a:endParaRPr lang="zh-CN" altLang="en-US"/>
          </a:p>
        </p:txBody>
      </p:sp>
    </p:spTree>
    <p:extLst>
      <p:ext uri="{BB962C8B-B14F-4D97-AF65-F5344CB8AC3E}">
        <p14:creationId xmlns:p14="http://schemas.microsoft.com/office/powerpoint/2010/main" val="19889464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E48D1-9D8A-B123-6359-CBB6F98BAC1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358839F-BA05-31AF-8957-19F0AE6684A9}"/>
              </a:ext>
            </a:extLst>
          </p:cNvPr>
          <p:cNvSpPr>
            <a:spLocks noGrp="1" noRot="1" noChangeAspect="1"/>
          </p:cNvSpPr>
          <p:nvPr>
            <p:ph type="sldImg"/>
          </p:nvPr>
        </p:nvSpPr>
        <p:spPr>
          <a:xfrm>
            <a:off x="2924175" y="849313"/>
            <a:ext cx="4079875" cy="2295525"/>
          </a:xfrm>
        </p:spPr>
      </p:sp>
      <p:sp>
        <p:nvSpPr>
          <p:cNvPr id="3" name="备注占位符 2">
            <a:extLst>
              <a:ext uri="{FF2B5EF4-FFF2-40B4-BE49-F238E27FC236}">
                <a16:creationId xmlns:a16="http://schemas.microsoft.com/office/drawing/2014/main" id="{B650EC5C-D335-A7A0-32E1-99C0755303CB}"/>
              </a:ext>
            </a:extLst>
          </p:cNvPr>
          <p:cNvSpPr>
            <a:spLocks noGrp="1"/>
          </p:cNvSpPr>
          <p:nvPr>
            <p:ph type="body" idx="1"/>
          </p:nvPr>
        </p:nvSpPr>
        <p:spPr/>
        <p:txBody>
          <a:bodyPr/>
          <a:lstStyle/>
          <a:p>
            <a:pPr defTabSz="914338">
              <a:defRPr/>
            </a:pP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4" name="幻灯片编号占位符 3">
            <a:extLst>
              <a:ext uri="{FF2B5EF4-FFF2-40B4-BE49-F238E27FC236}">
                <a16:creationId xmlns:a16="http://schemas.microsoft.com/office/drawing/2014/main" id="{C4DA9C3C-FD49-5B87-01C9-BBAE5DB5EC7F}"/>
              </a:ext>
            </a:extLst>
          </p:cNvPr>
          <p:cNvSpPr>
            <a:spLocks noGrp="1"/>
          </p:cNvSpPr>
          <p:nvPr>
            <p:ph type="sldNum" sz="quarter" idx="10"/>
          </p:nvPr>
        </p:nvSpPr>
        <p:spPr/>
        <p:txBody>
          <a:bodyPr/>
          <a:lstStyle/>
          <a:p>
            <a:fld id="{6413A649-978D-4D2B-8D10-2AFC3BDC9044}" type="slidenum">
              <a:rPr lang="zh-CN" altLang="en-US" smtClean="0"/>
              <a:t>12</a:t>
            </a:fld>
            <a:endParaRPr lang="zh-CN" altLang="en-US"/>
          </a:p>
        </p:txBody>
      </p:sp>
    </p:spTree>
    <p:extLst>
      <p:ext uri="{BB962C8B-B14F-4D97-AF65-F5344CB8AC3E}">
        <p14:creationId xmlns:p14="http://schemas.microsoft.com/office/powerpoint/2010/main" val="7316196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ED927-B6A3-F2E4-FCE8-737B263120A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355F320-8F76-9454-5847-A5D979ECE5AA}"/>
              </a:ext>
            </a:extLst>
          </p:cNvPr>
          <p:cNvSpPr>
            <a:spLocks noGrp="1" noRot="1" noChangeAspect="1"/>
          </p:cNvSpPr>
          <p:nvPr>
            <p:ph type="sldImg"/>
          </p:nvPr>
        </p:nvSpPr>
        <p:spPr>
          <a:xfrm>
            <a:off x="2924175" y="849313"/>
            <a:ext cx="4079875" cy="2295525"/>
          </a:xfrm>
        </p:spPr>
      </p:sp>
      <p:sp>
        <p:nvSpPr>
          <p:cNvPr id="3" name="备注占位符 2">
            <a:extLst>
              <a:ext uri="{FF2B5EF4-FFF2-40B4-BE49-F238E27FC236}">
                <a16:creationId xmlns:a16="http://schemas.microsoft.com/office/drawing/2014/main" id="{C6AA03E0-663B-DFDC-7EEA-1139DBC36D01}"/>
              </a:ext>
            </a:extLst>
          </p:cNvPr>
          <p:cNvSpPr>
            <a:spLocks noGrp="1"/>
          </p:cNvSpPr>
          <p:nvPr>
            <p:ph type="body" idx="1"/>
          </p:nvPr>
        </p:nvSpPr>
        <p:spPr/>
        <p:txBody>
          <a:bodyPr/>
          <a:lstStyle/>
          <a:p>
            <a:pPr defTabSz="914338">
              <a:defRPr/>
            </a:pP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4" name="幻灯片编号占位符 3">
            <a:extLst>
              <a:ext uri="{FF2B5EF4-FFF2-40B4-BE49-F238E27FC236}">
                <a16:creationId xmlns:a16="http://schemas.microsoft.com/office/drawing/2014/main" id="{12D3681C-CD4B-453E-643B-C1B53F745F65}"/>
              </a:ext>
            </a:extLst>
          </p:cNvPr>
          <p:cNvSpPr>
            <a:spLocks noGrp="1"/>
          </p:cNvSpPr>
          <p:nvPr>
            <p:ph type="sldNum" sz="quarter" idx="10"/>
          </p:nvPr>
        </p:nvSpPr>
        <p:spPr/>
        <p:txBody>
          <a:bodyPr/>
          <a:lstStyle/>
          <a:p>
            <a:fld id="{6413A649-978D-4D2B-8D10-2AFC3BDC9044}" type="slidenum">
              <a:rPr lang="zh-CN" altLang="en-US" smtClean="0"/>
              <a:t>13</a:t>
            </a:fld>
            <a:endParaRPr lang="zh-CN" altLang="en-US"/>
          </a:p>
        </p:txBody>
      </p:sp>
    </p:spTree>
    <p:extLst>
      <p:ext uri="{BB962C8B-B14F-4D97-AF65-F5344CB8AC3E}">
        <p14:creationId xmlns:p14="http://schemas.microsoft.com/office/powerpoint/2010/main" val="40415946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B3B0D-9D84-6C05-D135-9F574FCD86B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DEE6849-57D0-8F33-5078-126CA279BE62}"/>
              </a:ext>
            </a:extLst>
          </p:cNvPr>
          <p:cNvSpPr>
            <a:spLocks noGrp="1" noRot="1" noChangeAspect="1"/>
          </p:cNvSpPr>
          <p:nvPr>
            <p:ph type="sldImg"/>
          </p:nvPr>
        </p:nvSpPr>
        <p:spPr>
          <a:xfrm>
            <a:off x="2924175" y="849313"/>
            <a:ext cx="4079875" cy="2295525"/>
          </a:xfrm>
        </p:spPr>
      </p:sp>
      <p:sp>
        <p:nvSpPr>
          <p:cNvPr id="3" name="备注占位符 2">
            <a:extLst>
              <a:ext uri="{FF2B5EF4-FFF2-40B4-BE49-F238E27FC236}">
                <a16:creationId xmlns:a16="http://schemas.microsoft.com/office/drawing/2014/main" id="{4C49FDFD-21E4-CE18-0914-A0DA27B63139}"/>
              </a:ext>
            </a:extLst>
          </p:cNvPr>
          <p:cNvSpPr>
            <a:spLocks noGrp="1"/>
          </p:cNvSpPr>
          <p:nvPr>
            <p:ph type="body" idx="1"/>
          </p:nvPr>
        </p:nvSpPr>
        <p:spPr/>
        <p:txBody>
          <a:bodyPr/>
          <a:lstStyle/>
          <a:p>
            <a:pPr defTabSz="914338">
              <a:defRPr/>
            </a:pP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4" name="幻灯片编号占位符 3">
            <a:extLst>
              <a:ext uri="{FF2B5EF4-FFF2-40B4-BE49-F238E27FC236}">
                <a16:creationId xmlns:a16="http://schemas.microsoft.com/office/drawing/2014/main" id="{9D1F6D4B-75E8-2765-232C-84EFCCE0811E}"/>
              </a:ext>
            </a:extLst>
          </p:cNvPr>
          <p:cNvSpPr>
            <a:spLocks noGrp="1"/>
          </p:cNvSpPr>
          <p:nvPr>
            <p:ph type="sldNum" sz="quarter" idx="10"/>
          </p:nvPr>
        </p:nvSpPr>
        <p:spPr/>
        <p:txBody>
          <a:bodyPr/>
          <a:lstStyle/>
          <a:p>
            <a:fld id="{6413A649-978D-4D2B-8D10-2AFC3BDC9044}" type="slidenum">
              <a:rPr lang="zh-CN" altLang="en-US" smtClean="0"/>
              <a:t>14</a:t>
            </a:fld>
            <a:endParaRPr lang="zh-CN" altLang="en-US"/>
          </a:p>
        </p:txBody>
      </p:sp>
    </p:spTree>
    <p:extLst>
      <p:ext uri="{BB962C8B-B14F-4D97-AF65-F5344CB8AC3E}">
        <p14:creationId xmlns:p14="http://schemas.microsoft.com/office/powerpoint/2010/main" val="32480254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B8E93-FF0F-7E4D-2BA2-9196703D9A3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5B17E24-A082-72A4-4988-1D2B405FB5BF}"/>
              </a:ext>
            </a:extLst>
          </p:cNvPr>
          <p:cNvSpPr>
            <a:spLocks noGrp="1" noRot="1" noChangeAspect="1"/>
          </p:cNvSpPr>
          <p:nvPr>
            <p:ph type="sldImg"/>
          </p:nvPr>
        </p:nvSpPr>
        <p:spPr>
          <a:xfrm>
            <a:off x="2924175" y="849313"/>
            <a:ext cx="4079875" cy="2295525"/>
          </a:xfrm>
        </p:spPr>
      </p:sp>
      <p:sp>
        <p:nvSpPr>
          <p:cNvPr id="3" name="备注占位符 2">
            <a:extLst>
              <a:ext uri="{FF2B5EF4-FFF2-40B4-BE49-F238E27FC236}">
                <a16:creationId xmlns:a16="http://schemas.microsoft.com/office/drawing/2014/main" id="{1893649A-9F1E-41BA-53B0-D338CC65E9FC}"/>
              </a:ext>
            </a:extLst>
          </p:cNvPr>
          <p:cNvSpPr>
            <a:spLocks noGrp="1"/>
          </p:cNvSpPr>
          <p:nvPr>
            <p:ph type="body" idx="1"/>
          </p:nvPr>
        </p:nvSpPr>
        <p:spPr/>
        <p:txBody>
          <a:bodyPr/>
          <a:lstStyle/>
          <a:p>
            <a:pPr defTabSz="914338">
              <a:defRPr/>
            </a:pP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4" name="幻灯片编号占位符 3">
            <a:extLst>
              <a:ext uri="{FF2B5EF4-FFF2-40B4-BE49-F238E27FC236}">
                <a16:creationId xmlns:a16="http://schemas.microsoft.com/office/drawing/2014/main" id="{3559954A-4526-7684-20A5-81810691437C}"/>
              </a:ext>
            </a:extLst>
          </p:cNvPr>
          <p:cNvSpPr>
            <a:spLocks noGrp="1"/>
          </p:cNvSpPr>
          <p:nvPr>
            <p:ph type="sldNum" sz="quarter" idx="10"/>
          </p:nvPr>
        </p:nvSpPr>
        <p:spPr/>
        <p:txBody>
          <a:bodyPr/>
          <a:lstStyle/>
          <a:p>
            <a:fld id="{6413A649-978D-4D2B-8D10-2AFC3BDC9044}" type="slidenum">
              <a:rPr lang="zh-CN" altLang="en-US" smtClean="0"/>
              <a:t>15</a:t>
            </a:fld>
            <a:endParaRPr lang="zh-CN" altLang="en-US"/>
          </a:p>
        </p:txBody>
      </p:sp>
    </p:spTree>
    <p:extLst>
      <p:ext uri="{BB962C8B-B14F-4D97-AF65-F5344CB8AC3E}">
        <p14:creationId xmlns:p14="http://schemas.microsoft.com/office/powerpoint/2010/main" val="12933468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6B85B-F442-A038-D52B-7F19A068D53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161D8BA-F40E-98FF-D8FC-20AAFBAD5D74}"/>
              </a:ext>
            </a:extLst>
          </p:cNvPr>
          <p:cNvSpPr>
            <a:spLocks noGrp="1" noRot="1" noChangeAspect="1"/>
          </p:cNvSpPr>
          <p:nvPr>
            <p:ph type="sldImg"/>
          </p:nvPr>
        </p:nvSpPr>
        <p:spPr>
          <a:xfrm>
            <a:off x="2924175" y="849313"/>
            <a:ext cx="4079875" cy="2295525"/>
          </a:xfrm>
        </p:spPr>
      </p:sp>
      <p:sp>
        <p:nvSpPr>
          <p:cNvPr id="3" name="备注占位符 2">
            <a:extLst>
              <a:ext uri="{FF2B5EF4-FFF2-40B4-BE49-F238E27FC236}">
                <a16:creationId xmlns:a16="http://schemas.microsoft.com/office/drawing/2014/main" id="{59E1B389-9659-910B-B97B-965D1930E157}"/>
              </a:ext>
            </a:extLst>
          </p:cNvPr>
          <p:cNvSpPr>
            <a:spLocks noGrp="1"/>
          </p:cNvSpPr>
          <p:nvPr>
            <p:ph type="body" idx="1"/>
          </p:nvPr>
        </p:nvSpPr>
        <p:spPr/>
        <p:txBody>
          <a:bodyPr/>
          <a:lstStyle/>
          <a:p>
            <a:pPr defTabSz="914338">
              <a:defRPr/>
            </a:pP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4" name="幻灯片编号占位符 3">
            <a:extLst>
              <a:ext uri="{FF2B5EF4-FFF2-40B4-BE49-F238E27FC236}">
                <a16:creationId xmlns:a16="http://schemas.microsoft.com/office/drawing/2014/main" id="{9DD9200C-E99A-E785-67EB-922DF6218625}"/>
              </a:ext>
            </a:extLst>
          </p:cNvPr>
          <p:cNvSpPr>
            <a:spLocks noGrp="1"/>
          </p:cNvSpPr>
          <p:nvPr>
            <p:ph type="sldNum" sz="quarter" idx="10"/>
          </p:nvPr>
        </p:nvSpPr>
        <p:spPr/>
        <p:txBody>
          <a:bodyPr/>
          <a:lstStyle/>
          <a:p>
            <a:fld id="{6413A649-978D-4D2B-8D10-2AFC3BDC9044}" type="slidenum">
              <a:rPr lang="zh-CN" altLang="en-US" smtClean="0"/>
              <a:t>16</a:t>
            </a:fld>
            <a:endParaRPr lang="zh-CN" altLang="en-US"/>
          </a:p>
        </p:txBody>
      </p:sp>
    </p:spTree>
    <p:extLst>
      <p:ext uri="{BB962C8B-B14F-4D97-AF65-F5344CB8AC3E}">
        <p14:creationId xmlns:p14="http://schemas.microsoft.com/office/powerpoint/2010/main" val="346505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7116A-5F87-6DC4-51A8-4BD5E1DE86A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588B54E-725D-0C2D-1576-1F8CDD6489A2}"/>
              </a:ext>
            </a:extLst>
          </p:cNvPr>
          <p:cNvSpPr>
            <a:spLocks noGrp="1" noRot="1" noChangeAspect="1"/>
          </p:cNvSpPr>
          <p:nvPr>
            <p:ph type="sldImg"/>
          </p:nvPr>
        </p:nvSpPr>
        <p:spPr>
          <a:xfrm>
            <a:off x="2924175" y="849313"/>
            <a:ext cx="4081463" cy="2295525"/>
          </a:xfrm>
        </p:spPr>
      </p:sp>
      <p:sp>
        <p:nvSpPr>
          <p:cNvPr id="3" name="备注占位符 2">
            <a:extLst>
              <a:ext uri="{FF2B5EF4-FFF2-40B4-BE49-F238E27FC236}">
                <a16:creationId xmlns:a16="http://schemas.microsoft.com/office/drawing/2014/main" id="{AC95687A-A67A-8962-3B7D-907C75D446D7}"/>
              </a:ext>
            </a:extLst>
          </p:cNvPr>
          <p:cNvSpPr>
            <a:spLocks noGrp="1"/>
          </p:cNvSpPr>
          <p:nvPr>
            <p:ph type="body" idx="1"/>
          </p:nvPr>
        </p:nvSpPr>
        <p:spPr/>
        <p:txBody>
          <a:bodyPr/>
          <a:lstStyle/>
          <a:p>
            <a:pPr defTabSz="914338">
              <a:defRPr/>
            </a:pP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4" name="幻灯片编号占位符 3">
            <a:extLst>
              <a:ext uri="{FF2B5EF4-FFF2-40B4-BE49-F238E27FC236}">
                <a16:creationId xmlns:a16="http://schemas.microsoft.com/office/drawing/2014/main" id="{F7EEC107-5061-842E-DB15-B4F67D618B98}"/>
              </a:ext>
            </a:extLst>
          </p:cNvPr>
          <p:cNvSpPr>
            <a:spLocks noGrp="1"/>
          </p:cNvSpPr>
          <p:nvPr>
            <p:ph type="sldNum" sz="quarter" idx="10"/>
          </p:nvPr>
        </p:nvSpPr>
        <p:spPr/>
        <p:txBody>
          <a:bodyPr/>
          <a:lstStyle/>
          <a:p>
            <a:fld id="{6413A649-978D-4D2B-8D10-2AFC3BDC9044}" type="slidenum">
              <a:rPr lang="zh-CN" altLang="en-US" smtClean="0"/>
              <a:t>17</a:t>
            </a:fld>
            <a:endParaRPr lang="zh-CN" altLang="en-US"/>
          </a:p>
        </p:txBody>
      </p:sp>
    </p:spTree>
    <p:extLst>
      <p:ext uri="{BB962C8B-B14F-4D97-AF65-F5344CB8AC3E}">
        <p14:creationId xmlns:p14="http://schemas.microsoft.com/office/powerpoint/2010/main" val="38957680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7D219-635A-F517-2FAF-DDEA3D993C7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1B1C535-FC7B-E7DF-B9F5-18D465785627}"/>
              </a:ext>
            </a:extLst>
          </p:cNvPr>
          <p:cNvSpPr>
            <a:spLocks noGrp="1" noRot="1" noChangeAspect="1"/>
          </p:cNvSpPr>
          <p:nvPr>
            <p:ph type="sldImg"/>
          </p:nvPr>
        </p:nvSpPr>
        <p:spPr>
          <a:xfrm>
            <a:off x="2924175" y="849313"/>
            <a:ext cx="4081463" cy="2295525"/>
          </a:xfrm>
        </p:spPr>
      </p:sp>
      <p:sp>
        <p:nvSpPr>
          <p:cNvPr id="3" name="备注占位符 2">
            <a:extLst>
              <a:ext uri="{FF2B5EF4-FFF2-40B4-BE49-F238E27FC236}">
                <a16:creationId xmlns:a16="http://schemas.microsoft.com/office/drawing/2014/main" id="{8223D310-1A4E-EF20-EC49-33DB9FF5EC49}"/>
              </a:ext>
            </a:extLst>
          </p:cNvPr>
          <p:cNvSpPr>
            <a:spLocks noGrp="1"/>
          </p:cNvSpPr>
          <p:nvPr>
            <p:ph type="body" idx="1"/>
          </p:nvPr>
        </p:nvSpPr>
        <p:spPr/>
        <p:txBody>
          <a:bodyPr/>
          <a:lstStyle/>
          <a:p>
            <a:pPr defTabSz="914338">
              <a:defRPr/>
            </a:pP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4" name="幻灯片编号占位符 3">
            <a:extLst>
              <a:ext uri="{FF2B5EF4-FFF2-40B4-BE49-F238E27FC236}">
                <a16:creationId xmlns:a16="http://schemas.microsoft.com/office/drawing/2014/main" id="{16C25D82-C28F-0AFE-D014-13F73E48E1DA}"/>
              </a:ext>
            </a:extLst>
          </p:cNvPr>
          <p:cNvSpPr>
            <a:spLocks noGrp="1"/>
          </p:cNvSpPr>
          <p:nvPr>
            <p:ph type="sldNum" sz="quarter" idx="10"/>
          </p:nvPr>
        </p:nvSpPr>
        <p:spPr/>
        <p:txBody>
          <a:bodyPr/>
          <a:lstStyle/>
          <a:p>
            <a:fld id="{6413A649-978D-4D2B-8D10-2AFC3BDC9044}" type="slidenum">
              <a:rPr lang="zh-CN" altLang="en-US" smtClean="0"/>
              <a:t>18</a:t>
            </a:fld>
            <a:endParaRPr lang="zh-CN" altLang="en-US"/>
          </a:p>
        </p:txBody>
      </p:sp>
    </p:spTree>
    <p:extLst>
      <p:ext uri="{BB962C8B-B14F-4D97-AF65-F5344CB8AC3E}">
        <p14:creationId xmlns:p14="http://schemas.microsoft.com/office/powerpoint/2010/main" val="11757543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27E17-D17C-75ED-B978-C1749BCACE1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56122EF-D4CB-CC53-D73A-F983BCECEF61}"/>
              </a:ext>
            </a:extLst>
          </p:cNvPr>
          <p:cNvSpPr>
            <a:spLocks noGrp="1" noRot="1" noChangeAspect="1"/>
          </p:cNvSpPr>
          <p:nvPr>
            <p:ph type="sldImg"/>
          </p:nvPr>
        </p:nvSpPr>
        <p:spPr>
          <a:xfrm>
            <a:off x="2924175" y="849313"/>
            <a:ext cx="4081463" cy="2295525"/>
          </a:xfrm>
        </p:spPr>
      </p:sp>
      <p:sp>
        <p:nvSpPr>
          <p:cNvPr id="3" name="备注占位符 2">
            <a:extLst>
              <a:ext uri="{FF2B5EF4-FFF2-40B4-BE49-F238E27FC236}">
                <a16:creationId xmlns:a16="http://schemas.microsoft.com/office/drawing/2014/main" id="{A3665717-6F0D-31AE-01B9-16D0D8FA3045}"/>
              </a:ext>
            </a:extLst>
          </p:cNvPr>
          <p:cNvSpPr>
            <a:spLocks noGrp="1"/>
          </p:cNvSpPr>
          <p:nvPr>
            <p:ph type="body" idx="1"/>
          </p:nvPr>
        </p:nvSpPr>
        <p:spPr/>
        <p:txBody>
          <a:bodyPr/>
          <a:lstStyle/>
          <a:p>
            <a:pPr defTabSz="914338">
              <a:defRPr/>
            </a:pP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4" name="幻灯片编号占位符 3">
            <a:extLst>
              <a:ext uri="{FF2B5EF4-FFF2-40B4-BE49-F238E27FC236}">
                <a16:creationId xmlns:a16="http://schemas.microsoft.com/office/drawing/2014/main" id="{420017E0-F32C-DC3D-2658-EB00C267514C}"/>
              </a:ext>
            </a:extLst>
          </p:cNvPr>
          <p:cNvSpPr>
            <a:spLocks noGrp="1"/>
          </p:cNvSpPr>
          <p:nvPr>
            <p:ph type="sldNum" sz="quarter" idx="10"/>
          </p:nvPr>
        </p:nvSpPr>
        <p:spPr/>
        <p:txBody>
          <a:bodyPr/>
          <a:lstStyle/>
          <a:p>
            <a:fld id="{6413A649-978D-4D2B-8D10-2AFC3BDC9044}" type="slidenum">
              <a:rPr lang="zh-CN" altLang="en-US" smtClean="0"/>
              <a:t>19</a:t>
            </a:fld>
            <a:endParaRPr lang="zh-CN" altLang="en-US"/>
          </a:p>
        </p:txBody>
      </p:sp>
    </p:spTree>
    <p:extLst>
      <p:ext uri="{BB962C8B-B14F-4D97-AF65-F5344CB8AC3E}">
        <p14:creationId xmlns:p14="http://schemas.microsoft.com/office/powerpoint/2010/main" val="15110756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7A24F-7918-CC8B-1ECA-ABE25D20E25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B74E431-6BEE-0008-B05A-76DA80B9380B}"/>
              </a:ext>
            </a:extLst>
          </p:cNvPr>
          <p:cNvSpPr>
            <a:spLocks noGrp="1" noRot="1" noChangeAspect="1"/>
          </p:cNvSpPr>
          <p:nvPr>
            <p:ph type="sldImg"/>
          </p:nvPr>
        </p:nvSpPr>
        <p:spPr>
          <a:xfrm>
            <a:off x="2924175" y="849313"/>
            <a:ext cx="4081463" cy="2295525"/>
          </a:xfrm>
        </p:spPr>
      </p:sp>
      <p:sp>
        <p:nvSpPr>
          <p:cNvPr id="3" name="备注占位符 2">
            <a:extLst>
              <a:ext uri="{FF2B5EF4-FFF2-40B4-BE49-F238E27FC236}">
                <a16:creationId xmlns:a16="http://schemas.microsoft.com/office/drawing/2014/main" id="{419EA88D-6E7F-2205-DC5B-7FF5C8240893}"/>
              </a:ext>
            </a:extLst>
          </p:cNvPr>
          <p:cNvSpPr>
            <a:spLocks noGrp="1"/>
          </p:cNvSpPr>
          <p:nvPr>
            <p:ph type="body" idx="1"/>
          </p:nvPr>
        </p:nvSpPr>
        <p:spPr/>
        <p:txBody>
          <a:bodyPr/>
          <a:lstStyle/>
          <a:p>
            <a:pPr defTabSz="914338">
              <a:defRPr/>
            </a:pP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4" name="幻灯片编号占位符 3">
            <a:extLst>
              <a:ext uri="{FF2B5EF4-FFF2-40B4-BE49-F238E27FC236}">
                <a16:creationId xmlns:a16="http://schemas.microsoft.com/office/drawing/2014/main" id="{2FE9765F-89B9-134E-6896-3D0DA1419867}"/>
              </a:ext>
            </a:extLst>
          </p:cNvPr>
          <p:cNvSpPr>
            <a:spLocks noGrp="1"/>
          </p:cNvSpPr>
          <p:nvPr>
            <p:ph type="sldNum" sz="quarter" idx="10"/>
          </p:nvPr>
        </p:nvSpPr>
        <p:spPr/>
        <p:txBody>
          <a:bodyPr/>
          <a:lstStyle/>
          <a:p>
            <a:fld id="{6413A649-978D-4D2B-8D10-2AFC3BDC9044}" type="slidenum">
              <a:rPr lang="zh-CN" altLang="en-US" smtClean="0"/>
              <a:t>20</a:t>
            </a:fld>
            <a:endParaRPr lang="zh-CN" altLang="en-US"/>
          </a:p>
        </p:txBody>
      </p:sp>
    </p:spTree>
    <p:extLst>
      <p:ext uri="{BB962C8B-B14F-4D97-AF65-F5344CB8AC3E}">
        <p14:creationId xmlns:p14="http://schemas.microsoft.com/office/powerpoint/2010/main" val="9815834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0B462-0443-F7C9-6B69-D3F04E16F2C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17E4C92-38AD-A997-01C2-B911237FC2B4}"/>
              </a:ext>
            </a:extLst>
          </p:cNvPr>
          <p:cNvSpPr>
            <a:spLocks noGrp="1" noRot="1" noChangeAspect="1"/>
          </p:cNvSpPr>
          <p:nvPr>
            <p:ph type="sldImg"/>
          </p:nvPr>
        </p:nvSpPr>
        <p:spPr>
          <a:xfrm>
            <a:off x="2924175" y="849313"/>
            <a:ext cx="4081463" cy="2295525"/>
          </a:xfrm>
        </p:spPr>
      </p:sp>
      <p:sp>
        <p:nvSpPr>
          <p:cNvPr id="3" name="备注占位符 2">
            <a:extLst>
              <a:ext uri="{FF2B5EF4-FFF2-40B4-BE49-F238E27FC236}">
                <a16:creationId xmlns:a16="http://schemas.microsoft.com/office/drawing/2014/main" id="{B8E35C8B-4DBB-0402-0A9F-C23F6314642C}"/>
              </a:ext>
            </a:extLst>
          </p:cNvPr>
          <p:cNvSpPr>
            <a:spLocks noGrp="1"/>
          </p:cNvSpPr>
          <p:nvPr>
            <p:ph type="body" idx="1"/>
          </p:nvPr>
        </p:nvSpPr>
        <p:spPr/>
        <p:txBody>
          <a:bodyPr/>
          <a:lstStyle/>
          <a:p>
            <a:pPr defTabSz="914338">
              <a:defRPr/>
            </a:pP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4" name="幻灯片编号占位符 3">
            <a:extLst>
              <a:ext uri="{FF2B5EF4-FFF2-40B4-BE49-F238E27FC236}">
                <a16:creationId xmlns:a16="http://schemas.microsoft.com/office/drawing/2014/main" id="{11A1A159-1812-E197-883A-D5C406B12EB8}"/>
              </a:ext>
            </a:extLst>
          </p:cNvPr>
          <p:cNvSpPr>
            <a:spLocks noGrp="1"/>
          </p:cNvSpPr>
          <p:nvPr>
            <p:ph type="sldNum" sz="quarter" idx="10"/>
          </p:nvPr>
        </p:nvSpPr>
        <p:spPr/>
        <p:txBody>
          <a:bodyPr/>
          <a:lstStyle/>
          <a:p>
            <a:fld id="{6413A649-978D-4D2B-8D10-2AFC3BDC9044}" type="slidenum">
              <a:rPr lang="zh-CN" altLang="en-US" smtClean="0"/>
              <a:t>21</a:t>
            </a:fld>
            <a:endParaRPr lang="zh-CN" altLang="en-US"/>
          </a:p>
        </p:txBody>
      </p:sp>
    </p:spTree>
    <p:extLst>
      <p:ext uri="{BB962C8B-B14F-4D97-AF65-F5344CB8AC3E}">
        <p14:creationId xmlns:p14="http://schemas.microsoft.com/office/powerpoint/2010/main" val="2565854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9F021-EF30-C8E4-31D2-9430D97DD80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ED1B3D0-24C4-354A-F168-8F02CF772E30}"/>
              </a:ext>
            </a:extLst>
          </p:cNvPr>
          <p:cNvSpPr>
            <a:spLocks noGrp="1" noRot="1" noChangeAspect="1"/>
          </p:cNvSpPr>
          <p:nvPr>
            <p:ph type="sldImg"/>
          </p:nvPr>
        </p:nvSpPr>
        <p:spPr>
          <a:xfrm>
            <a:off x="2924175" y="849313"/>
            <a:ext cx="4081463" cy="2295525"/>
          </a:xfrm>
        </p:spPr>
      </p:sp>
      <p:sp>
        <p:nvSpPr>
          <p:cNvPr id="3" name="备注占位符 2">
            <a:extLst>
              <a:ext uri="{FF2B5EF4-FFF2-40B4-BE49-F238E27FC236}">
                <a16:creationId xmlns:a16="http://schemas.microsoft.com/office/drawing/2014/main" id="{C2B1FA54-4447-CDFB-EE1A-CD151176170E}"/>
              </a:ext>
            </a:extLst>
          </p:cNvPr>
          <p:cNvSpPr>
            <a:spLocks noGrp="1"/>
          </p:cNvSpPr>
          <p:nvPr>
            <p:ph type="body" idx="1"/>
          </p:nvPr>
        </p:nvSpPr>
        <p:spPr/>
        <p:txBody>
          <a:bodyPr/>
          <a:lstStyle/>
          <a:p>
            <a:pPr defTabSz="914338">
              <a:defRPr/>
            </a:pP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4" name="幻灯片编号占位符 3">
            <a:extLst>
              <a:ext uri="{FF2B5EF4-FFF2-40B4-BE49-F238E27FC236}">
                <a16:creationId xmlns:a16="http://schemas.microsoft.com/office/drawing/2014/main" id="{658770B6-F4AA-E702-AEA0-014F9463893C}"/>
              </a:ext>
            </a:extLst>
          </p:cNvPr>
          <p:cNvSpPr>
            <a:spLocks noGrp="1"/>
          </p:cNvSpPr>
          <p:nvPr>
            <p:ph type="sldNum" sz="quarter" idx="10"/>
          </p:nvPr>
        </p:nvSpPr>
        <p:spPr/>
        <p:txBody>
          <a:bodyPr/>
          <a:lstStyle/>
          <a:p>
            <a:fld id="{6413A649-978D-4D2B-8D10-2AFC3BDC9044}" type="slidenum">
              <a:rPr lang="zh-CN" altLang="en-US" smtClean="0"/>
              <a:t>22</a:t>
            </a:fld>
            <a:endParaRPr lang="zh-CN" altLang="en-US"/>
          </a:p>
        </p:txBody>
      </p:sp>
    </p:spTree>
    <p:extLst>
      <p:ext uri="{BB962C8B-B14F-4D97-AF65-F5344CB8AC3E}">
        <p14:creationId xmlns:p14="http://schemas.microsoft.com/office/powerpoint/2010/main" val="24382277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98673-F315-41F4-31BD-4B217DFC41C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CB92DF4-A9A3-01B2-1340-67FAA96EAFA7}"/>
              </a:ext>
            </a:extLst>
          </p:cNvPr>
          <p:cNvSpPr>
            <a:spLocks noGrp="1" noRot="1" noChangeAspect="1"/>
          </p:cNvSpPr>
          <p:nvPr>
            <p:ph type="sldImg"/>
          </p:nvPr>
        </p:nvSpPr>
        <p:spPr>
          <a:xfrm>
            <a:off x="2924175" y="849313"/>
            <a:ext cx="4081463" cy="2295525"/>
          </a:xfrm>
        </p:spPr>
      </p:sp>
      <p:sp>
        <p:nvSpPr>
          <p:cNvPr id="3" name="备注占位符 2">
            <a:extLst>
              <a:ext uri="{FF2B5EF4-FFF2-40B4-BE49-F238E27FC236}">
                <a16:creationId xmlns:a16="http://schemas.microsoft.com/office/drawing/2014/main" id="{E7AEB671-4494-238F-F86A-0A725B482BD9}"/>
              </a:ext>
            </a:extLst>
          </p:cNvPr>
          <p:cNvSpPr>
            <a:spLocks noGrp="1"/>
          </p:cNvSpPr>
          <p:nvPr>
            <p:ph type="body" idx="1"/>
          </p:nvPr>
        </p:nvSpPr>
        <p:spPr/>
        <p:txBody>
          <a:bodyPr/>
          <a:lstStyle/>
          <a:p>
            <a:pPr defTabSz="914338">
              <a:defRPr/>
            </a:pP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4" name="幻灯片编号占位符 3">
            <a:extLst>
              <a:ext uri="{FF2B5EF4-FFF2-40B4-BE49-F238E27FC236}">
                <a16:creationId xmlns:a16="http://schemas.microsoft.com/office/drawing/2014/main" id="{DEE4805A-76DC-B5A6-D930-FDFF7F773C5A}"/>
              </a:ext>
            </a:extLst>
          </p:cNvPr>
          <p:cNvSpPr>
            <a:spLocks noGrp="1"/>
          </p:cNvSpPr>
          <p:nvPr>
            <p:ph type="sldNum" sz="quarter" idx="10"/>
          </p:nvPr>
        </p:nvSpPr>
        <p:spPr/>
        <p:txBody>
          <a:bodyPr/>
          <a:lstStyle/>
          <a:p>
            <a:fld id="{6413A649-978D-4D2B-8D10-2AFC3BDC9044}" type="slidenum">
              <a:rPr lang="zh-CN" altLang="en-US" smtClean="0"/>
              <a:t>23</a:t>
            </a:fld>
            <a:endParaRPr lang="zh-CN" altLang="en-US"/>
          </a:p>
        </p:txBody>
      </p:sp>
    </p:spTree>
    <p:extLst>
      <p:ext uri="{BB962C8B-B14F-4D97-AF65-F5344CB8AC3E}">
        <p14:creationId xmlns:p14="http://schemas.microsoft.com/office/powerpoint/2010/main" val="40208568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18583-8507-25B4-9A7C-76BC8000079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1A71D1A-86E6-083E-35A8-2FDC3B927705}"/>
              </a:ext>
            </a:extLst>
          </p:cNvPr>
          <p:cNvSpPr>
            <a:spLocks noGrp="1" noRot="1" noChangeAspect="1"/>
          </p:cNvSpPr>
          <p:nvPr>
            <p:ph type="sldImg"/>
          </p:nvPr>
        </p:nvSpPr>
        <p:spPr>
          <a:xfrm>
            <a:off x="2924175" y="849313"/>
            <a:ext cx="4081463" cy="2295525"/>
          </a:xfrm>
        </p:spPr>
      </p:sp>
      <p:sp>
        <p:nvSpPr>
          <p:cNvPr id="3" name="备注占位符 2">
            <a:extLst>
              <a:ext uri="{FF2B5EF4-FFF2-40B4-BE49-F238E27FC236}">
                <a16:creationId xmlns:a16="http://schemas.microsoft.com/office/drawing/2014/main" id="{815DF191-1025-DEDE-1497-14B63455090D}"/>
              </a:ext>
            </a:extLst>
          </p:cNvPr>
          <p:cNvSpPr>
            <a:spLocks noGrp="1"/>
          </p:cNvSpPr>
          <p:nvPr>
            <p:ph type="body" idx="1"/>
          </p:nvPr>
        </p:nvSpPr>
        <p:spPr/>
        <p:txBody>
          <a:bodyPr/>
          <a:lstStyle/>
          <a:p>
            <a:pPr defTabSz="914338">
              <a:defRPr/>
            </a:pP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4" name="幻灯片编号占位符 3">
            <a:extLst>
              <a:ext uri="{FF2B5EF4-FFF2-40B4-BE49-F238E27FC236}">
                <a16:creationId xmlns:a16="http://schemas.microsoft.com/office/drawing/2014/main" id="{EF050FDB-2F81-0BD5-5FEE-3BFAFF2981C5}"/>
              </a:ext>
            </a:extLst>
          </p:cNvPr>
          <p:cNvSpPr>
            <a:spLocks noGrp="1"/>
          </p:cNvSpPr>
          <p:nvPr>
            <p:ph type="sldNum" sz="quarter" idx="10"/>
          </p:nvPr>
        </p:nvSpPr>
        <p:spPr/>
        <p:txBody>
          <a:bodyPr/>
          <a:lstStyle/>
          <a:p>
            <a:fld id="{6413A649-978D-4D2B-8D10-2AFC3BDC9044}" type="slidenum">
              <a:rPr lang="zh-CN" altLang="en-US" smtClean="0"/>
              <a:t>24</a:t>
            </a:fld>
            <a:endParaRPr lang="zh-CN" altLang="en-US"/>
          </a:p>
        </p:txBody>
      </p:sp>
    </p:spTree>
    <p:extLst>
      <p:ext uri="{BB962C8B-B14F-4D97-AF65-F5344CB8AC3E}">
        <p14:creationId xmlns:p14="http://schemas.microsoft.com/office/powerpoint/2010/main" val="1120636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DAFFA-917D-95DD-B6BC-9E2F35C90F1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CD1700A-598E-00FE-7080-8B31B5146C9C}"/>
              </a:ext>
            </a:extLst>
          </p:cNvPr>
          <p:cNvSpPr>
            <a:spLocks noGrp="1" noRot="1" noChangeAspect="1"/>
          </p:cNvSpPr>
          <p:nvPr>
            <p:ph type="sldImg"/>
          </p:nvPr>
        </p:nvSpPr>
        <p:spPr>
          <a:xfrm>
            <a:off x="2924175" y="849313"/>
            <a:ext cx="4081463" cy="2295525"/>
          </a:xfrm>
        </p:spPr>
      </p:sp>
      <p:sp>
        <p:nvSpPr>
          <p:cNvPr id="3" name="备注占位符 2">
            <a:extLst>
              <a:ext uri="{FF2B5EF4-FFF2-40B4-BE49-F238E27FC236}">
                <a16:creationId xmlns:a16="http://schemas.microsoft.com/office/drawing/2014/main" id="{6FAF29F6-2059-9402-CD53-F0966C9048A4}"/>
              </a:ext>
            </a:extLst>
          </p:cNvPr>
          <p:cNvSpPr>
            <a:spLocks noGrp="1"/>
          </p:cNvSpPr>
          <p:nvPr>
            <p:ph type="body" idx="1"/>
          </p:nvPr>
        </p:nvSpPr>
        <p:spPr/>
        <p:txBody>
          <a:bodyPr/>
          <a:lstStyle/>
          <a:p>
            <a:pPr defTabSz="914338">
              <a:defRPr/>
            </a:pP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4" name="幻灯片编号占位符 3">
            <a:extLst>
              <a:ext uri="{FF2B5EF4-FFF2-40B4-BE49-F238E27FC236}">
                <a16:creationId xmlns:a16="http://schemas.microsoft.com/office/drawing/2014/main" id="{A1BE1BC1-060A-5595-9A65-F467349D4024}"/>
              </a:ext>
            </a:extLst>
          </p:cNvPr>
          <p:cNvSpPr>
            <a:spLocks noGrp="1"/>
          </p:cNvSpPr>
          <p:nvPr>
            <p:ph type="sldNum" sz="quarter" idx="10"/>
          </p:nvPr>
        </p:nvSpPr>
        <p:spPr/>
        <p:txBody>
          <a:bodyPr/>
          <a:lstStyle/>
          <a:p>
            <a:fld id="{6413A649-978D-4D2B-8D10-2AFC3BDC9044}" type="slidenum">
              <a:rPr lang="zh-CN" altLang="en-US" smtClean="0"/>
              <a:t>25</a:t>
            </a:fld>
            <a:endParaRPr lang="zh-CN" altLang="en-US"/>
          </a:p>
        </p:txBody>
      </p:sp>
    </p:spTree>
    <p:extLst>
      <p:ext uri="{BB962C8B-B14F-4D97-AF65-F5344CB8AC3E}">
        <p14:creationId xmlns:p14="http://schemas.microsoft.com/office/powerpoint/2010/main" val="4448590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EA782-E3BF-08EA-3764-59B07E4B22D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892D07A-19FC-98B6-BFDE-65571B7957D3}"/>
              </a:ext>
            </a:extLst>
          </p:cNvPr>
          <p:cNvSpPr>
            <a:spLocks noGrp="1" noRot="1" noChangeAspect="1"/>
          </p:cNvSpPr>
          <p:nvPr>
            <p:ph type="sldImg"/>
          </p:nvPr>
        </p:nvSpPr>
        <p:spPr>
          <a:xfrm>
            <a:off x="2924175" y="849313"/>
            <a:ext cx="4081463" cy="2295525"/>
          </a:xfrm>
        </p:spPr>
      </p:sp>
      <p:sp>
        <p:nvSpPr>
          <p:cNvPr id="3" name="备注占位符 2">
            <a:extLst>
              <a:ext uri="{FF2B5EF4-FFF2-40B4-BE49-F238E27FC236}">
                <a16:creationId xmlns:a16="http://schemas.microsoft.com/office/drawing/2014/main" id="{1B181126-88A3-1F25-A705-7FBB5A3A86CF}"/>
              </a:ext>
            </a:extLst>
          </p:cNvPr>
          <p:cNvSpPr>
            <a:spLocks noGrp="1"/>
          </p:cNvSpPr>
          <p:nvPr>
            <p:ph type="body" idx="1"/>
          </p:nvPr>
        </p:nvSpPr>
        <p:spPr/>
        <p:txBody>
          <a:bodyPr/>
          <a:lstStyle/>
          <a:p>
            <a:pPr defTabSz="914338">
              <a:defRPr/>
            </a:pP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4" name="幻灯片编号占位符 3">
            <a:extLst>
              <a:ext uri="{FF2B5EF4-FFF2-40B4-BE49-F238E27FC236}">
                <a16:creationId xmlns:a16="http://schemas.microsoft.com/office/drawing/2014/main" id="{0B6B5E18-3611-12EB-9690-0EF7ED851D0D}"/>
              </a:ext>
            </a:extLst>
          </p:cNvPr>
          <p:cNvSpPr>
            <a:spLocks noGrp="1"/>
          </p:cNvSpPr>
          <p:nvPr>
            <p:ph type="sldNum" sz="quarter" idx="10"/>
          </p:nvPr>
        </p:nvSpPr>
        <p:spPr/>
        <p:txBody>
          <a:bodyPr/>
          <a:lstStyle/>
          <a:p>
            <a:fld id="{6413A649-978D-4D2B-8D10-2AFC3BDC9044}" type="slidenum">
              <a:rPr lang="zh-CN" altLang="en-US" smtClean="0"/>
              <a:t>26</a:t>
            </a:fld>
            <a:endParaRPr lang="zh-CN" altLang="en-US"/>
          </a:p>
        </p:txBody>
      </p:sp>
    </p:spTree>
    <p:extLst>
      <p:ext uri="{BB962C8B-B14F-4D97-AF65-F5344CB8AC3E}">
        <p14:creationId xmlns:p14="http://schemas.microsoft.com/office/powerpoint/2010/main" val="21537282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88556-24D6-5587-DC97-462BB337948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3B0124F-780C-D1AB-A917-2D8474D61B4B}"/>
              </a:ext>
            </a:extLst>
          </p:cNvPr>
          <p:cNvSpPr>
            <a:spLocks noGrp="1" noRot="1" noChangeAspect="1"/>
          </p:cNvSpPr>
          <p:nvPr>
            <p:ph type="sldImg"/>
          </p:nvPr>
        </p:nvSpPr>
        <p:spPr>
          <a:xfrm>
            <a:off x="2924175" y="849313"/>
            <a:ext cx="4081463" cy="2295525"/>
          </a:xfrm>
        </p:spPr>
      </p:sp>
      <p:sp>
        <p:nvSpPr>
          <p:cNvPr id="3" name="备注占位符 2">
            <a:extLst>
              <a:ext uri="{FF2B5EF4-FFF2-40B4-BE49-F238E27FC236}">
                <a16:creationId xmlns:a16="http://schemas.microsoft.com/office/drawing/2014/main" id="{296C6062-64DC-2A52-5B46-6FF6A32BF482}"/>
              </a:ext>
            </a:extLst>
          </p:cNvPr>
          <p:cNvSpPr>
            <a:spLocks noGrp="1"/>
          </p:cNvSpPr>
          <p:nvPr>
            <p:ph type="body" idx="1"/>
          </p:nvPr>
        </p:nvSpPr>
        <p:spPr/>
        <p:txBody>
          <a:bodyPr/>
          <a:lstStyle/>
          <a:p>
            <a:pPr defTabSz="914338">
              <a:defRPr/>
            </a:pP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4" name="幻灯片编号占位符 3">
            <a:extLst>
              <a:ext uri="{FF2B5EF4-FFF2-40B4-BE49-F238E27FC236}">
                <a16:creationId xmlns:a16="http://schemas.microsoft.com/office/drawing/2014/main" id="{6B45AD86-5F54-1D86-7F8E-7D5745BC8387}"/>
              </a:ext>
            </a:extLst>
          </p:cNvPr>
          <p:cNvSpPr>
            <a:spLocks noGrp="1"/>
          </p:cNvSpPr>
          <p:nvPr>
            <p:ph type="sldNum" sz="quarter" idx="10"/>
          </p:nvPr>
        </p:nvSpPr>
        <p:spPr/>
        <p:txBody>
          <a:bodyPr/>
          <a:lstStyle/>
          <a:p>
            <a:fld id="{6413A649-978D-4D2B-8D10-2AFC3BDC9044}" type="slidenum">
              <a:rPr lang="zh-CN" altLang="en-US" smtClean="0"/>
              <a:t>27</a:t>
            </a:fld>
            <a:endParaRPr lang="zh-CN" altLang="en-US"/>
          </a:p>
        </p:txBody>
      </p:sp>
    </p:spTree>
    <p:extLst>
      <p:ext uri="{BB962C8B-B14F-4D97-AF65-F5344CB8AC3E}">
        <p14:creationId xmlns:p14="http://schemas.microsoft.com/office/powerpoint/2010/main" val="11834080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2811A-9870-673E-1E88-D06739D4888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4724DDD-684B-B218-0891-85DB3CD0A525}"/>
              </a:ext>
            </a:extLst>
          </p:cNvPr>
          <p:cNvSpPr>
            <a:spLocks noGrp="1" noRot="1" noChangeAspect="1"/>
          </p:cNvSpPr>
          <p:nvPr>
            <p:ph type="sldImg"/>
          </p:nvPr>
        </p:nvSpPr>
        <p:spPr>
          <a:xfrm>
            <a:off x="2924175" y="849313"/>
            <a:ext cx="4081463" cy="2295525"/>
          </a:xfrm>
        </p:spPr>
      </p:sp>
      <p:sp>
        <p:nvSpPr>
          <p:cNvPr id="3" name="备注占位符 2">
            <a:extLst>
              <a:ext uri="{FF2B5EF4-FFF2-40B4-BE49-F238E27FC236}">
                <a16:creationId xmlns:a16="http://schemas.microsoft.com/office/drawing/2014/main" id="{CBAC309D-948C-0AC0-8743-EB821D313036}"/>
              </a:ext>
            </a:extLst>
          </p:cNvPr>
          <p:cNvSpPr>
            <a:spLocks noGrp="1"/>
          </p:cNvSpPr>
          <p:nvPr>
            <p:ph type="body" idx="1"/>
          </p:nvPr>
        </p:nvSpPr>
        <p:spPr/>
        <p:txBody>
          <a:bodyPr/>
          <a:lstStyle/>
          <a:p>
            <a:pPr defTabSz="914338">
              <a:defRPr/>
            </a:pP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4" name="幻灯片编号占位符 3">
            <a:extLst>
              <a:ext uri="{FF2B5EF4-FFF2-40B4-BE49-F238E27FC236}">
                <a16:creationId xmlns:a16="http://schemas.microsoft.com/office/drawing/2014/main" id="{F935B53C-071E-6354-0338-BCD284024F0D}"/>
              </a:ext>
            </a:extLst>
          </p:cNvPr>
          <p:cNvSpPr>
            <a:spLocks noGrp="1"/>
          </p:cNvSpPr>
          <p:nvPr>
            <p:ph type="sldNum" sz="quarter" idx="10"/>
          </p:nvPr>
        </p:nvSpPr>
        <p:spPr/>
        <p:txBody>
          <a:bodyPr/>
          <a:lstStyle/>
          <a:p>
            <a:fld id="{6413A649-978D-4D2B-8D10-2AFC3BDC9044}" type="slidenum">
              <a:rPr lang="zh-CN" altLang="en-US" smtClean="0"/>
              <a:t>28</a:t>
            </a:fld>
            <a:endParaRPr lang="zh-CN" altLang="en-US"/>
          </a:p>
        </p:txBody>
      </p:sp>
    </p:spTree>
    <p:extLst>
      <p:ext uri="{BB962C8B-B14F-4D97-AF65-F5344CB8AC3E}">
        <p14:creationId xmlns:p14="http://schemas.microsoft.com/office/powerpoint/2010/main" val="22330140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BB66F-EBEB-4FCA-8A98-96A4CDF53C2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52EAB99-F8A7-6308-3B75-4220DB1CE757}"/>
              </a:ext>
            </a:extLst>
          </p:cNvPr>
          <p:cNvSpPr>
            <a:spLocks noGrp="1" noRot="1" noChangeAspect="1"/>
          </p:cNvSpPr>
          <p:nvPr>
            <p:ph type="sldImg"/>
          </p:nvPr>
        </p:nvSpPr>
        <p:spPr>
          <a:xfrm>
            <a:off x="2924175" y="849313"/>
            <a:ext cx="4081463" cy="2295525"/>
          </a:xfrm>
        </p:spPr>
      </p:sp>
      <p:sp>
        <p:nvSpPr>
          <p:cNvPr id="3" name="备注占位符 2">
            <a:extLst>
              <a:ext uri="{FF2B5EF4-FFF2-40B4-BE49-F238E27FC236}">
                <a16:creationId xmlns:a16="http://schemas.microsoft.com/office/drawing/2014/main" id="{B9005025-F459-6B42-3B7D-61090CA35CDA}"/>
              </a:ext>
            </a:extLst>
          </p:cNvPr>
          <p:cNvSpPr>
            <a:spLocks noGrp="1"/>
          </p:cNvSpPr>
          <p:nvPr>
            <p:ph type="body" idx="1"/>
          </p:nvPr>
        </p:nvSpPr>
        <p:spPr/>
        <p:txBody>
          <a:bodyPr/>
          <a:lstStyle/>
          <a:p>
            <a:pPr defTabSz="914338">
              <a:defRPr/>
            </a:pP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4" name="幻灯片编号占位符 3">
            <a:extLst>
              <a:ext uri="{FF2B5EF4-FFF2-40B4-BE49-F238E27FC236}">
                <a16:creationId xmlns:a16="http://schemas.microsoft.com/office/drawing/2014/main" id="{B72C7A9F-5C72-D33F-9E0B-CD494757219E}"/>
              </a:ext>
            </a:extLst>
          </p:cNvPr>
          <p:cNvSpPr>
            <a:spLocks noGrp="1"/>
          </p:cNvSpPr>
          <p:nvPr>
            <p:ph type="sldNum" sz="quarter" idx="10"/>
          </p:nvPr>
        </p:nvSpPr>
        <p:spPr/>
        <p:txBody>
          <a:bodyPr/>
          <a:lstStyle/>
          <a:p>
            <a:fld id="{6413A649-978D-4D2B-8D10-2AFC3BDC9044}" type="slidenum">
              <a:rPr lang="zh-CN" altLang="en-US" smtClean="0"/>
              <a:t>29</a:t>
            </a:fld>
            <a:endParaRPr lang="zh-CN" altLang="en-US"/>
          </a:p>
        </p:txBody>
      </p:sp>
    </p:spTree>
    <p:extLst>
      <p:ext uri="{BB962C8B-B14F-4D97-AF65-F5344CB8AC3E}">
        <p14:creationId xmlns:p14="http://schemas.microsoft.com/office/powerpoint/2010/main" val="95662911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7249A-BB46-4CED-F95C-3CD8B7141E7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CC87FE-B3C9-5263-331D-F72871E3D108}"/>
              </a:ext>
            </a:extLst>
          </p:cNvPr>
          <p:cNvSpPr>
            <a:spLocks noGrp="1" noRot="1" noChangeAspect="1"/>
          </p:cNvSpPr>
          <p:nvPr>
            <p:ph type="sldImg"/>
          </p:nvPr>
        </p:nvSpPr>
        <p:spPr>
          <a:xfrm>
            <a:off x="2924175" y="849313"/>
            <a:ext cx="4081463" cy="2295525"/>
          </a:xfrm>
        </p:spPr>
      </p:sp>
      <p:sp>
        <p:nvSpPr>
          <p:cNvPr id="3" name="备注占位符 2">
            <a:extLst>
              <a:ext uri="{FF2B5EF4-FFF2-40B4-BE49-F238E27FC236}">
                <a16:creationId xmlns:a16="http://schemas.microsoft.com/office/drawing/2014/main" id="{81489B1B-C5E6-5055-C587-273AB1F08762}"/>
              </a:ext>
            </a:extLst>
          </p:cNvPr>
          <p:cNvSpPr>
            <a:spLocks noGrp="1"/>
          </p:cNvSpPr>
          <p:nvPr>
            <p:ph type="body" idx="1"/>
          </p:nvPr>
        </p:nvSpPr>
        <p:spPr/>
        <p:txBody>
          <a:bodyPr/>
          <a:lstStyle/>
          <a:p>
            <a:pPr defTabSz="914338">
              <a:defRPr/>
            </a:pP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4" name="幻灯片编号占位符 3">
            <a:extLst>
              <a:ext uri="{FF2B5EF4-FFF2-40B4-BE49-F238E27FC236}">
                <a16:creationId xmlns:a16="http://schemas.microsoft.com/office/drawing/2014/main" id="{66E9BB84-D7E9-B929-BE71-7B0AAC5C0AB5}"/>
              </a:ext>
            </a:extLst>
          </p:cNvPr>
          <p:cNvSpPr>
            <a:spLocks noGrp="1"/>
          </p:cNvSpPr>
          <p:nvPr>
            <p:ph type="sldNum" sz="quarter" idx="10"/>
          </p:nvPr>
        </p:nvSpPr>
        <p:spPr/>
        <p:txBody>
          <a:bodyPr/>
          <a:lstStyle/>
          <a:p>
            <a:fld id="{6413A649-978D-4D2B-8D10-2AFC3BDC9044}" type="slidenum">
              <a:rPr lang="zh-CN" altLang="en-US" smtClean="0"/>
              <a:t>30</a:t>
            </a:fld>
            <a:endParaRPr lang="zh-CN" altLang="en-US"/>
          </a:p>
        </p:txBody>
      </p:sp>
    </p:spTree>
    <p:extLst>
      <p:ext uri="{BB962C8B-B14F-4D97-AF65-F5344CB8AC3E}">
        <p14:creationId xmlns:p14="http://schemas.microsoft.com/office/powerpoint/2010/main" val="212311833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C095C-EF51-5AD7-9E3A-F99A1D97035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B2DCFFE-8FEC-47AB-E2C1-9013B8C936A9}"/>
              </a:ext>
            </a:extLst>
          </p:cNvPr>
          <p:cNvSpPr>
            <a:spLocks noGrp="1" noRot="1" noChangeAspect="1"/>
          </p:cNvSpPr>
          <p:nvPr>
            <p:ph type="sldImg"/>
          </p:nvPr>
        </p:nvSpPr>
        <p:spPr>
          <a:xfrm>
            <a:off x="2924175" y="849313"/>
            <a:ext cx="4081463" cy="2295525"/>
          </a:xfrm>
        </p:spPr>
      </p:sp>
      <p:sp>
        <p:nvSpPr>
          <p:cNvPr id="3" name="备注占位符 2">
            <a:extLst>
              <a:ext uri="{FF2B5EF4-FFF2-40B4-BE49-F238E27FC236}">
                <a16:creationId xmlns:a16="http://schemas.microsoft.com/office/drawing/2014/main" id="{52472CBA-C3A0-BCBE-AD81-E9627BD6D648}"/>
              </a:ext>
            </a:extLst>
          </p:cNvPr>
          <p:cNvSpPr>
            <a:spLocks noGrp="1"/>
          </p:cNvSpPr>
          <p:nvPr>
            <p:ph type="body" idx="1"/>
          </p:nvPr>
        </p:nvSpPr>
        <p:spPr/>
        <p:txBody>
          <a:bodyPr/>
          <a:lstStyle/>
          <a:p>
            <a:pPr defTabSz="914338">
              <a:defRPr/>
            </a:pP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4" name="幻灯片编号占位符 3">
            <a:extLst>
              <a:ext uri="{FF2B5EF4-FFF2-40B4-BE49-F238E27FC236}">
                <a16:creationId xmlns:a16="http://schemas.microsoft.com/office/drawing/2014/main" id="{122EA905-647F-F8EC-BE08-647EF72834CB}"/>
              </a:ext>
            </a:extLst>
          </p:cNvPr>
          <p:cNvSpPr>
            <a:spLocks noGrp="1"/>
          </p:cNvSpPr>
          <p:nvPr>
            <p:ph type="sldNum" sz="quarter" idx="10"/>
          </p:nvPr>
        </p:nvSpPr>
        <p:spPr/>
        <p:txBody>
          <a:bodyPr/>
          <a:lstStyle/>
          <a:p>
            <a:fld id="{6413A649-978D-4D2B-8D10-2AFC3BDC9044}" type="slidenum">
              <a:rPr lang="zh-CN" altLang="en-US" smtClean="0"/>
              <a:t>31</a:t>
            </a:fld>
            <a:endParaRPr lang="zh-CN" altLang="en-US"/>
          </a:p>
        </p:txBody>
      </p:sp>
    </p:spTree>
    <p:extLst>
      <p:ext uri="{BB962C8B-B14F-4D97-AF65-F5344CB8AC3E}">
        <p14:creationId xmlns:p14="http://schemas.microsoft.com/office/powerpoint/2010/main" val="112285938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7099D-0B21-C89D-E817-455CA50DECC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D40D725-C129-01E7-B101-1B6B2A07774D}"/>
              </a:ext>
            </a:extLst>
          </p:cNvPr>
          <p:cNvSpPr>
            <a:spLocks noGrp="1" noRot="1" noChangeAspect="1"/>
          </p:cNvSpPr>
          <p:nvPr>
            <p:ph type="sldImg"/>
          </p:nvPr>
        </p:nvSpPr>
        <p:spPr>
          <a:xfrm>
            <a:off x="2924175" y="849313"/>
            <a:ext cx="4079875" cy="2295525"/>
          </a:xfrm>
        </p:spPr>
      </p:sp>
      <p:sp>
        <p:nvSpPr>
          <p:cNvPr id="3" name="备注占位符 2">
            <a:extLst>
              <a:ext uri="{FF2B5EF4-FFF2-40B4-BE49-F238E27FC236}">
                <a16:creationId xmlns:a16="http://schemas.microsoft.com/office/drawing/2014/main" id="{784D2F98-F9CE-F3ED-3F24-3131474869C0}"/>
              </a:ext>
            </a:extLst>
          </p:cNvPr>
          <p:cNvSpPr>
            <a:spLocks noGrp="1"/>
          </p:cNvSpPr>
          <p:nvPr>
            <p:ph type="body" idx="1"/>
          </p:nvPr>
        </p:nvSpPr>
        <p:spPr/>
        <p:txBody>
          <a:bodyPr/>
          <a:lstStyle/>
          <a:p>
            <a:pPr defTabSz="914338">
              <a:defRPr/>
            </a:pP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4" name="幻灯片编号占位符 3">
            <a:extLst>
              <a:ext uri="{FF2B5EF4-FFF2-40B4-BE49-F238E27FC236}">
                <a16:creationId xmlns:a16="http://schemas.microsoft.com/office/drawing/2014/main" id="{A58E17A1-7EDA-CE64-A0FE-EC2178920253}"/>
              </a:ext>
            </a:extLst>
          </p:cNvPr>
          <p:cNvSpPr>
            <a:spLocks noGrp="1"/>
          </p:cNvSpPr>
          <p:nvPr>
            <p:ph type="sldNum" sz="quarter" idx="10"/>
          </p:nvPr>
        </p:nvSpPr>
        <p:spPr/>
        <p:txBody>
          <a:bodyPr/>
          <a:lstStyle/>
          <a:p>
            <a:fld id="{6413A649-978D-4D2B-8D10-2AFC3BDC9044}" type="slidenum">
              <a:rPr lang="zh-CN" altLang="en-US" smtClean="0"/>
              <a:t>32</a:t>
            </a:fld>
            <a:endParaRPr lang="zh-CN" altLang="en-US"/>
          </a:p>
        </p:txBody>
      </p:sp>
    </p:spTree>
    <p:extLst>
      <p:ext uri="{BB962C8B-B14F-4D97-AF65-F5344CB8AC3E}">
        <p14:creationId xmlns:p14="http://schemas.microsoft.com/office/powerpoint/2010/main" val="325742639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924175" y="849313"/>
            <a:ext cx="4079875" cy="2295525"/>
          </a:xfrm>
        </p:spPr>
      </p:sp>
      <p:sp>
        <p:nvSpPr>
          <p:cNvPr id="3" name="备注占位符 2"/>
          <p:cNvSpPr>
            <a:spLocks noGrp="1"/>
          </p:cNvSpPr>
          <p:nvPr>
            <p:ph type="body" idx="1"/>
          </p:nvPr>
        </p:nvSpPr>
        <p:spPr/>
        <p:txBody>
          <a:bodyPr/>
          <a:lstStyle/>
          <a:p>
            <a:pPr defTabSz="914400">
              <a:defRPr/>
            </a:pPr>
            <a:r>
              <a:rPr lang="zh-CN" altLang="en-US" sz="1800" kern="100" dirty="0">
                <a:latin typeface="Calibri" panose="020F0502020204030204" pitchFamily="34" charset="0"/>
                <a:ea typeface="宋体" panose="02010600030101010101" pitchFamily="2" charset="-122"/>
                <a:cs typeface="Times New Roman" panose="02020603050405020304" pitchFamily="18" charset="0"/>
              </a:rPr>
              <a:t>走在街上时，光线带给我们眼睛的信息是不断变化的。每一次我们移动和转移视线，场景的细节都会发生变化。然而，我们在感知中保持着一种连续感：</a:t>
            </a:r>
            <a:r>
              <a:rPr lang="zh-CN" altLang="en-US" sz="1800" b="1" kern="100" dirty="0">
                <a:latin typeface="Calibri" panose="020F0502020204030204" pitchFamily="34" charset="0"/>
                <a:ea typeface="宋体" panose="02010600030101010101" pitchFamily="2" charset="-122"/>
                <a:cs typeface="Times New Roman" panose="02020603050405020304" pitchFamily="18" charset="0"/>
              </a:rPr>
              <a:t>尽管我们的视野</a:t>
            </a:r>
            <a:r>
              <a:rPr lang="zh-CN" altLang="en-US" sz="1800" kern="100" dirty="0">
                <a:latin typeface="Calibri" panose="020F0502020204030204" pitchFamily="34" charset="0"/>
                <a:ea typeface="宋体" panose="02010600030101010101" pitchFamily="2" charset="-122"/>
                <a:cs typeface="Times New Roman" panose="02020603050405020304" pitchFamily="18" charset="0"/>
              </a:rPr>
              <a:t>不断被打断和变化，街道旁边的树被视为刚才看到的同一棵树。</a:t>
            </a:r>
            <a:endParaRPr lang="en-US" altLang="zh-CN" sz="1800" kern="100" dirty="0">
              <a:latin typeface="Calibri" panose="020F0502020204030204" pitchFamily="34" charset="0"/>
              <a:ea typeface="宋体" panose="02010600030101010101" pitchFamily="2" charset="-122"/>
              <a:cs typeface="Times New Roman" panose="02020603050405020304" pitchFamily="18" charset="0"/>
            </a:endParaRPr>
          </a:p>
          <a:p>
            <a:pPr defTabSz="914400">
              <a:defRPr/>
            </a:pPr>
            <a:r>
              <a:rPr lang="zh-CN" altLang="en-US" sz="1800" b="1" kern="100" dirty="0">
                <a:solidFill>
                  <a:srgbClr val="FF0000"/>
                </a:solidFill>
                <a:highlight>
                  <a:srgbClr val="FFFF00"/>
                </a:highlight>
                <a:latin typeface="Calibri" panose="020F0502020204030204" pitchFamily="34" charset="0"/>
                <a:ea typeface="宋体" panose="02010600030101010101" pitchFamily="2" charset="-122"/>
                <a:cs typeface="Times New Roman" panose="02020603050405020304" pitchFamily="18" charset="0"/>
              </a:rPr>
              <a:t>大脑如何在变化的世界中保持连续性？</a:t>
            </a:r>
            <a:r>
              <a:rPr lang="zh-CN" altLang="en-US" sz="1800" kern="100" dirty="0">
                <a:latin typeface="Calibri" panose="020F0502020204030204" pitchFamily="34" charset="0"/>
                <a:ea typeface="宋体" panose="02010600030101010101" pitchFamily="2" charset="-122"/>
                <a:cs typeface="Times New Roman" panose="02020603050405020304" pitchFamily="18" charset="0"/>
              </a:rPr>
              <a:t>最近的许多结果表明，</a:t>
            </a:r>
            <a:r>
              <a:rPr lang="zh-CN" altLang="en-US" sz="1800" b="1" kern="100" dirty="0">
                <a:latin typeface="Calibri" panose="020F0502020204030204" pitchFamily="34" charset="0"/>
                <a:ea typeface="宋体" panose="02010600030101010101" pitchFamily="2" charset="-122"/>
                <a:cs typeface="Times New Roman" panose="02020603050405020304" pitchFamily="18" charset="0"/>
              </a:rPr>
              <a:t>视觉系统利用视觉世界中事件的自相关</a:t>
            </a:r>
            <a:r>
              <a:rPr lang="zh-CN" altLang="en-US" sz="1800" kern="100" dirty="0">
                <a:latin typeface="Calibri" panose="020F0502020204030204" pitchFamily="34" charset="0"/>
                <a:ea typeface="宋体" panose="02010600030101010101" pitchFamily="2" charset="-122"/>
                <a:cs typeface="Times New Roman" panose="02020603050405020304" pitchFamily="18" charset="0"/>
              </a:rPr>
              <a:t>，利用最近的过去来告知现在的感知。</a:t>
            </a:r>
            <a:r>
              <a:rPr lang="zh-CN" altLang="en-US" sz="1800" b="1" kern="100" dirty="0">
                <a:latin typeface="Calibri" panose="020F0502020204030204" pitchFamily="34" charset="0"/>
                <a:ea typeface="宋体" panose="02010600030101010101" pitchFamily="2" charset="-122"/>
                <a:cs typeface="Times New Roman" panose="02020603050405020304" pitchFamily="18" charset="0"/>
              </a:rPr>
              <a:t>这个观点的核心是序列依赖性</a:t>
            </a:r>
            <a:r>
              <a:rPr lang="zh-CN" altLang="en-US" sz="1800" kern="100" dirty="0">
                <a:latin typeface="Calibri" panose="020F0502020204030204" pitchFamily="34" charset="0"/>
                <a:ea typeface="宋体" panose="02010600030101010101" pitchFamily="2" charset="-122"/>
                <a:cs typeface="Times New Roman" panose="02020603050405020304" pitchFamily="18" charset="0"/>
              </a:rPr>
              <a:t>。序列依赖性是我们视觉系统的一种内在机制，视觉系统利用时间相关性和情境冗余性，将随时间轻微变化的相似刺激进行整合。这是一种行为偏差，其中当前的视觉决策受到以前看到的刺激历史的影响</a:t>
            </a:r>
          </a:p>
        </p:txBody>
      </p:sp>
      <p:sp>
        <p:nvSpPr>
          <p:cNvPr id="4" name="幻灯片编号占位符 3"/>
          <p:cNvSpPr>
            <a:spLocks noGrp="1"/>
          </p:cNvSpPr>
          <p:nvPr>
            <p:ph type="sldNum" sz="quarter" idx="10"/>
          </p:nvPr>
        </p:nvSpPr>
        <p:spPr/>
        <p:txBody>
          <a:bodyPr/>
          <a:lstStyle/>
          <a:p>
            <a:fld id="{6413A649-978D-4D2B-8D10-2AFC3BDC9044}" type="slidenum">
              <a:rPr lang="zh-CN" altLang="en-US" smtClean="0"/>
              <a:t>33</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86260-0BCB-E8D7-2312-93D220D927D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CA5BC0E-B0C0-AFFB-1348-EBD9E9B3E94D}"/>
              </a:ext>
            </a:extLst>
          </p:cNvPr>
          <p:cNvSpPr>
            <a:spLocks noGrp="1" noRot="1" noChangeAspect="1"/>
          </p:cNvSpPr>
          <p:nvPr>
            <p:ph type="sldImg"/>
          </p:nvPr>
        </p:nvSpPr>
        <p:spPr>
          <a:xfrm>
            <a:off x="2924175" y="849313"/>
            <a:ext cx="4081463" cy="2295525"/>
          </a:xfrm>
        </p:spPr>
      </p:sp>
      <p:sp>
        <p:nvSpPr>
          <p:cNvPr id="3" name="备注占位符 2">
            <a:extLst>
              <a:ext uri="{FF2B5EF4-FFF2-40B4-BE49-F238E27FC236}">
                <a16:creationId xmlns:a16="http://schemas.microsoft.com/office/drawing/2014/main" id="{5124F002-E68C-7422-10D6-B3C3AE5E9550}"/>
              </a:ext>
            </a:extLst>
          </p:cNvPr>
          <p:cNvSpPr>
            <a:spLocks noGrp="1"/>
          </p:cNvSpPr>
          <p:nvPr>
            <p:ph type="body" idx="1"/>
          </p:nvPr>
        </p:nvSpPr>
        <p:spPr/>
        <p:txBody>
          <a:bodyPr/>
          <a:lstStyle/>
          <a:p>
            <a:pPr defTabSz="914338">
              <a:defRPr/>
            </a:pP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4" name="幻灯片编号占位符 3">
            <a:extLst>
              <a:ext uri="{FF2B5EF4-FFF2-40B4-BE49-F238E27FC236}">
                <a16:creationId xmlns:a16="http://schemas.microsoft.com/office/drawing/2014/main" id="{CB6C8D7E-C395-1C6A-1A95-9BA1AADEB796}"/>
              </a:ext>
            </a:extLst>
          </p:cNvPr>
          <p:cNvSpPr>
            <a:spLocks noGrp="1"/>
          </p:cNvSpPr>
          <p:nvPr>
            <p:ph type="sldNum" sz="quarter" idx="10"/>
          </p:nvPr>
        </p:nvSpPr>
        <p:spPr/>
        <p:txBody>
          <a:bodyPr/>
          <a:lstStyle/>
          <a:p>
            <a:fld id="{6413A649-978D-4D2B-8D10-2AFC3BDC9044}" type="slidenum">
              <a:rPr lang="zh-CN" altLang="en-US" smtClean="0"/>
              <a:t>34</a:t>
            </a:fld>
            <a:endParaRPr lang="zh-CN" altLang="en-US"/>
          </a:p>
        </p:txBody>
      </p:sp>
    </p:spTree>
    <p:extLst>
      <p:ext uri="{BB962C8B-B14F-4D97-AF65-F5344CB8AC3E}">
        <p14:creationId xmlns:p14="http://schemas.microsoft.com/office/powerpoint/2010/main" val="392098983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924175" y="849313"/>
            <a:ext cx="4079875" cy="2295525"/>
          </a:xfrm>
        </p:spPr>
      </p:sp>
      <p:sp>
        <p:nvSpPr>
          <p:cNvPr id="3" name="备注占位符 2"/>
          <p:cNvSpPr>
            <a:spLocks noGrp="1"/>
          </p:cNvSpPr>
          <p:nvPr>
            <p:ph type="body" idx="1"/>
          </p:nvPr>
        </p:nvSpPr>
        <p:spPr/>
        <p:txBody>
          <a:bodyPr/>
          <a:lstStyle/>
          <a:p>
            <a:pPr defTabSz="914400">
              <a:defRPr/>
            </a:pPr>
            <a:endParaRPr lang="zh-CN" altLang="en-US" sz="1800" kern="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4" name="幻灯片编号占位符 3"/>
          <p:cNvSpPr>
            <a:spLocks noGrp="1"/>
          </p:cNvSpPr>
          <p:nvPr>
            <p:ph type="sldNum" sz="quarter" idx="10"/>
          </p:nvPr>
        </p:nvSpPr>
        <p:spPr/>
        <p:txBody>
          <a:bodyPr/>
          <a:lstStyle/>
          <a:p>
            <a:fld id="{6413A649-978D-4D2B-8D10-2AFC3BDC9044}" type="slidenum">
              <a:rPr lang="zh-CN" altLang="en-US" smtClean="0"/>
              <a:t>35</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924175" y="849313"/>
            <a:ext cx="4079875" cy="2295525"/>
          </a:xfrm>
        </p:spPr>
      </p:sp>
      <p:sp>
        <p:nvSpPr>
          <p:cNvPr id="3" name="备注占位符 2"/>
          <p:cNvSpPr>
            <a:spLocks noGrp="1"/>
          </p:cNvSpPr>
          <p:nvPr>
            <p:ph type="body" idx="1"/>
          </p:nvPr>
        </p:nvSpPr>
        <p:spPr/>
        <p:txBody>
          <a:bodyPr/>
          <a:lstStyle/>
          <a:p>
            <a:pPr defTabSz="914400">
              <a:defRPr/>
            </a:pPr>
            <a:r>
              <a:rPr lang="en-US" altLang="zh-CN" sz="1800" dirty="0">
                <a:sym typeface="+mn-ea"/>
              </a:rPr>
              <a:t>Fischer &amp; Whitney (2014) </a:t>
            </a:r>
            <a:r>
              <a:rPr lang="zh-CN" altLang="en-US" sz="1800" dirty="0">
                <a:sym typeface="+mn-ea"/>
              </a:rPr>
              <a:t>首先开始定量研究序列依赖性。他们让被试判断一个光栅的方向，在</a:t>
            </a:r>
            <a:r>
              <a:rPr lang="en-US" altLang="zh-CN" sz="1800" dirty="0">
                <a:sym typeface="+mn-ea"/>
              </a:rPr>
              <a:t>response</a:t>
            </a:r>
            <a:r>
              <a:rPr lang="zh-CN" altLang="en-US" sz="1800" dirty="0">
                <a:sym typeface="+mn-ea"/>
              </a:rPr>
              <a:t>阶段并调节这条白色</a:t>
            </a:r>
            <a:r>
              <a:rPr lang="en-US" altLang="zh-CN" sz="1800" dirty="0">
                <a:sym typeface="+mn-ea"/>
              </a:rPr>
              <a:t>bar</a:t>
            </a:r>
            <a:r>
              <a:rPr lang="zh-CN" altLang="en-US" sz="1800" dirty="0">
                <a:sym typeface="+mn-ea"/>
              </a:rPr>
              <a:t>的角度，来报告他们感知到的方向。就是在这个过程中，他们发现了序列依赖性。举一个例子，比如这是上一个刺激的方向，这是这一试次中刺激的方向，而被试在反应阶段调节出的方向相比于真实的刺激，会稍微的偏向上一个刺激的方向。</a:t>
            </a:r>
            <a:endParaRPr lang="en-US" altLang="zh-CN" sz="1800"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dirty="0">
                <a:sym typeface="+mn-ea"/>
              </a:rPr>
              <a:t>如果将很多各式次的结果汇总在一起，它们的平均值就会形成一条这样的曲线，横轴代表上一个刺激的角度与这一个刺激的角度的差异，纵轴代表</a:t>
            </a:r>
            <a:r>
              <a:rPr lang="en-US" altLang="zh-CN" sz="1800" dirty="0">
                <a:sym typeface="+mn-ea"/>
              </a:rPr>
              <a:t>response</a:t>
            </a:r>
            <a:r>
              <a:rPr lang="zh-CN" altLang="en-US" sz="1800" dirty="0">
                <a:sym typeface="+mn-ea"/>
              </a:rPr>
              <a:t>报告的角度与实际角度的差异。比如上一个刺激相对于下一个刺激更顺时针，报告出的角度相对于真实刺激也会更顺时针，强烈偏向于先前刺激的方向，体现出吸引性的序列依赖性。随着两个刺激差异增大，效应先增强再减弱，在</a:t>
            </a:r>
            <a:r>
              <a:rPr lang="en-US" altLang="zh-CN" sz="1800" dirty="0">
                <a:sym typeface="+mn-ea"/>
              </a:rPr>
              <a:t>20</a:t>
            </a:r>
            <a:r>
              <a:rPr lang="zh-CN" altLang="en-US" sz="1800" dirty="0">
                <a:sym typeface="+mn-ea"/>
              </a:rPr>
              <a:t>度 达到峰值。</a:t>
            </a:r>
            <a:endParaRPr lang="en-US" altLang="zh-CN" sz="1800" dirty="0"/>
          </a:p>
          <a:p>
            <a:pPr defTabSz="914400">
              <a:defRPr/>
            </a:pPr>
            <a:endParaRPr lang="zh-CN" altLang="en-US" sz="1800" dirty="0"/>
          </a:p>
          <a:p>
            <a:pPr defTabSz="914400">
              <a:defRPr/>
            </a:pPr>
            <a:endParaRPr lang="zh-CN" altLang="en-US" sz="1800" kern="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4" name="幻灯片编号占位符 3"/>
          <p:cNvSpPr>
            <a:spLocks noGrp="1"/>
          </p:cNvSpPr>
          <p:nvPr>
            <p:ph type="sldNum" sz="quarter" idx="10"/>
          </p:nvPr>
        </p:nvSpPr>
        <p:spPr/>
        <p:txBody>
          <a:bodyPr/>
          <a:lstStyle/>
          <a:p>
            <a:fld id="{6413A649-978D-4D2B-8D10-2AFC3BDC9044}" type="slidenum">
              <a:rPr lang="zh-CN" altLang="en-US" smtClean="0"/>
              <a:t>36</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924175" y="849313"/>
            <a:ext cx="4079875" cy="2295525"/>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dirty="0">
                <a:sym typeface="+mn-ea"/>
              </a:rPr>
              <a:t>诱导剂是同时呈现的两个</a:t>
            </a:r>
            <a:r>
              <a:rPr lang="en-US" altLang="zh-CN" sz="1800" dirty="0">
                <a:sym typeface="+mn-ea"/>
              </a:rPr>
              <a:t>Gabors</a:t>
            </a:r>
            <a:r>
              <a:rPr lang="zh-CN" altLang="en-US" sz="1800" dirty="0">
                <a:sym typeface="+mn-ea"/>
              </a:rPr>
              <a:t>之一。在典型的调整任务中提出了观察者来重现该</a:t>
            </a:r>
            <a:r>
              <a:rPr lang="en-US" altLang="zh-CN" sz="1800" dirty="0">
                <a:sym typeface="+mn-ea"/>
              </a:rPr>
              <a:t>Gabor</a:t>
            </a:r>
            <a:r>
              <a:rPr lang="zh-CN" altLang="en-US" sz="1800" dirty="0">
                <a:sym typeface="+mn-ea"/>
              </a:rPr>
              <a:t>的方向。在每个试验中，调整响应之后是另外两个</a:t>
            </a:r>
            <a:r>
              <a:rPr lang="en-US" altLang="zh-CN" sz="1800" dirty="0">
                <a:sym typeface="+mn-ea"/>
              </a:rPr>
              <a:t>Gabors</a:t>
            </a:r>
            <a:r>
              <a:rPr lang="zh-CN" altLang="en-US" sz="1800" dirty="0">
                <a:sym typeface="+mn-ea"/>
              </a:rPr>
              <a:t>的提示，并且观察者被迫选择更逆时针的</a:t>
            </a:r>
            <a:r>
              <a:rPr lang="en-US" altLang="zh-CN" sz="1800" dirty="0">
                <a:sym typeface="+mn-ea"/>
              </a:rPr>
              <a:t>Gabor</a:t>
            </a:r>
            <a:r>
              <a:rPr lang="zh-CN" altLang="en-US" sz="1800" dirty="0">
                <a:sym typeface="+mn-ea"/>
              </a:rPr>
              <a:t>。调整后的刺激的方向改变了随后在同一位置出现的</a:t>
            </a:r>
            <a:r>
              <a:rPr lang="en-US" altLang="zh-CN" sz="1800" dirty="0">
                <a:sym typeface="+mn-ea"/>
              </a:rPr>
              <a:t>Gabor</a:t>
            </a:r>
            <a:r>
              <a:rPr lang="zh-CN" altLang="en-US" sz="1800" dirty="0">
                <a:sym typeface="+mn-ea"/>
              </a:rPr>
              <a:t>的感知方向，主观平等点发生了显着转移</a:t>
            </a:r>
            <a:r>
              <a:rPr lang="en-US" altLang="zh-CN" sz="1800" dirty="0">
                <a:sym typeface="+mn-ea"/>
              </a:rPr>
              <a:t> - </a:t>
            </a:r>
            <a:r>
              <a:rPr lang="zh-CN" altLang="en-US" sz="1800" dirty="0">
                <a:sym typeface="+mn-ea"/>
              </a:rPr>
              <a:t>结果与以前的刺激的有吸引力（</a:t>
            </a:r>
            <a:r>
              <a:rPr lang="en-US" altLang="zh-CN" sz="1800" dirty="0">
                <a:sym typeface="+mn-ea"/>
              </a:rPr>
              <a:t>Fischer</a:t>
            </a:r>
            <a:r>
              <a:rPr lang="zh-CN" altLang="en-US" sz="1800" dirty="0">
                <a:sym typeface="+mn-ea"/>
              </a:rPr>
              <a:t>＆</a:t>
            </a:r>
            <a:r>
              <a:rPr lang="en-US" altLang="zh-CN" sz="1800" dirty="0">
                <a:sym typeface="+mn-ea"/>
              </a:rPr>
              <a:t>Whitney</a:t>
            </a:r>
            <a:r>
              <a:rPr lang="zh-CN" altLang="en-US" sz="1800" dirty="0">
                <a:sym typeface="+mn-ea"/>
              </a:rPr>
              <a:t>，</a:t>
            </a:r>
            <a:r>
              <a:rPr lang="en-US" altLang="zh-CN" sz="1800" dirty="0">
                <a:sym typeface="+mn-ea"/>
              </a:rPr>
              <a:t>2014</a:t>
            </a:r>
            <a:r>
              <a:rPr lang="zh-CN" altLang="en-US" sz="1800" dirty="0">
                <a:sym typeface="+mn-ea"/>
              </a:rPr>
              <a:t>年）。然而，使用非常相似的范式，</a:t>
            </a:r>
            <a:r>
              <a:rPr lang="en-US" altLang="zh-CN" sz="1800" dirty="0">
                <a:sym typeface="+mn-ea"/>
              </a:rPr>
              <a:t>Fritsche</a:t>
            </a:r>
            <a:r>
              <a:rPr lang="zh-CN" altLang="en-US" sz="1800" dirty="0">
                <a:sym typeface="+mn-ea"/>
              </a:rPr>
              <a:t>及其同事（</a:t>
            </a:r>
            <a:r>
              <a:rPr lang="en-US" altLang="zh-CN" sz="1800" dirty="0">
                <a:sym typeface="+mn-ea"/>
              </a:rPr>
              <a:t>2017</a:t>
            </a:r>
            <a:r>
              <a:rPr lang="zh-CN" altLang="en-US" sz="1800" dirty="0">
                <a:sym typeface="+mn-ea"/>
              </a:rPr>
              <a:t>）发现，先前位置的刺激在感知到随后的</a:t>
            </a:r>
            <a:r>
              <a:rPr lang="en-US" altLang="zh-CN" sz="1800" dirty="0">
                <a:sym typeface="+mn-ea"/>
              </a:rPr>
              <a:t>Gabor</a:t>
            </a:r>
            <a:r>
              <a:rPr lang="zh-CN" altLang="en-US" sz="1800" dirty="0">
                <a:sym typeface="+mn-ea"/>
              </a:rPr>
              <a:t>的方向上引起了反击的偏见，在此任务中，强制选择涉及比较既涉及比较（例如，哪个是顺时针判断？</a:t>
            </a:r>
            <a:r>
              <a:rPr lang="en-US" altLang="zh-CN" sz="1800" dirty="0">
                <a:sym typeface="+mn-ea"/>
              </a:rPr>
              <a:t> Cicchini</a:t>
            </a:r>
            <a:r>
              <a:rPr lang="zh-CN" altLang="en-US" sz="1800" dirty="0">
                <a:sym typeface="+mn-ea"/>
              </a:rPr>
              <a:t>及其同事（</a:t>
            </a:r>
            <a:r>
              <a:rPr lang="en-US" altLang="zh-CN" sz="1800" dirty="0">
                <a:sym typeface="+mn-ea"/>
              </a:rPr>
              <a:t>2017</a:t>
            </a:r>
            <a:r>
              <a:rPr lang="zh-CN" altLang="en-US" sz="1800" dirty="0">
                <a:sym typeface="+mn-ea"/>
              </a:rPr>
              <a:t>）未能复制这种排斥效应，但当诱导剂距离当前刺激</a:t>
            </a:r>
            <a:r>
              <a:rPr lang="en-US" altLang="zh-CN" sz="1800" dirty="0">
                <a:sym typeface="+mn-ea"/>
              </a:rPr>
              <a:t>5</a:t>
            </a:r>
            <a:r>
              <a:rPr lang="en-US" altLang="en-US" sz="1800" dirty="0">
                <a:sym typeface="+mn-ea"/>
              </a:rPr>
              <a:t>°</a:t>
            </a:r>
            <a:r>
              <a:rPr lang="zh-CN" altLang="en-US" sz="1800" dirty="0">
                <a:sym typeface="+mn-ea"/>
              </a:rPr>
              <a:t>时，发现有吸引力的偏见（而不是在</a:t>
            </a:r>
            <a:r>
              <a:rPr lang="en-US" altLang="zh-CN" sz="1800" dirty="0">
                <a:sym typeface="+mn-ea"/>
              </a:rPr>
              <a:t>Fritsche</a:t>
            </a:r>
            <a:r>
              <a:rPr lang="zh-CN" altLang="en-US" sz="1800" dirty="0">
                <a:sym typeface="+mn-ea"/>
              </a:rPr>
              <a:t>等人，</a:t>
            </a:r>
            <a:r>
              <a:rPr lang="en-US" altLang="zh-CN" sz="1800" dirty="0">
                <a:sym typeface="+mn-ea"/>
              </a:rPr>
              <a:t>2017</a:t>
            </a:r>
            <a:r>
              <a:rPr lang="zh-CN" altLang="en-US" sz="1800" dirty="0">
                <a:sym typeface="+mn-ea"/>
              </a:rPr>
              <a:t>年，而不是</a:t>
            </a:r>
            <a:r>
              <a:rPr lang="en-US" altLang="zh-CN" sz="1800" dirty="0">
                <a:sym typeface="+mn-ea"/>
              </a:rPr>
              <a:t>20</a:t>
            </a:r>
            <a:r>
              <a:rPr lang="en-US" altLang="en-US" sz="1800" dirty="0">
                <a:sym typeface="+mn-ea"/>
              </a:rPr>
              <a:t>°</a:t>
            </a:r>
            <a:r>
              <a:rPr lang="zh-CN" altLang="en-US" sz="1800" dirty="0">
                <a:sym typeface="+mn-ea"/>
              </a:rPr>
              <a:t>）。</a:t>
            </a: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dirty="0">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dirty="0">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dirty="0">
                <a:sym typeface="+mn-ea"/>
              </a:rPr>
              <a:t>他们的第二条证据设计了一个巧妙的实验，不需要报告刺激的方向，也就是不需要</a:t>
            </a:r>
            <a:r>
              <a:rPr lang="en-US" altLang="zh-CN" sz="1800" dirty="0">
                <a:sym typeface="+mn-ea"/>
              </a:rPr>
              <a:t>decision-making</a:t>
            </a:r>
            <a:r>
              <a:rPr lang="zh-CN" altLang="en-US" sz="1800" dirty="0">
                <a:sym typeface="+mn-ea"/>
              </a:rPr>
              <a:t>，而只需要比较两个刺激。首先，他们给了两个</a:t>
            </a:r>
            <a:r>
              <a:rPr lang="en-US" altLang="zh-CN" sz="1800" dirty="0">
                <a:sym typeface="+mn-ea"/>
              </a:rPr>
              <a:t>inducer</a:t>
            </a:r>
            <a:r>
              <a:rPr lang="zh-CN" altLang="en-US" sz="1800" dirty="0">
                <a:sym typeface="+mn-ea"/>
              </a:rPr>
              <a:t>让被试对其中一个做反应，然后让他们判断两个新的刺激判断哪一个更顺时针。这条心理物理学曲线的横轴是右边减左边的角度，如果形成了使右边的刺激看起来更顺时针的</a:t>
            </a:r>
            <a:r>
              <a:rPr lang="en-US" altLang="zh-CN" sz="1800" dirty="0">
                <a:sym typeface="+mn-ea"/>
              </a:rPr>
              <a:t>serial dependence</a:t>
            </a:r>
            <a:r>
              <a:rPr lang="zh-CN" altLang="en-US" sz="1800" dirty="0">
                <a:sym typeface="+mn-ea"/>
              </a:rPr>
              <a:t>，即更小的角度差异就可以选择右边，那么曲线理应向左偏移。但是，比较</a:t>
            </a:r>
            <a:r>
              <a:rPr lang="en-US" altLang="zh-CN" sz="1800" dirty="0">
                <a:sym typeface="+mn-ea"/>
              </a:rPr>
              <a:t>inducer</a:t>
            </a:r>
            <a:r>
              <a:rPr lang="zh-CN" altLang="en-US" sz="1800" dirty="0">
                <a:sym typeface="+mn-ea"/>
              </a:rPr>
              <a:t>不同的两条心理物理学曲线，有利于右边的红色曲线和有利于左边的蓝色曲线比起来，更靠右一些，说明产生的并不是吸引的</a:t>
            </a:r>
            <a:r>
              <a:rPr lang="en-US" altLang="zh-CN" sz="1800" dirty="0">
                <a:sym typeface="+mn-ea"/>
              </a:rPr>
              <a:t>serial dependence</a:t>
            </a:r>
            <a:r>
              <a:rPr lang="zh-CN" altLang="en-US" sz="1800" dirty="0">
                <a:sym typeface="+mn-ea"/>
              </a:rPr>
              <a:t>，而是排斥的。</a:t>
            </a:r>
            <a:endParaRPr lang="en-US" altLang="zh-CN" sz="1800"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dirty="0">
                <a:sym typeface="+mn-ea"/>
              </a:rPr>
              <a:t>另一个实验也是同样的范式，但判断的不是哪一个更顺时针，而是两个刺激是否看起来相同。没有</a:t>
            </a:r>
            <a:r>
              <a:rPr lang="en-US" altLang="zh-CN" sz="1800" dirty="0">
                <a:sym typeface="+mn-ea"/>
              </a:rPr>
              <a:t>serial dependence</a:t>
            </a:r>
            <a:r>
              <a:rPr lang="zh-CN" altLang="en-US" sz="1800" dirty="0">
                <a:sym typeface="+mn-ea"/>
              </a:rPr>
              <a:t>的情况下，应该是以</a:t>
            </a:r>
            <a:r>
              <a:rPr lang="en-US" altLang="zh-CN" sz="1800" dirty="0">
                <a:sym typeface="+mn-ea"/>
              </a:rPr>
              <a:t>0</a:t>
            </a:r>
            <a:r>
              <a:rPr lang="zh-CN" altLang="en-US" sz="1800" dirty="0">
                <a:sym typeface="+mn-ea"/>
              </a:rPr>
              <a:t>为中心的高斯分布，而序列依赖性引入的</a:t>
            </a:r>
            <a:r>
              <a:rPr lang="en-US" altLang="zh-CN" sz="1800" dirty="0">
                <a:sym typeface="+mn-ea"/>
              </a:rPr>
              <a:t>bias</a:t>
            </a:r>
            <a:r>
              <a:rPr lang="zh-CN" altLang="en-US" sz="1800" dirty="0">
                <a:sym typeface="+mn-ea"/>
              </a:rPr>
              <a:t>会导致波峰位置的移动。横轴代表不存在影响一侧的光栅（</a:t>
            </a:r>
            <a:r>
              <a:rPr lang="en-US" altLang="zh-CN" sz="1800" dirty="0">
                <a:sym typeface="+mn-ea"/>
              </a:rPr>
              <a:t>unbiased</a:t>
            </a:r>
            <a:r>
              <a:rPr lang="zh-CN" altLang="en-US" sz="1800" dirty="0">
                <a:sym typeface="+mn-ea"/>
              </a:rPr>
              <a:t>）相对于存在（</a:t>
            </a:r>
            <a:r>
              <a:rPr lang="en-US" altLang="zh-CN" sz="1800" dirty="0">
                <a:sym typeface="+mn-ea"/>
              </a:rPr>
              <a:t>biased</a:t>
            </a:r>
            <a:r>
              <a:rPr lang="zh-CN" altLang="en-US" sz="1800" dirty="0">
                <a:sym typeface="+mn-ea"/>
              </a:rPr>
              <a:t>）一侧的角度，如果是右边更顺时针的</a:t>
            </a:r>
            <a:r>
              <a:rPr lang="en-US" altLang="zh-CN" sz="1800" dirty="0">
                <a:sym typeface="+mn-ea"/>
              </a:rPr>
              <a:t>inducer</a:t>
            </a:r>
            <a:r>
              <a:rPr lang="zh-CN" altLang="en-US" sz="1800" dirty="0">
                <a:sym typeface="+mn-ea"/>
              </a:rPr>
              <a:t>，需要左边的光栅逆时针旋转来匹配右边的光栅，也就是说，形成了逆时针的影响，即排斥的</a:t>
            </a:r>
            <a:r>
              <a:rPr lang="en-US" altLang="zh-CN" sz="1800" dirty="0">
                <a:sym typeface="+mn-ea"/>
              </a:rPr>
              <a:t>serial dependence</a:t>
            </a:r>
            <a:r>
              <a:rPr lang="zh-CN" altLang="en-US" sz="1800" dirty="0">
                <a:sym typeface="+mn-ea"/>
              </a:rPr>
              <a:t>，并且两个实验的</a:t>
            </a:r>
            <a:r>
              <a:rPr lang="en-US" altLang="zh-CN" sz="1800" dirty="0">
                <a:sym typeface="+mn-ea"/>
              </a:rPr>
              <a:t>PSE</a:t>
            </a:r>
            <a:r>
              <a:rPr lang="zh-CN" altLang="en-US" sz="1800" dirty="0">
                <a:sym typeface="+mn-ea"/>
              </a:rPr>
              <a:t>是类似的。</a:t>
            </a:r>
            <a:endParaRPr lang="zh-CN" altLang="en-US" sz="1800" dirty="0"/>
          </a:p>
          <a:p>
            <a:pPr defTabSz="914400">
              <a:defRPr/>
            </a:pPr>
            <a:endParaRPr lang="zh-CN" altLang="en-US" sz="1800" kern="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4" name="幻灯片编号占位符 3"/>
          <p:cNvSpPr>
            <a:spLocks noGrp="1"/>
          </p:cNvSpPr>
          <p:nvPr>
            <p:ph type="sldNum" sz="quarter" idx="10"/>
          </p:nvPr>
        </p:nvSpPr>
        <p:spPr/>
        <p:txBody>
          <a:bodyPr/>
          <a:lstStyle/>
          <a:p>
            <a:fld id="{6413A649-978D-4D2B-8D10-2AFC3BDC9044}" type="slidenum">
              <a:rPr lang="zh-CN" altLang="en-US" smtClean="0"/>
              <a:t>37</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924175" y="849313"/>
            <a:ext cx="4079875" cy="2295525"/>
          </a:xfrm>
        </p:spPr>
      </p:sp>
      <p:sp>
        <p:nvSpPr>
          <p:cNvPr id="3" name="备注占位符 2"/>
          <p:cNvSpPr>
            <a:spLocks noGrp="1"/>
          </p:cNvSpPr>
          <p:nvPr>
            <p:ph type="body" idx="1"/>
          </p:nvPr>
        </p:nvSpPr>
        <p:spPr/>
        <p:txBody>
          <a:bodyPr/>
          <a:lstStyle/>
          <a:p>
            <a:pPr defTabSz="914400">
              <a:defRPr/>
            </a:pPr>
            <a:r>
              <a:rPr lang="zh-CN" altLang="en-US" sz="1800" dirty="0">
                <a:sym typeface="+mn-ea"/>
              </a:rPr>
              <a:t>在</a:t>
            </a:r>
            <a:r>
              <a:rPr lang="en-US" altLang="zh-CN" sz="1800" dirty="0">
                <a:sym typeface="+mn-ea"/>
              </a:rPr>
              <a:t>Czoschke</a:t>
            </a:r>
            <a:r>
              <a:rPr lang="zh-CN" altLang="en-US" sz="1800" dirty="0">
                <a:sym typeface="+mn-ea"/>
              </a:rPr>
              <a:t>及其同事（</a:t>
            </a:r>
            <a:r>
              <a:rPr lang="en-US" altLang="zh-CN" sz="1800" dirty="0">
                <a:sym typeface="+mn-ea"/>
              </a:rPr>
              <a:t>2019</a:t>
            </a:r>
            <a:r>
              <a:rPr lang="zh-CN" altLang="en-US" sz="1800" dirty="0">
                <a:sym typeface="+mn-ea"/>
              </a:rPr>
              <a:t>年）的一项研究中，参与者记住了两个连续呈现的漂流点的云，随后被提示以报告第一或第二云的漂移方向。这些偏见是从试验中记忆中的漂移方向排斥的，但从先前的试验中记住的偏见是有吸引力的。这是在试验中跨试验和反击序列依赖性的积极序列依赖性，与同时工作记忆表示之间的排斥性干扰兼容。</a:t>
            </a:r>
            <a:r>
              <a:rPr lang="en-US" altLang="zh-CN" sz="1800" dirty="0">
                <a:sym typeface="+mn-ea"/>
              </a:rPr>
              <a:t> </a:t>
            </a:r>
            <a:endParaRPr lang="zh-CN" altLang="en-US" sz="1800" dirty="0"/>
          </a:p>
          <a:p>
            <a:pPr defTabSz="914400">
              <a:defRPr/>
            </a:pPr>
            <a:endParaRPr lang="zh-CN" altLang="en-US" sz="1800" kern="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4" name="幻灯片编号占位符 3"/>
          <p:cNvSpPr>
            <a:spLocks noGrp="1"/>
          </p:cNvSpPr>
          <p:nvPr>
            <p:ph type="sldNum" sz="quarter" idx="10"/>
          </p:nvPr>
        </p:nvSpPr>
        <p:spPr/>
        <p:txBody>
          <a:bodyPr/>
          <a:lstStyle/>
          <a:p>
            <a:fld id="{6413A649-978D-4D2B-8D10-2AFC3BDC9044}" type="slidenum">
              <a:rPr lang="zh-CN" altLang="en-US" smtClean="0"/>
              <a:t>38</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2F40C-14A6-4EF9-3918-2F032481859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008E626-99EA-FC92-A5FF-203286454ADF}"/>
              </a:ext>
            </a:extLst>
          </p:cNvPr>
          <p:cNvSpPr>
            <a:spLocks noGrp="1" noRot="1" noChangeAspect="1"/>
          </p:cNvSpPr>
          <p:nvPr>
            <p:ph type="sldImg"/>
          </p:nvPr>
        </p:nvSpPr>
        <p:spPr>
          <a:xfrm>
            <a:off x="2924175" y="849313"/>
            <a:ext cx="4081463" cy="2295525"/>
          </a:xfrm>
        </p:spPr>
      </p:sp>
      <p:sp>
        <p:nvSpPr>
          <p:cNvPr id="3" name="备注占位符 2">
            <a:extLst>
              <a:ext uri="{FF2B5EF4-FFF2-40B4-BE49-F238E27FC236}">
                <a16:creationId xmlns:a16="http://schemas.microsoft.com/office/drawing/2014/main" id="{AC7E8A5D-B071-EC8A-F9F2-9B8E1CA2D12D}"/>
              </a:ext>
            </a:extLst>
          </p:cNvPr>
          <p:cNvSpPr>
            <a:spLocks noGrp="1"/>
          </p:cNvSpPr>
          <p:nvPr>
            <p:ph type="body" idx="1"/>
          </p:nvPr>
        </p:nvSpPr>
        <p:spPr/>
        <p:txBody>
          <a:bodyPr/>
          <a:lstStyle/>
          <a:p>
            <a:pPr defTabSz="914338">
              <a:defRPr/>
            </a:pP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4" name="幻灯片编号占位符 3">
            <a:extLst>
              <a:ext uri="{FF2B5EF4-FFF2-40B4-BE49-F238E27FC236}">
                <a16:creationId xmlns:a16="http://schemas.microsoft.com/office/drawing/2014/main" id="{2F8DD61A-2428-C399-FD1B-7109E48689B6}"/>
              </a:ext>
            </a:extLst>
          </p:cNvPr>
          <p:cNvSpPr>
            <a:spLocks noGrp="1"/>
          </p:cNvSpPr>
          <p:nvPr>
            <p:ph type="sldNum" sz="quarter" idx="10"/>
          </p:nvPr>
        </p:nvSpPr>
        <p:spPr/>
        <p:txBody>
          <a:bodyPr/>
          <a:lstStyle/>
          <a:p>
            <a:fld id="{6413A649-978D-4D2B-8D10-2AFC3BDC9044}" type="slidenum">
              <a:rPr lang="zh-CN" altLang="en-US" smtClean="0"/>
              <a:t>39</a:t>
            </a:fld>
            <a:endParaRPr lang="zh-CN" altLang="en-US"/>
          </a:p>
        </p:txBody>
      </p:sp>
    </p:spTree>
    <p:extLst>
      <p:ext uri="{BB962C8B-B14F-4D97-AF65-F5344CB8AC3E}">
        <p14:creationId xmlns:p14="http://schemas.microsoft.com/office/powerpoint/2010/main" val="282306175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9FA62-A513-4170-8ECC-62C92B15E52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3D6A395-3472-9CE0-4E96-10DCEAEDE811}"/>
              </a:ext>
            </a:extLst>
          </p:cNvPr>
          <p:cNvSpPr>
            <a:spLocks noGrp="1" noRot="1" noChangeAspect="1"/>
          </p:cNvSpPr>
          <p:nvPr>
            <p:ph type="sldImg"/>
          </p:nvPr>
        </p:nvSpPr>
        <p:spPr>
          <a:xfrm>
            <a:off x="2924175" y="849313"/>
            <a:ext cx="4081463" cy="2295525"/>
          </a:xfrm>
        </p:spPr>
      </p:sp>
      <p:sp>
        <p:nvSpPr>
          <p:cNvPr id="3" name="备注占位符 2">
            <a:extLst>
              <a:ext uri="{FF2B5EF4-FFF2-40B4-BE49-F238E27FC236}">
                <a16:creationId xmlns:a16="http://schemas.microsoft.com/office/drawing/2014/main" id="{47ACB79C-5ED5-EA2D-7149-83709CAE1AD3}"/>
              </a:ext>
            </a:extLst>
          </p:cNvPr>
          <p:cNvSpPr>
            <a:spLocks noGrp="1"/>
          </p:cNvSpPr>
          <p:nvPr>
            <p:ph type="body" idx="1"/>
          </p:nvPr>
        </p:nvSpPr>
        <p:spPr/>
        <p:txBody>
          <a:bodyPr/>
          <a:lstStyle/>
          <a:p>
            <a:pPr defTabSz="914338">
              <a:defRPr/>
            </a:pP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4" name="幻灯片编号占位符 3">
            <a:extLst>
              <a:ext uri="{FF2B5EF4-FFF2-40B4-BE49-F238E27FC236}">
                <a16:creationId xmlns:a16="http://schemas.microsoft.com/office/drawing/2014/main" id="{380ACDCA-9DB8-B354-A987-81E5A3FA1A71}"/>
              </a:ext>
            </a:extLst>
          </p:cNvPr>
          <p:cNvSpPr>
            <a:spLocks noGrp="1"/>
          </p:cNvSpPr>
          <p:nvPr>
            <p:ph type="sldNum" sz="quarter" idx="10"/>
          </p:nvPr>
        </p:nvSpPr>
        <p:spPr/>
        <p:txBody>
          <a:bodyPr/>
          <a:lstStyle/>
          <a:p>
            <a:fld id="{6413A649-978D-4D2B-8D10-2AFC3BDC9044}" type="slidenum">
              <a:rPr lang="zh-CN" altLang="en-US" smtClean="0"/>
              <a:t>40</a:t>
            </a:fld>
            <a:endParaRPr lang="zh-CN" altLang="en-US"/>
          </a:p>
        </p:txBody>
      </p:sp>
    </p:spTree>
    <p:extLst>
      <p:ext uri="{BB962C8B-B14F-4D97-AF65-F5344CB8AC3E}">
        <p14:creationId xmlns:p14="http://schemas.microsoft.com/office/powerpoint/2010/main" val="286151836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E1F71-F56D-FFA9-1FBB-1648036A3FF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868B80E-B08F-CB99-288C-ABA940AC272B}"/>
              </a:ext>
            </a:extLst>
          </p:cNvPr>
          <p:cNvSpPr>
            <a:spLocks noGrp="1" noRot="1" noChangeAspect="1"/>
          </p:cNvSpPr>
          <p:nvPr>
            <p:ph type="sldImg"/>
          </p:nvPr>
        </p:nvSpPr>
        <p:spPr>
          <a:xfrm>
            <a:off x="2924175" y="849313"/>
            <a:ext cx="4081463" cy="2295525"/>
          </a:xfrm>
        </p:spPr>
      </p:sp>
      <p:sp>
        <p:nvSpPr>
          <p:cNvPr id="3" name="备注占位符 2">
            <a:extLst>
              <a:ext uri="{FF2B5EF4-FFF2-40B4-BE49-F238E27FC236}">
                <a16:creationId xmlns:a16="http://schemas.microsoft.com/office/drawing/2014/main" id="{0AA2E7AB-7CCC-9A06-2327-940B07C24630}"/>
              </a:ext>
            </a:extLst>
          </p:cNvPr>
          <p:cNvSpPr>
            <a:spLocks noGrp="1"/>
          </p:cNvSpPr>
          <p:nvPr>
            <p:ph type="body" idx="1"/>
          </p:nvPr>
        </p:nvSpPr>
        <p:spPr/>
        <p:txBody>
          <a:bodyPr/>
          <a:lstStyle/>
          <a:p>
            <a:pPr defTabSz="914338">
              <a:defRPr/>
            </a:pP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4" name="幻灯片编号占位符 3">
            <a:extLst>
              <a:ext uri="{FF2B5EF4-FFF2-40B4-BE49-F238E27FC236}">
                <a16:creationId xmlns:a16="http://schemas.microsoft.com/office/drawing/2014/main" id="{479B8211-FBBA-CB31-9D79-CECA4883C224}"/>
              </a:ext>
            </a:extLst>
          </p:cNvPr>
          <p:cNvSpPr>
            <a:spLocks noGrp="1"/>
          </p:cNvSpPr>
          <p:nvPr>
            <p:ph type="sldNum" sz="quarter" idx="10"/>
          </p:nvPr>
        </p:nvSpPr>
        <p:spPr/>
        <p:txBody>
          <a:bodyPr/>
          <a:lstStyle/>
          <a:p>
            <a:fld id="{6413A649-978D-4D2B-8D10-2AFC3BDC9044}" type="slidenum">
              <a:rPr lang="zh-CN" altLang="en-US" smtClean="0"/>
              <a:t>41</a:t>
            </a:fld>
            <a:endParaRPr lang="zh-CN" altLang="en-US"/>
          </a:p>
        </p:txBody>
      </p:sp>
    </p:spTree>
    <p:extLst>
      <p:ext uri="{BB962C8B-B14F-4D97-AF65-F5344CB8AC3E}">
        <p14:creationId xmlns:p14="http://schemas.microsoft.com/office/powerpoint/2010/main" val="242912712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BDC92-284D-0889-D3DE-9B50031E05C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3C02905-CBE9-4CED-C75E-09D6AB058FCB}"/>
              </a:ext>
            </a:extLst>
          </p:cNvPr>
          <p:cNvSpPr>
            <a:spLocks noGrp="1" noRot="1" noChangeAspect="1"/>
          </p:cNvSpPr>
          <p:nvPr>
            <p:ph type="sldImg"/>
          </p:nvPr>
        </p:nvSpPr>
        <p:spPr>
          <a:xfrm>
            <a:off x="2924175" y="849313"/>
            <a:ext cx="4081463" cy="2295525"/>
          </a:xfrm>
        </p:spPr>
      </p:sp>
      <p:sp>
        <p:nvSpPr>
          <p:cNvPr id="3" name="备注占位符 2">
            <a:extLst>
              <a:ext uri="{FF2B5EF4-FFF2-40B4-BE49-F238E27FC236}">
                <a16:creationId xmlns:a16="http://schemas.microsoft.com/office/drawing/2014/main" id="{BEC0D0FD-082C-20E2-4F1E-AFA0E340D70C}"/>
              </a:ext>
            </a:extLst>
          </p:cNvPr>
          <p:cNvSpPr>
            <a:spLocks noGrp="1"/>
          </p:cNvSpPr>
          <p:nvPr>
            <p:ph type="body" idx="1"/>
          </p:nvPr>
        </p:nvSpPr>
        <p:spPr/>
        <p:txBody>
          <a:bodyPr/>
          <a:lstStyle/>
          <a:p>
            <a:pPr defTabSz="914338">
              <a:defRPr/>
            </a:pP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4" name="幻灯片编号占位符 3">
            <a:extLst>
              <a:ext uri="{FF2B5EF4-FFF2-40B4-BE49-F238E27FC236}">
                <a16:creationId xmlns:a16="http://schemas.microsoft.com/office/drawing/2014/main" id="{63909A2D-E7AE-87D1-681E-F13F1FC43C69}"/>
              </a:ext>
            </a:extLst>
          </p:cNvPr>
          <p:cNvSpPr>
            <a:spLocks noGrp="1"/>
          </p:cNvSpPr>
          <p:nvPr>
            <p:ph type="sldNum" sz="quarter" idx="10"/>
          </p:nvPr>
        </p:nvSpPr>
        <p:spPr/>
        <p:txBody>
          <a:bodyPr/>
          <a:lstStyle/>
          <a:p>
            <a:fld id="{6413A649-978D-4D2B-8D10-2AFC3BDC9044}" type="slidenum">
              <a:rPr lang="zh-CN" altLang="en-US" smtClean="0"/>
              <a:t>42</a:t>
            </a:fld>
            <a:endParaRPr lang="zh-CN" altLang="en-US"/>
          </a:p>
        </p:txBody>
      </p:sp>
    </p:spTree>
    <p:extLst>
      <p:ext uri="{BB962C8B-B14F-4D97-AF65-F5344CB8AC3E}">
        <p14:creationId xmlns:p14="http://schemas.microsoft.com/office/powerpoint/2010/main" val="183172779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1BC37-B0E7-1315-9B8C-6204E2423D6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4A1D1AC-F3CE-56BE-7A4B-7B5BC3678BB1}"/>
              </a:ext>
            </a:extLst>
          </p:cNvPr>
          <p:cNvSpPr>
            <a:spLocks noGrp="1" noRot="1" noChangeAspect="1"/>
          </p:cNvSpPr>
          <p:nvPr>
            <p:ph type="sldImg"/>
          </p:nvPr>
        </p:nvSpPr>
        <p:spPr>
          <a:xfrm>
            <a:off x="2924175" y="849313"/>
            <a:ext cx="4079875" cy="2295525"/>
          </a:xfrm>
        </p:spPr>
      </p:sp>
      <p:sp>
        <p:nvSpPr>
          <p:cNvPr id="3" name="备注占位符 2">
            <a:extLst>
              <a:ext uri="{FF2B5EF4-FFF2-40B4-BE49-F238E27FC236}">
                <a16:creationId xmlns:a16="http://schemas.microsoft.com/office/drawing/2014/main" id="{7064FBCD-F386-9D57-7A55-47DBC6E6DC42}"/>
              </a:ext>
            </a:extLst>
          </p:cNvPr>
          <p:cNvSpPr>
            <a:spLocks noGrp="1"/>
          </p:cNvSpPr>
          <p:nvPr>
            <p:ph type="body" idx="1"/>
          </p:nvPr>
        </p:nvSpPr>
        <p:spPr/>
        <p:txBody>
          <a:bodyPr/>
          <a:lstStyle/>
          <a:p>
            <a:pPr defTabSz="914338">
              <a:defRPr/>
            </a:pP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4" name="幻灯片编号占位符 3">
            <a:extLst>
              <a:ext uri="{FF2B5EF4-FFF2-40B4-BE49-F238E27FC236}">
                <a16:creationId xmlns:a16="http://schemas.microsoft.com/office/drawing/2014/main" id="{3FE130D2-34C1-A140-502A-1FD90F006D79}"/>
              </a:ext>
            </a:extLst>
          </p:cNvPr>
          <p:cNvSpPr>
            <a:spLocks noGrp="1"/>
          </p:cNvSpPr>
          <p:nvPr>
            <p:ph type="sldNum" sz="quarter" idx="10"/>
          </p:nvPr>
        </p:nvSpPr>
        <p:spPr/>
        <p:txBody>
          <a:bodyPr/>
          <a:lstStyle/>
          <a:p>
            <a:fld id="{6413A649-978D-4D2B-8D10-2AFC3BDC9044}" type="slidenum">
              <a:rPr lang="zh-CN" altLang="en-US" smtClean="0"/>
              <a:t>43</a:t>
            </a:fld>
            <a:endParaRPr lang="zh-CN" altLang="en-US"/>
          </a:p>
        </p:txBody>
      </p:sp>
    </p:spTree>
    <p:extLst>
      <p:ext uri="{BB962C8B-B14F-4D97-AF65-F5344CB8AC3E}">
        <p14:creationId xmlns:p14="http://schemas.microsoft.com/office/powerpoint/2010/main" val="195510302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924175" y="849313"/>
            <a:ext cx="4079875" cy="2295525"/>
          </a:xfrm>
        </p:spPr>
      </p:sp>
      <p:sp>
        <p:nvSpPr>
          <p:cNvPr id="3" name="备注占位符 2"/>
          <p:cNvSpPr>
            <a:spLocks noGrp="1"/>
          </p:cNvSpPr>
          <p:nvPr>
            <p:ph type="body" idx="1"/>
          </p:nvPr>
        </p:nvSpPr>
        <p:spPr/>
        <p:txBody>
          <a:bodyPr/>
          <a:lstStyle/>
          <a:p>
            <a:pPr defTabSz="914338">
              <a:defRPr/>
            </a:pPr>
            <a:endParaRPr kumimoji="1" lang="zh-CN" altLang="en-US" dirty="0"/>
          </a:p>
        </p:txBody>
      </p:sp>
      <p:sp>
        <p:nvSpPr>
          <p:cNvPr id="4" name="幻灯片编号占位符 3"/>
          <p:cNvSpPr>
            <a:spLocks noGrp="1"/>
          </p:cNvSpPr>
          <p:nvPr>
            <p:ph type="sldNum" sz="quarter" idx="10"/>
          </p:nvPr>
        </p:nvSpPr>
        <p:spPr/>
        <p:txBody>
          <a:bodyPr/>
          <a:lstStyle/>
          <a:p>
            <a:fld id="{6413A649-978D-4D2B-8D10-2AFC3BDC9044}" type="slidenum">
              <a:rPr lang="zh-CN" altLang="en-US" smtClean="0"/>
              <a:t>44</a:t>
            </a:fld>
            <a:endParaRPr lang="zh-CN" altLang="en-US"/>
          </a:p>
        </p:txBody>
      </p:sp>
    </p:spTree>
    <p:extLst>
      <p:ext uri="{BB962C8B-B14F-4D97-AF65-F5344CB8AC3E}">
        <p14:creationId xmlns:p14="http://schemas.microsoft.com/office/powerpoint/2010/main" val="23517126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06224-9218-85A3-E8BC-ED133166B85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9662BEC-D4C7-5958-5A2C-1E2F94C19B2B}"/>
              </a:ext>
            </a:extLst>
          </p:cNvPr>
          <p:cNvSpPr>
            <a:spLocks noGrp="1" noRot="1" noChangeAspect="1"/>
          </p:cNvSpPr>
          <p:nvPr>
            <p:ph type="sldImg"/>
          </p:nvPr>
        </p:nvSpPr>
        <p:spPr>
          <a:xfrm>
            <a:off x="2924175" y="849313"/>
            <a:ext cx="4081463" cy="2295525"/>
          </a:xfrm>
        </p:spPr>
      </p:sp>
      <p:sp>
        <p:nvSpPr>
          <p:cNvPr id="3" name="备注占位符 2">
            <a:extLst>
              <a:ext uri="{FF2B5EF4-FFF2-40B4-BE49-F238E27FC236}">
                <a16:creationId xmlns:a16="http://schemas.microsoft.com/office/drawing/2014/main" id="{FF5CB58C-A10C-3C92-78FD-7C456F2D96CE}"/>
              </a:ext>
            </a:extLst>
          </p:cNvPr>
          <p:cNvSpPr>
            <a:spLocks noGrp="1"/>
          </p:cNvSpPr>
          <p:nvPr>
            <p:ph type="body" idx="1"/>
          </p:nvPr>
        </p:nvSpPr>
        <p:spPr/>
        <p:txBody>
          <a:bodyPr/>
          <a:lstStyle/>
          <a:p>
            <a:pPr defTabSz="914338">
              <a:defRPr/>
            </a:pP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4" name="幻灯片编号占位符 3">
            <a:extLst>
              <a:ext uri="{FF2B5EF4-FFF2-40B4-BE49-F238E27FC236}">
                <a16:creationId xmlns:a16="http://schemas.microsoft.com/office/drawing/2014/main" id="{4232B485-D4D4-E3FE-58B1-403B3E32ADCB}"/>
              </a:ext>
            </a:extLst>
          </p:cNvPr>
          <p:cNvSpPr>
            <a:spLocks noGrp="1"/>
          </p:cNvSpPr>
          <p:nvPr>
            <p:ph type="sldNum" sz="quarter" idx="10"/>
          </p:nvPr>
        </p:nvSpPr>
        <p:spPr/>
        <p:txBody>
          <a:bodyPr/>
          <a:lstStyle/>
          <a:p>
            <a:fld id="{6413A649-978D-4D2B-8D10-2AFC3BDC9044}" type="slidenum">
              <a:rPr lang="zh-CN" altLang="en-US" smtClean="0"/>
              <a:t>45</a:t>
            </a:fld>
            <a:endParaRPr lang="zh-CN" altLang="en-US"/>
          </a:p>
        </p:txBody>
      </p:sp>
    </p:spTree>
    <p:extLst>
      <p:ext uri="{BB962C8B-B14F-4D97-AF65-F5344CB8AC3E}">
        <p14:creationId xmlns:p14="http://schemas.microsoft.com/office/powerpoint/2010/main" val="427613729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DE302-20C3-86E6-CB97-1D8B33BE5C5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B4B7C5C-9F84-2D69-00F8-1CB6F544FD69}"/>
              </a:ext>
            </a:extLst>
          </p:cNvPr>
          <p:cNvSpPr>
            <a:spLocks noGrp="1" noRot="1" noChangeAspect="1"/>
          </p:cNvSpPr>
          <p:nvPr>
            <p:ph type="sldImg"/>
          </p:nvPr>
        </p:nvSpPr>
        <p:spPr>
          <a:xfrm>
            <a:off x="2924175" y="849313"/>
            <a:ext cx="4081463" cy="2295525"/>
          </a:xfrm>
        </p:spPr>
      </p:sp>
      <p:sp>
        <p:nvSpPr>
          <p:cNvPr id="3" name="备注占位符 2">
            <a:extLst>
              <a:ext uri="{FF2B5EF4-FFF2-40B4-BE49-F238E27FC236}">
                <a16:creationId xmlns:a16="http://schemas.microsoft.com/office/drawing/2014/main" id="{704C7699-1FAD-E22C-9ABE-3A7CD7DB7AC7}"/>
              </a:ext>
            </a:extLst>
          </p:cNvPr>
          <p:cNvSpPr>
            <a:spLocks noGrp="1"/>
          </p:cNvSpPr>
          <p:nvPr>
            <p:ph type="body" idx="1"/>
          </p:nvPr>
        </p:nvSpPr>
        <p:spPr/>
        <p:txBody>
          <a:bodyPr/>
          <a:lstStyle/>
          <a:p>
            <a:pPr defTabSz="914338">
              <a:defRPr/>
            </a:pP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4" name="幻灯片编号占位符 3">
            <a:extLst>
              <a:ext uri="{FF2B5EF4-FFF2-40B4-BE49-F238E27FC236}">
                <a16:creationId xmlns:a16="http://schemas.microsoft.com/office/drawing/2014/main" id="{6BEEA371-1945-BC33-443D-E5988DE4ADE1}"/>
              </a:ext>
            </a:extLst>
          </p:cNvPr>
          <p:cNvSpPr>
            <a:spLocks noGrp="1"/>
          </p:cNvSpPr>
          <p:nvPr>
            <p:ph type="sldNum" sz="quarter" idx="10"/>
          </p:nvPr>
        </p:nvSpPr>
        <p:spPr/>
        <p:txBody>
          <a:bodyPr/>
          <a:lstStyle/>
          <a:p>
            <a:fld id="{6413A649-978D-4D2B-8D10-2AFC3BDC9044}" type="slidenum">
              <a:rPr lang="zh-CN" altLang="en-US" smtClean="0"/>
              <a:t>46</a:t>
            </a:fld>
            <a:endParaRPr lang="zh-CN" altLang="en-US"/>
          </a:p>
        </p:txBody>
      </p:sp>
    </p:spTree>
    <p:extLst>
      <p:ext uri="{BB962C8B-B14F-4D97-AF65-F5344CB8AC3E}">
        <p14:creationId xmlns:p14="http://schemas.microsoft.com/office/powerpoint/2010/main" val="12399992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7C790178-06BD-4B03-BD4E-B3BFE1CB707A}" type="datetimeFigureOut">
              <a:rPr lang="zh-CN" altLang="en-US" smtClean="0"/>
              <a:t>2026/6/27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5EB4053-B607-412E-A370-690EE89EF577}" type="slidenum">
              <a:rPr lang="zh-CN" altLang="en-US" smtClean="0"/>
              <a:t>‹#›</a:t>
            </a:fld>
            <a:endParaRPr lang="zh-CN" altLang="en-US"/>
          </a:p>
        </p:txBody>
      </p:sp>
    </p:spTree>
    <p:extLst>
      <p:ext uri="{BB962C8B-B14F-4D97-AF65-F5344CB8AC3E}">
        <p14:creationId xmlns:p14="http://schemas.microsoft.com/office/powerpoint/2010/main" val="26483507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7C790178-06BD-4B03-BD4E-B3BFE1CB707A}" type="datetimeFigureOut">
              <a:rPr lang="zh-CN" altLang="en-US" smtClean="0"/>
              <a:t>2026/6/27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5EB4053-B607-412E-A370-690EE89EF577}" type="slidenum">
              <a:rPr lang="zh-CN" altLang="en-US" smtClean="0"/>
              <a:t>‹#›</a:t>
            </a:fld>
            <a:endParaRPr lang="zh-CN" altLang="en-US"/>
          </a:p>
        </p:txBody>
      </p:sp>
    </p:spTree>
    <p:extLst>
      <p:ext uri="{BB962C8B-B14F-4D97-AF65-F5344CB8AC3E}">
        <p14:creationId xmlns:p14="http://schemas.microsoft.com/office/powerpoint/2010/main" val="22402484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7C790178-06BD-4B03-BD4E-B3BFE1CB707A}" type="datetimeFigureOut">
              <a:rPr lang="zh-CN" altLang="en-US" smtClean="0"/>
              <a:t>2026/6/27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5EB4053-B607-412E-A370-690EE89EF577}" type="slidenum">
              <a:rPr lang="zh-CN" altLang="en-US" smtClean="0"/>
              <a:t>‹#›</a:t>
            </a:fld>
            <a:endParaRPr lang="zh-CN" altLang="en-US"/>
          </a:p>
        </p:txBody>
      </p:sp>
    </p:spTree>
    <p:extLst>
      <p:ext uri="{BB962C8B-B14F-4D97-AF65-F5344CB8AC3E}">
        <p14:creationId xmlns:p14="http://schemas.microsoft.com/office/powerpoint/2010/main" val="4201161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7C790178-06BD-4B03-BD4E-B3BFE1CB707A}" type="datetimeFigureOut">
              <a:rPr lang="zh-CN" altLang="en-US" smtClean="0"/>
              <a:t>2026/6/27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F5EB4053-B607-412E-A370-690EE89EF577}" type="slidenum">
              <a:rPr lang="zh-CN" altLang="en-US" smtClean="0"/>
              <a:t>‹#›</a:t>
            </a:fld>
            <a:endParaRPr lang="zh-CN" altLang="en-US"/>
          </a:p>
        </p:txBody>
      </p:sp>
    </p:spTree>
    <p:extLst>
      <p:ext uri="{BB962C8B-B14F-4D97-AF65-F5344CB8AC3E}">
        <p14:creationId xmlns:p14="http://schemas.microsoft.com/office/powerpoint/2010/main" val="20989755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7C790178-06BD-4B03-BD4E-B3BFE1CB707A}" type="datetimeFigureOut">
              <a:rPr lang="zh-CN" altLang="en-US" smtClean="0"/>
              <a:t>2026/6/27</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F5EB4053-B607-412E-A370-690EE89EF577}" type="slidenum">
              <a:rPr lang="zh-CN" altLang="en-US" smtClean="0"/>
              <a:t>‹#›</a:t>
            </a:fld>
            <a:endParaRPr lang="zh-CN" altLang="en-US"/>
          </a:p>
        </p:txBody>
      </p:sp>
    </p:spTree>
    <p:extLst>
      <p:ext uri="{BB962C8B-B14F-4D97-AF65-F5344CB8AC3E}">
        <p14:creationId xmlns:p14="http://schemas.microsoft.com/office/powerpoint/2010/main" val="16936475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7C790178-06BD-4B03-BD4E-B3BFE1CB707A}" type="datetimeFigureOut">
              <a:rPr lang="zh-CN" altLang="en-US" smtClean="0"/>
              <a:t>2026/6/27</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F5EB4053-B607-412E-A370-690EE89EF577}" type="slidenum">
              <a:rPr lang="zh-CN" altLang="en-US" smtClean="0"/>
              <a:t>‹#›</a:t>
            </a:fld>
            <a:endParaRPr lang="zh-CN" altLang="en-US"/>
          </a:p>
        </p:txBody>
      </p:sp>
    </p:spTree>
    <p:extLst>
      <p:ext uri="{BB962C8B-B14F-4D97-AF65-F5344CB8AC3E}">
        <p14:creationId xmlns:p14="http://schemas.microsoft.com/office/powerpoint/2010/main" val="12214308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790178-06BD-4B03-BD4E-B3BFE1CB707A}" type="datetimeFigureOut">
              <a:rPr lang="zh-CN" altLang="en-US" smtClean="0"/>
              <a:t>2026/6/27</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F5EB4053-B607-412E-A370-690EE89EF577}" type="slidenum">
              <a:rPr lang="zh-CN" altLang="en-US" smtClean="0"/>
              <a:t>‹#›</a:t>
            </a:fld>
            <a:endParaRPr lang="zh-CN" altLang="en-US"/>
          </a:p>
        </p:txBody>
      </p:sp>
    </p:spTree>
    <p:extLst>
      <p:ext uri="{BB962C8B-B14F-4D97-AF65-F5344CB8AC3E}">
        <p14:creationId xmlns:p14="http://schemas.microsoft.com/office/powerpoint/2010/main" val="19462995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7C790178-06BD-4B03-BD4E-B3BFE1CB707A}" type="datetimeFigureOut">
              <a:rPr lang="zh-CN" altLang="en-US" smtClean="0"/>
              <a:t>2026/6/27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F5EB4053-B607-412E-A370-690EE89EF577}" type="slidenum">
              <a:rPr lang="zh-CN" altLang="en-US" smtClean="0"/>
              <a:t>‹#›</a:t>
            </a:fld>
            <a:endParaRPr lang="zh-CN" altLang="en-US"/>
          </a:p>
        </p:txBody>
      </p:sp>
    </p:spTree>
    <p:extLst>
      <p:ext uri="{BB962C8B-B14F-4D97-AF65-F5344CB8AC3E}">
        <p14:creationId xmlns:p14="http://schemas.microsoft.com/office/powerpoint/2010/main" val="31440277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7C790178-06BD-4B03-BD4E-B3BFE1CB707A}" type="datetimeFigureOut">
              <a:rPr lang="zh-CN" altLang="en-US" smtClean="0"/>
              <a:t>2026/6/27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F5EB4053-B607-412E-A370-690EE89EF577}" type="slidenum">
              <a:rPr lang="zh-CN" altLang="en-US" smtClean="0"/>
              <a:t>‹#›</a:t>
            </a:fld>
            <a:endParaRPr lang="zh-CN" altLang="en-US"/>
          </a:p>
        </p:txBody>
      </p:sp>
    </p:spTree>
    <p:extLst>
      <p:ext uri="{BB962C8B-B14F-4D97-AF65-F5344CB8AC3E}">
        <p14:creationId xmlns:p14="http://schemas.microsoft.com/office/powerpoint/2010/main" val="27523247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7C790178-06BD-4B03-BD4E-B3BFE1CB707A}" type="datetimeFigureOut">
              <a:rPr lang="zh-CN" altLang="en-US" smtClean="0"/>
              <a:t>2026/6/27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5EB4053-B607-412E-A370-690EE89EF577}" type="slidenum">
              <a:rPr lang="zh-CN" altLang="en-US" smtClean="0"/>
              <a:t>‹#›</a:t>
            </a:fld>
            <a:endParaRPr lang="zh-CN" altLang="en-US"/>
          </a:p>
        </p:txBody>
      </p:sp>
    </p:spTree>
    <p:extLst>
      <p:ext uri="{BB962C8B-B14F-4D97-AF65-F5344CB8AC3E}">
        <p14:creationId xmlns:p14="http://schemas.microsoft.com/office/powerpoint/2010/main" val="21005541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7C790178-06BD-4B03-BD4E-B3BFE1CB707A}" type="datetimeFigureOut">
              <a:rPr lang="zh-CN" altLang="en-US" smtClean="0"/>
              <a:t>2026/6/27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5EB4053-B607-412E-A370-690EE89EF577}" type="slidenum">
              <a:rPr lang="zh-CN" altLang="en-US" smtClean="0"/>
              <a:t>‹#›</a:t>
            </a:fld>
            <a:endParaRPr lang="zh-CN" altLang="en-US"/>
          </a:p>
        </p:txBody>
      </p:sp>
    </p:spTree>
    <p:extLst>
      <p:ext uri="{BB962C8B-B14F-4D97-AF65-F5344CB8AC3E}">
        <p14:creationId xmlns:p14="http://schemas.microsoft.com/office/powerpoint/2010/main" val="21692096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02E0DA1C-5567-4E89-816D-B719DD705EB5}"/>
              </a:ext>
            </a:extLst>
          </p:cNvPr>
          <p:cNvGrpSpPr/>
          <p:nvPr userDrawn="1"/>
        </p:nvGrpSpPr>
        <p:grpSpPr>
          <a:xfrm>
            <a:off x="0" y="6676650"/>
            <a:ext cx="12192000" cy="181350"/>
            <a:chOff x="0" y="6676650"/>
            <a:chExt cx="9144000" cy="181350"/>
          </a:xfrm>
        </p:grpSpPr>
        <p:sp>
          <p:nvSpPr>
            <p:cNvPr id="9" name="任意多边形: 形状 8">
              <a:extLst>
                <a:ext uri="{FF2B5EF4-FFF2-40B4-BE49-F238E27FC236}">
                  <a16:creationId xmlns:a16="http://schemas.microsoft.com/office/drawing/2014/main" id="{19CB478E-AD33-459C-ACE6-6F6533167D03}"/>
                </a:ext>
              </a:extLst>
            </p:cNvPr>
            <p:cNvSpPr/>
            <p:nvPr/>
          </p:nvSpPr>
          <p:spPr>
            <a:xfrm flipH="1">
              <a:off x="6226849" y="6676650"/>
              <a:ext cx="2917151" cy="181350"/>
            </a:xfrm>
            <a:custGeom>
              <a:avLst/>
              <a:gdLst>
                <a:gd name="connsiteX0" fmla="*/ 2917151 w 2917151"/>
                <a:gd name="connsiteY0" fmla="*/ 0 h 181350"/>
                <a:gd name="connsiteX1" fmla="*/ 0 w 2917151"/>
                <a:gd name="connsiteY1" fmla="*/ 0 h 181350"/>
                <a:gd name="connsiteX2" fmla="*/ 0 w 2917151"/>
                <a:gd name="connsiteY2" fmla="*/ 181350 h 181350"/>
                <a:gd name="connsiteX3" fmla="*/ 2784049 w 2917151"/>
                <a:gd name="connsiteY3" fmla="*/ 181350 h 181350"/>
              </a:gdLst>
              <a:ahLst/>
              <a:cxnLst>
                <a:cxn ang="0">
                  <a:pos x="connsiteX0" y="connsiteY0"/>
                </a:cxn>
                <a:cxn ang="0">
                  <a:pos x="connsiteX1" y="connsiteY1"/>
                </a:cxn>
                <a:cxn ang="0">
                  <a:pos x="connsiteX2" y="connsiteY2"/>
                </a:cxn>
                <a:cxn ang="0">
                  <a:pos x="connsiteX3" y="connsiteY3"/>
                </a:cxn>
              </a:cxnLst>
              <a:rect l="l" t="t" r="r" b="b"/>
              <a:pathLst>
                <a:path w="2917151" h="181350">
                  <a:moveTo>
                    <a:pt x="2917151" y="0"/>
                  </a:moveTo>
                  <a:lnTo>
                    <a:pt x="0" y="0"/>
                  </a:lnTo>
                  <a:lnTo>
                    <a:pt x="0" y="181350"/>
                  </a:lnTo>
                  <a:lnTo>
                    <a:pt x="2784049" y="181350"/>
                  </a:lnTo>
                  <a:close/>
                </a:path>
              </a:pathLst>
            </a:custGeom>
            <a:solidFill>
              <a:srgbClr val="E2183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800"/>
            </a:p>
          </p:txBody>
        </p:sp>
        <p:sp>
          <p:nvSpPr>
            <p:cNvPr id="10" name="任意多边形 26">
              <a:extLst>
                <a:ext uri="{FF2B5EF4-FFF2-40B4-BE49-F238E27FC236}">
                  <a16:creationId xmlns:a16="http://schemas.microsoft.com/office/drawing/2014/main" id="{E42F427A-A1FF-45E3-A8F4-8F1DC061D67B}"/>
                </a:ext>
              </a:extLst>
            </p:cNvPr>
            <p:cNvSpPr/>
            <p:nvPr/>
          </p:nvSpPr>
          <p:spPr>
            <a:xfrm flipH="1">
              <a:off x="5350095" y="6676650"/>
              <a:ext cx="1014484" cy="181350"/>
            </a:xfrm>
            <a:custGeom>
              <a:avLst/>
              <a:gdLst>
                <a:gd name="connsiteX0" fmla="*/ 923580 w 923580"/>
                <a:gd name="connsiteY0" fmla="*/ 0 h 165100"/>
                <a:gd name="connsiteX1" fmla="*/ 121175 w 923580"/>
                <a:gd name="connsiteY1" fmla="*/ 0 h 165100"/>
                <a:gd name="connsiteX2" fmla="*/ 0 w 923580"/>
                <a:gd name="connsiteY2" fmla="*/ 165100 h 165100"/>
                <a:gd name="connsiteX3" fmla="*/ 802405 w 923580"/>
                <a:gd name="connsiteY3" fmla="*/ 165100 h 165100"/>
              </a:gdLst>
              <a:ahLst/>
              <a:cxnLst>
                <a:cxn ang="0">
                  <a:pos x="connsiteX0" y="connsiteY0"/>
                </a:cxn>
                <a:cxn ang="0">
                  <a:pos x="connsiteX1" y="connsiteY1"/>
                </a:cxn>
                <a:cxn ang="0">
                  <a:pos x="connsiteX2" y="connsiteY2"/>
                </a:cxn>
                <a:cxn ang="0">
                  <a:pos x="connsiteX3" y="connsiteY3"/>
                </a:cxn>
              </a:cxnLst>
              <a:rect l="l" t="t" r="r" b="b"/>
              <a:pathLst>
                <a:path w="923580" h="165100">
                  <a:moveTo>
                    <a:pt x="923580" y="0"/>
                  </a:moveTo>
                  <a:lnTo>
                    <a:pt x="121175" y="0"/>
                  </a:lnTo>
                  <a:lnTo>
                    <a:pt x="0" y="165100"/>
                  </a:lnTo>
                  <a:lnTo>
                    <a:pt x="802405" y="165100"/>
                  </a:lnTo>
                  <a:close/>
                </a:path>
              </a:pathLst>
            </a:custGeom>
            <a:solidFill>
              <a:srgbClr val="BD1C3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800"/>
            </a:p>
          </p:txBody>
        </p:sp>
        <p:sp>
          <p:nvSpPr>
            <p:cNvPr id="11" name="任意多边形 28">
              <a:extLst>
                <a:ext uri="{FF2B5EF4-FFF2-40B4-BE49-F238E27FC236}">
                  <a16:creationId xmlns:a16="http://schemas.microsoft.com/office/drawing/2014/main" id="{58BBC034-BE5D-4418-A9A0-B43CC2A6BD32}"/>
                </a:ext>
              </a:extLst>
            </p:cNvPr>
            <p:cNvSpPr/>
            <p:nvPr/>
          </p:nvSpPr>
          <p:spPr>
            <a:xfrm flipH="1">
              <a:off x="0" y="6676650"/>
              <a:ext cx="5487798" cy="181350"/>
            </a:xfrm>
            <a:custGeom>
              <a:avLst/>
              <a:gdLst>
                <a:gd name="connsiteX0" fmla="*/ 4996060 w 4996060"/>
                <a:gd name="connsiteY0" fmla="*/ 0 h 165100"/>
                <a:gd name="connsiteX1" fmla="*/ 923580 w 4996060"/>
                <a:gd name="connsiteY1" fmla="*/ 0 h 165100"/>
                <a:gd name="connsiteX2" fmla="*/ 349005 w 4996060"/>
                <a:gd name="connsiteY2" fmla="*/ 0 h 165100"/>
                <a:gd name="connsiteX3" fmla="*/ 121175 w 4996060"/>
                <a:gd name="connsiteY3" fmla="*/ 0 h 165100"/>
                <a:gd name="connsiteX4" fmla="*/ 0 w 4996060"/>
                <a:gd name="connsiteY4" fmla="*/ 165100 h 165100"/>
                <a:gd name="connsiteX5" fmla="*/ 4996060 w 4996060"/>
                <a:gd name="connsiteY5" fmla="*/ 165100 h 165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6060" h="165100">
                  <a:moveTo>
                    <a:pt x="4996060" y="0"/>
                  </a:moveTo>
                  <a:lnTo>
                    <a:pt x="923580" y="0"/>
                  </a:lnTo>
                  <a:lnTo>
                    <a:pt x="349005" y="0"/>
                  </a:lnTo>
                  <a:lnTo>
                    <a:pt x="121175" y="0"/>
                  </a:lnTo>
                  <a:lnTo>
                    <a:pt x="0" y="165100"/>
                  </a:lnTo>
                  <a:lnTo>
                    <a:pt x="4996060" y="165100"/>
                  </a:lnTo>
                  <a:close/>
                </a:path>
              </a:pathLst>
            </a:custGeom>
            <a:solidFill>
              <a:srgbClr val="80162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800" dirty="0"/>
            </a:p>
          </p:txBody>
        </p:sp>
      </p:grpSp>
      <p:sp>
        <p:nvSpPr>
          <p:cNvPr id="6" name="Slide Number Placeholder 5">
            <a:extLst>
              <a:ext uri="{FF2B5EF4-FFF2-40B4-BE49-F238E27FC236}">
                <a16:creationId xmlns:a16="http://schemas.microsoft.com/office/drawing/2014/main" id="{46BD11B5-D50E-41E6-A4C1-8BD16F40B0B2}"/>
              </a:ext>
            </a:extLst>
          </p:cNvPr>
          <p:cNvSpPr txBox="1">
            <a:spLocks/>
          </p:cNvSpPr>
          <p:nvPr userDrawn="1"/>
        </p:nvSpPr>
        <p:spPr>
          <a:xfrm>
            <a:off x="9344781" y="6584763"/>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CC5E4104-ED77-4A45-B872-2B72BBEF451C}" type="slidenum">
              <a:rPr lang="zh-CN" altLang="en-US" sz="1800" smtClean="0">
                <a:solidFill>
                  <a:schemeClr val="bg1"/>
                </a:solidFill>
              </a:rPr>
              <a:pPr algn="r"/>
              <a:t>‹#›</a:t>
            </a:fld>
            <a:endParaRPr lang="zh-CN" altLang="en-US" sz="1800" dirty="0">
              <a:solidFill>
                <a:schemeClr val="bg1"/>
              </a:solidFill>
            </a:endParaRPr>
          </a:p>
        </p:txBody>
      </p:sp>
    </p:spTree>
    <p:extLst>
      <p:ext uri="{BB962C8B-B14F-4D97-AF65-F5344CB8AC3E}">
        <p14:creationId xmlns:p14="http://schemas.microsoft.com/office/powerpoint/2010/main" val="30857412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790178-06BD-4B03-BD4E-B3BFE1CB707A}" type="datetimeFigureOut">
              <a:rPr lang="zh-CN" altLang="en-US" smtClean="0"/>
              <a:t>2026/6/27</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EB4053-B607-412E-A370-690EE89EF577}" type="slidenum">
              <a:rPr lang="zh-CN" altLang="en-US" smtClean="0"/>
              <a:t>‹#›</a:t>
            </a:fld>
            <a:endParaRPr lang="zh-CN" altLang="en-US"/>
          </a:p>
        </p:txBody>
      </p:sp>
    </p:spTree>
    <p:extLst>
      <p:ext uri="{BB962C8B-B14F-4D97-AF65-F5344CB8AC3E}">
        <p14:creationId xmlns:p14="http://schemas.microsoft.com/office/powerpoint/2010/main" val="3900934987"/>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11.jpg"/><Relationship Id="rId5" Type="http://schemas.openxmlformats.org/officeDocument/2006/relationships/image" Target="../media/image10.jpg"/><Relationship Id="rId4" Type="http://schemas.openxmlformats.org/officeDocument/2006/relationships/image" Target="../media/image9.jpg"/></Relationships>
</file>

<file path=ppt/slides/_rels/slide10.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3.jp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19.jp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24.jp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36.jpg"/></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39.jpg"/></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41.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3.xml"/><Relationship Id="rId1" Type="http://schemas.openxmlformats.org/officeDocument/2006/relationships/slideLayout" Target="../slideLayouts/slideLayout12.xml"/><Relationship Id="rId4" Type="http://schemas.openxmlformats.org/officeDocument/2006/relationships/image" Target="../media/image47.png"/></Relationships>
</file>

<file path=ppt/slides/_rels/slide3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4.xml"/><Relationship Id="rId1" Type="http://schemas.openxmlformats.org/officeDocument/2006/relationships/slideLayout" Target="../slideLayouts/slideLayout12.xml"/><Relationship Id="rId4" Type="http://schemas.openxmlformats.org/officeDocument/2006/relationships/image" Target="../media/image49.png"/></Relationships>
</file>

<file path=ppt/slides/_rels/slide3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1.png"/><Relationship Id="rId7" Type="http://schemas.openxmlformats.org/officeDocument/2006/relationships/image" Target="../media/image9.png"/><Relationship Id="rId2" Type="http://schemas.openxmlformats.org/officeDocument/2006/relationships/notesSlide" Target="../notesSlides/notesSlide36.xml"/><Relationship Id="rId1" Type="http://schemas.openxmlformats.org/officeDocument/2006/relationships/slideLayout" Target="../slideLayouts/slideLayout12.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 Id="rId9" Type="http://schemas.openxmlformats.org/officeDocument/2006/relationships/image" Target="../media/image55.png"/></Relationships>
</file>

<file path=ppt/slides/_rels/slide3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3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8.xml"/><Relationship Id="rId1" Type="http://schemas.openxmlformats.org/officeDocument/2006/relationships/slideLayout" Target="../slideLayouts/slideLayout12.xml"/><Relationship Id="rId4" Type="http://schemas.openxmlformats.org/officeDocument/2006/relationships/image" Target="../media/image61.png"/></Relationships>
</file>

<file path=ppt/slides/_rels/slide3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0.xml"/><Relationship Id="rId1" Type="http://schemas.openxmlformats.org/officeDocument/2006/relationships/slideLayout" Target="../slideLayouts/slideLayout12.xml"/><Relationship Id="rId4" Type="http://schemas.openxmlformats.org/officeDocument/2006/relationships/image" Target="../media/image64.png"/></Relationships>
</file>

<file path=ppt/slides/_rels/slide41.xml.rels><?xml version="1.0" encoding="UTF-8" standalone="yes"?>
<Relationships xmlns="http://schemas.openxmlformats.org/package/2006/relationships"><Relationship Id="rId3" Type="http://schemas.openxmlformats.org/officeDocument/2006/relationships/image" Target="../media/image65.jpg"/><Relationship Id="rId2" Type="http://schemas.openxmlformats.org/officeDocument/2006/relationships/notesSlide" Target="../notesSlides/notesSlide41.xml"/><Relationship Id="rId1" Type="http://schemas.openxmlformats.org/officeDocument/2006/relationships/slideLayout" Target="../slideLayouts/slideLayout12.xml"/><Relationship Id="rId4" Type="http://schemas.openxmlformats.org/officeDocument/2006/relationships/image" Target="../media/image66.jpg"/></Relationships>
</file>

<file path=ppt/slides/_rels/slide4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hyperlink" Target="https://doi.org/10.1609/aaai.v38i9.28868" TargetMode="External"/><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5">
            <a:extLst>
              <a:ext uri="{FF2B5EF4-FFF2-40B4-BE49-F238E27FC236}">
                <a16:creationId xmlns:a16="http://schemas.microsoft.com/office/drawing/2014/main" id="{418FDDE8-C6CA-46D4-967A-6CA46E05B2F3}"/>
              </a:ext>
            </a:extLst>
          </p:cNvPr>
          <p:cNvSpPr txBox="1">
            <a:spLocks noChangeArrowheads="1"/>
          </p:cNvSpPr>
          <p:nvPr/>
        </p:nvSpPr>
        <p:spPr bwMode="auto">
          <a:xfrm>
            <a:off x="4396366" y="3429000"/>
            <a:ext cx="3159839" cy="168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lgn="ctr">
              <a:lnSpc>
                <a:spcPct val="150000"/>
              </a:lnSpc>
            </a:pPr>
            <a:r>
              <a:rPr kumimoji="0" lang="zh-CN" altLang="en-US" sz="4000" b="1" dirty="0">
                <a:latin typeface="华文楷体" panose="02010600040101010101" pitchFamily="2" charset="-122"/>
                <a:ea typeface="华文楷体" panose="02010600040101010101" pitchFamily="2" charset="-122"/>
              </a:rPr>
              <a:t>弭元元</a:t>
            </a:r>
            <a:endParaRPr kumimoji="0" lang="en-US" altLang="zh-CN" sz="4000" b="1" dirty="0">
              <a:latin typeface="华文楷体" panose="02010600040101010101" pitchFamily="2" charset="-122"/>
              <a:ea typeface="华文楷体" panose="02010600040101010101" pitchFamily="2" charset="-122"/>
            </a:endParaRPr>
          </a:p>
          <a:p>
            <a:pPr algn="ctr">
              <a:lnSpc>
                <a:spcPct val="150000"/>
              </a:lnSpc>
            </a:pPr>
            <a:r>
              <a:rPr kumimoji="0" lang="zh-CN" altLang="en-US" sz="3200" b="1" dirty="0">
                <a:latin typeface="华文楷体" panose="02010600040101010101" pitchFamily="2" charset="-122"/>
                <a:ea typeface="华文楷体" panose="02010600040101010101" pitchFamily="2" charset="-122"/>
              </a:rPr>
              <a:t>清华大学 心理系</a:t>
            </a:r>
          </a:p>
        </p:txBody>
      </p:sp>
      <p:sp>
        <p:nvSpPr>
          <p:cNvPr id="2" name="文本框 1">
            <a:extLst>
              <a:ext uri="{FF2B5EF4-FFF2-40B4-BE49-F238E27FC236}">
                <a16:creationId xmlns:a16="http://schemas.microsoft.com/office/drawing/2014/main" id="{2FC7D710-A5BD-09F3-A77C-6BA803AFB950}"/>
              </a:ext>
            </a:extLst>
          </p:cNvPr>
          <p:cNvSpPr txBox="1"/>
          <p:nvPr/>
        </p:nvSpPr>
        <p:spPr>
          <a:xfrm>
            <a:off x="0" y="1842886"/>
            <a:ext cx="12132527" cy="1026756"/>
          </a:xfrm>
          <a:prstGeom prst="rect">
            <a:avLst/>
          </a:prstGeom>
          <a:noFill/>
        </p:spPr>
        <p:txBody>
          <a:bodyPr wrap="square" rtlCol="0">
            <a:spAutoFit/>
          </a:bodyPr>
          <a:lstStyle/>
          <a:p>
            <a:pPr algn="ctr">
              <a:lnSpc>
                <a:spcPct val="150000"/>
              </a:lnSpc>
            </a:pPr>
            <a:r>
              <a:rPr lang="en-US" altLang="zh-CN" sz="4800" b="1" kern="0" dirty="0">
                <a:latin typeface="华文楷体" panose="02010600040101010101" pitchFamily="2" charset="-122"/>
                <a:ea typeface="华文楷体" panose="02010600040101010101" pitchFamily="2" charset="-122"/>
              </a:rPr>
              <a:t>Working</a:t>
            </a:r>
            <a:r>
              <a:rPr lang="zh-CN" altLang="en-US" sz="4800" b="1" kern="0" dirty="0">
                <a:latin typeface="华文楷体" panose="02010600040101010101" pitchFamily="2" charset="-122"/>
                <a:ea typeface="华文楷体" panose="02010600040101010101" pitchFamily="2" charset="-122"/>
              </a:rPr>
              <a:t> </a:t>
            </a:r>
            <a:r>
              <a:rPr lang="en-US" altLang="zh-CN" sz="4800" b="1" kern="0" dirty="0">
                <a:latin typeface="华文楷体" panose="02010600040101010101" pitchFamily="2" charset="-122"/>
                <a:ea typeface="华文楷体" panose="02010600040101010101" pitchFamily="2" charset="-122"/>
              </a:rPr>
              <a:t>Memory in LLM </a:t>
            </a:r>
            <a:endParaRPr lang="zh-CN" altLang="en-US" sz="4800" b="1" kern="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42570594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69DD4-E40D-3DA8-F66B-6DA55E244027}"/>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E1F9AD89-9B27-8198-4B8D-3ABAD389F24F}"/>
              </a:ext>
            </a:extLst>
          </p:cNvPr>
          <p:cNvSpPr txBox="1"/>
          <p:nvPr/>
        </p:nvSpPr>
        <p:spPr>
          <a:xfrm>
            <a:off x="1270739" y="1001638"/>
            <a:ext cx="9650522" cy="4117153"/>
          </a:xfrm>
          <a:prstGeom prst="rect">
            <a:avLst/>
          </a:prstGeom>
          <a:noFill/>
        </p:spPr>
        <p:txBody>
          <a:bodyPr wrap="square" rtlCol="0">
            <a:spAutoFit/>
          </a:bodyPr>
          <a:lstStyle/>
          <a:p>
            <a:pPr marL="571500" indent="-571500">
              <a:lnSpc>
                <a:spcPct val="150000"/>
              </a:lnSpc>
              <a:buFont typeface="Arial" panose="020B0604020202020204" pitchFamily="34" charset="0"/>
              <a:buChar char="•"/>
            </a:pPr>
            <a:r>
              <a:rPr lang="en-US" altLang="zh-CN" sz="3600" b="1" kern="0" dirty="0">
                <a:latin typeface="华文楷体" panose="02010600040101010101" pitchFamily="2" charset="-122"/>
                <a:ea typeface="华文楷体" panose="02010600040101010101" pitchFamily="2" charset="-122"/>
              </a:rPr>
              <a:t>An Example: N-back Task Phenomena and Mechanism</a:t>
            </a:r>
          </a:p>
          <a:p>
            <a:pPr marL="571500" indent="-571500">
              <a:lnSpc>
                <a:spcPct val="150000"/>
              </a:lnSpc>
              <a:buFont typeface="Arial" panose="020B0604020202020204" pitchFamily="34" charset="0"/>
              <a:buChar char="•"/>
            </a:pPr>
            <a:r>
              <a:rPr lang="en-US" altLang="zh-CN" sz="3600" b="1" kern="0" dirty="0">
                <a:latin typeface="华文楷体" panose="02010600040101010101" pitchFamily="2" charset="-122"/>
                <a:ea typeface="华文楷体" panose="02010600040101010101" pitchFamily="2" charset="-122"/>
              </a:rPr>
              <a:t>Proactive Inference: Research in Psychology and LLM</a:t>
            </a:r>
          </a:p>
          <a:p>
            <a:pPr marL="571500" indent="-571500">
              <a:lnSpc>
                <a:spcPct val="150000"/>
              </a:lnSpc>
              <a:buFont typeface="Arial" panose="020B0604020202020204" pitchFamily="34" charset="0"/>
              <a:buChar char="•"/>
            </a:pPr>
            <a:r>
              <a:rPr lang="en-US" altLang="zh-CN" sz="3600" b="1" kern="0" dirty="0">
                <a:latin typeface="华文楷体" panose="02010600040101010101" pitchFamily="2" charset="-122"/>
                <a:ea typeface="华文楷体" panose="02010600040101010101" pitchFamily="2" charset="-122"/>
              </a:rPr>
              <a:t>Serial Dependence: Proceed from Psychology</a:t>
            </a:r>
            <a:endParaRPr lang="zh-CN" altLang="en-US" sz="3600" b="1" kern="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6080904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DB0A0-83A4-42C1-529C-6B6ADC7233A9}"/>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7EC8CB12-AC76-1699-7EB6-7EDAD73585B3}"/>
              </a:ext>
            </a:extLst>
          </p:cNvPr>
          <p:cNvSpPr txBox="1"/>
          <p:nvPr/>
        </p:nvSpPr>
        <p:spPr>
          <a:xfrm>
            <a:off x="1871472" y="2109215"/>
            <a:ext cx="8449056" cy="1794337"/>
          </a:xfrm>
          <a:prstGeom prst="rect">
            <a:avLst/>
          </a:prstGeom>
          <a:noFill/>
        </p:spPr>
        <p:txBody>
          <a:bodyPr wrap="square">
            <a:spAutoFit/>
          </a:bodyPr>
          <a:lstStyle/>
          <a:p>
            <a:pPr algn="ctr">
              <a:lnSpc>
                <a:spcPct val="150000"/>
              </a:lnSpc>
            </a:pPr>
            <a:r>
              <a:rPr kumimoji="1" lang="en-US" altLang="zh-CN" sz="4000" b="1" dirty="0">
                <a:solidFill>
                  <a:srgbClr val="C00000"/>
                </a:solidFill>
                <a:latin typeface="华文楷体" panose="02010600040101010101" pitchFamily="2" charset="-122"/>
                <a:ea typeface="华文楷体" panose="02010600040101010101" pitchFamily="2" charset="-122"/>
              </a:rPr>
              <a:t>An Example: N-back Task Phenomena and Mechanism</a:t>
            </a:r>
          </a:p>
        </p:txBody>
      </p:sp>
    </p:spTree>
    <p:extLst>
      <p:ext uri="{BB962C8B-B14F-4D97-AF65-F5344CB8AC3E}">
        <p14:creationId xmlns:p14="http://schemas.microsoft.com/office/powerpoint/2010/main" val="26764076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5FD4B-A7F7-7CC3-A941-225873683F98}"/>
            </a:ext>
          </a:extLst>
        </p:cNvPr>
        <p:cNvGrpSpPr/>
        <p:nvPr/>
      </p:nvGrpSpPr>
      <p:grpSpPr>
        <a:xfrm>
          <a:off x="0" y="0"/>
          <a:ext cx="0" cy="0"/>
          <a:chOff x="0" y="0"/>
          <a:chExt cx="0" cy="0"/>
        </a:xfrm>
      </p:grpSpPr>
      <p:grpSp>
        <p:nvGrpSpPr>
          <p:cNvPr id="10" name="组合 9">
            <a:extLst>
              <a:ext uri="{FF2B5EF4-FFF2-40B4-BE49-F238E27FC236}">
                <a16:creationId xmlns:a16="http://schemas.microsoft.com/office/drawing/2014/main" id="{0645EDCC-7D90-B30E-E1D5-27565D6478D9}"/>
              </a:ext>
            </a:extLst>
          </p:cNvPr>
          <p:cNvGrpSpPr/>
          <p:nvPr/>
        </p:nvGrpSpPr>
        <p:grpSpPr>
          <a:xfrm>
            <a:off x="49794" y="96338"/>
            <a:ext cx="12142206" cy="727165"/>
            <a:chOff x="-6488" y="56364"/>
            <a:chExt cx="8832187" cy="596761"/>
          </a:xfrm>
        </p:grpSpPr>
        <p:sp>
          <p:nvSpPr>
            <p:cNvPr id="11" name="矩形 10">
              <a:extLst>
                <a:ext uri="{FF2B5EF4-FFF2-40B4-BE49-F238E27FC236}">
                  <a16:creationId xmlns:a16="http://schemas.microsoft.com/office/drawing/2014/main" id="{965E97FC-266F-7BC9-8F2C-4FCD2FF40CB3}"/>
                </a:ext>
              </a:extLst>
            </p:cNvPr>
            <p:cNvSpPr/>
            <p:nvPr/>
          </p:nvSpPr>
          <p:spPr>
            <a:xfrm>
              <a:off x="651757" y="56364"/>
              <a:ext cx="2129381" cy="5809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r>
                <a:rPr kumimoji="1" lang="en-US" altLang="zh-CN" sz="4000" b="1" dirty="0">
                  <a:solidFill>
                    <a:srgbClr val="C00000"/>
                  </a:solidFill>
                  <a:latin typeface="华文楷体" panose="02010600040101010101" pitchFamily="2" charset="-122"/>
                  <a:ea typeface="华文楷体" panose="02010600040101010101" pitchFamily="2" charset="-122"/>
                </a:rPr>
                <a:t>N-back Task</a:t>
              </a:r>
            </a:p>
          </p:txBody>
        </p:sp>
        <p:cxnSp>
          <p:nvCxnSpPr>
            <p:cNvPr id="13" name="直接连接符 12">
              <a:extLst>
                <a:ext uri="{FF2B5EF4-FFF2-40B4-BE49-F238E27FC236}">
                  <a16:creationId xmlns:a16="http://schemas.microsoft.com/office/drawing/2014/main" id="{3747B15E-12A6-78FA-65DB-CD3C2347F48A}"/>
                </a:ext>
              </a:extLst>
            </p:cNvPr>
            <p:cNvCxnSpPr>
              <a:cxnSpLocks/>
            </p:cNvCxnSpPr>
            <p:nvPr/>
          </p:nvCxnSpPr>
          <p:spPr>
            <a:xfrm>
              <a:off x="574757" y="653125"/>
              <a:ext cx="8250942" cy="0"/>
            </a:xfrm>
            <a:prstGeom prst="line">
              <a:avLst/>
            </a:prstGeom>
            <a:ln w="12700" cap="rnd">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ABE169F4-E0D1-1E5B-5322-0EDE6DDE68B6}"/>
                </a:ext>
              </a:extLst>
            </p:cNvPr>
            <p:cNvSpPr/>
            <p:nvPr/>
          </p:nvSpPr>
          <p:spPr>
            <a:xfrm>
              <a:off x="-6488" y="142486"/>
              <a:ext cx="332509"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C85A7AAC-99EA-5F52-5BCC-B1C96AF145F9}"/>
                </a:ext>
              </a:extLst>
            </p:cNvPr>
            <p:cNvSpPr/>
            <p:nvPr/>
          </p:nvSpPr>
          <p:spPr>
            <a:xfrm>
              <a:off x="367416" y="142486"/>
              <a:ext cx="130866"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 name="TextBox 4">
            <a:extLst>
              <a:ext uri="{FF2B5EF4-FFF2-40B4-BE49-F238E27FC236}">
                <a16:creationId xmlns:a16="http://schemas.microsoft.com/office/drawing/2014/main" id="{8393AE22-B602-5759-493A-5606DB7A8081}"/>
              </a:ext>
            </a:extLst>
          </p:cNvPr>
          <p:cNvSpPr txBox="1"/>
          <p:nvPr/>
        </p:nvSpPr>
        <p:spPr>
          <a:xfrm>
            <a:off x="1917137" y="1170454"/>
            <a:ext cx="10116367" cy="1963372"/>
          </a:xfrm>
          <a:prstGeom prst="rect">
            <a:avLst/>
          </a:prstGeom>
          <a:noFill/>
        </p:spPr>
        <p:txBody>
          <a:bodyPr wrap="square">
            <a:spAutoFit/>
          </a:bodyPr>
          <a:lstStyle/>
          <a:p>
            <a:r>
              <a:rPr lang="en-US" altLang="zh-CN" sz="2400" b="1" dirty="0">
                <a:latin typeface="Kaiti TC" panose="02010600040101010101" pitchFamily="2" charset="-120"/>
                <a:ea typeface="Kaiti TC" panose="02010600040101010101" pitchFamily="2" charset="-120"/>
                <a:cs typeface="Times New Roman" panose="02020603050405020304" pitchFamily="18" charset="0"/>
              </a:rPr>
              <a:t>Executive attention </a:t>
            </a:r>
            <a:r>
              <a:rPr lang="en-US" altLang="zh-CN" sz="2400" dirty="0">
                <a:latin typeface="Kaiti TC" panose="02010600040101010101" pitchFamily="2" charset="-120"/>
                <a:ea typeface="Kaiti TC" panose="02010600040101010101" pitchFamily="2" charset="-120"/>
                <a:cs typeface="Times New Roman" panose="02020603050405020304" pitchFamily="18" charset="0"/>
              </a:rPr>
              <a:t>theory claims that working memory depends on utilizing attention to maintain and suppress information, and the restriction on memory capacity is not specifically about memory  storage per se, but more about the capacity for sustained, regulated attention in the presence of interference.</a:t>
            </a:r>
            <a:endParaRPr lang="zh-CN" altLang="en-US" sz="2400" dirty="0">
              <a:latin typeface="Kaiti TC" panose="02010600040101010101" pitchFamily="2" charset="-120"/>
              <a:ea typeface="Kaiti TC" panose="02010600040101010101" pitchFamily="2" charset="-120"/>
              <a:cs typeface="Times New Roman" panose="02020603050405020304" pitchFamily="18" charset="0"/>
            </a:endParaRPr>
          </a:p>
        </p:txBody>
      </p:sp>
      <p:sp>
        <p:nvSpPr>
          <p:cNvPr id="6" name="TextBox 5">
            <a:extLst>
              <a:ext uri="{FF2B5EF4-FFF2-40B4-BE49-F238E27FC236}">
                <a16:creationId xmlns:a16="http://schemas.microsoft.com/office/drawing/2014/main" id="{72F5B633-ECB7-454C-AB0B-AD8688DB6A68}"/>
              </a:ext>
            </a:extLst>
          </p:cNvPr>
          <p:cNvSpPr txBox="1"/>
          <p:nvPr/>
        </p:nvSpPr>
        <p:spPr>
          <a:xfrm>
            <a:off x="653780" y="1030686"/>
            <a:ext cx="687368" cy="2103140"/>
          </a:xfrm>
          <a:prstGeom prst="rect">
            <a:avLst/>
          </a:prstGeom>
          <a:noFill/>
        </p:spPr>
        <p:txBody>
          <a:bodyPr vert="wordArtVert" wrap="none" rtlCol="0">
            <a:spAutoFit/>
          </a:bodyPr>
          <a:lstStyle/>
          <a:p>
            <a:r>
              <a:rPr lang="en-CN" sz="2400" b="1" dirty="0">
                <a:latin typeface="Kaiti TC" panose="02010600040101010101" pitchFamily="2" charset="-120"/>
                <a:ea typeface="Kaiti TC" panose="02010600040101010101" pitchFamily="2" charset="-120"/>
              </a:rPr>
              <a:t>理论依据</a:t>
            </a:r>
          </a:p>
        </p:txBody>
      </p:sp>
      <p:cxnSp>
        <p:nvCxnSpPr>
          <p:cNvPr id="8" name="Straight Connector 7">
            <a:extLst>
              <a:ext uri="{FF2B5EF4-FFF2-40B4-BE49-F238E27FC236}">
                <a16:creationId xmlns:a16="http://schemas.microsoft.com/office/drawing/2014/main" id="{C50454D4-4AB8-49B0-F3EB-38264C58E26D}"/>
              </a:ext>
            </a:extLst>
          </p:cNvPr>
          <p:cNvCxnSpPr>
            <a:cxnSpLocks/>
          </p:cNvCxnSpPr>
          <p:nvPr/>
        </p:nvCxnSpPr>
        <p:spPr>
          <a:xfrm>
            <a:off x="4364736" y="3173450"/>
            <a:ext cx="7827264"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16" name="Straight Connector 15">
            <a:extLst>
              <a:ext uri="{FF2B5EF4-FFF2-40B4-BE49-F238E27FC236}">
                <a16:creationId xmlns:a16="http://schemas.microsoft.com/office/drawing/2014/main" id="{A0C47FEE-E8D9-F422-93AC-FD8BFAB36FFA}"/>
              </a:ext>
            </a:extLst>
          </p:cNvPr>
          <p:cNvCxnSpPr>
            <a:cxnSpLocks/>
          </p:cNvCxnSpPr>
          <p:nvPr/>
        </p:nvCxnSpPr>
        <p:spPr>
          <a:xfrm>
            <a:off x="1597152" y="3429000"/>
            <a:ext cx="4256504" cy="0"/>
          </a:xfrm>
          <a:prstGeom prst="line">
            <a:avLst/>
          </a:prstGeom>
        </p:spPr>
        <p:style>
          <a:lnRef idx="2">
            <a:schemeClr val="accent2"/>
          </a:lnRef>
          <a:fillRef idx="0">
            <a:schemeClr val="accent2"/>
          </a:fillRef>
          <a:effectRef idx="1">
            <a:schemeClr val="accent2"/>
          </a:effectRef>
          <a:fontRef idx="minor">
            <a:schemeClr val="tx1"/>
          </a:fontRef>
        </p:style>
      </p:cxnSp>
      <p:pic>
        <p:nvPicPr>
          <p:cNvPr id="19" name="Picture 18">
            <a:extLst>
              <a:ext uri="{FF2B5EF4-FFF2-40B4-BE49-F238E27FC236}">
                <a16:creationId xmlns:a16="http://schemas.microsoft.com/office/drawing/2014/main" id="{2065BCB9-8E4A-2315-F2D5-DA15423F85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4994" y="3480776"/>
            <a:ext cx="8095566" cy="3185140"/>
          </a:xfrm>
          <a:prstGeom prst="rect">
            <a:avLst/>
          </a:prstGeom>
        </p:spPr>
      </p:pic>
      <p:sp>
        <p:nvSpPr>
          <p:cNvPr id="20" name="TextBox 19">
            <a:extLst>
              <a:ext uri="{FF2B5EF4-FFF2-40B4-BE49-F238E27FC236}">
                <a16:creationId xmlns:a16="http://schemas.microsoft.com/office/drawing/2014/main" id="{F57F1D5B-6834-3DB6-4A6A-23D8E3D95A63}"/>
              </a:ext>
            </a:extLst>
          </p:cNvPr>
          <p:cNvSpPr txBox="1"/>
          <p:nvPr/>
        </p:nvSpPr>
        <p:spPr>
          <a:xfrm>
            <a:off x="8436864" y="3931357"/>
            <a:ext cx="687368" cy="2103140"/>
          </a:xfrm>
          <a:prstGeom prst="rect">
            <a:avLst/>
          </a:prstGeom>
          <a:noFill/>
        </p:spPr>
        <p:txBody>
          <a:bodyPr vert="wordArtVert" wrap="none" rtlCol="0">
            <a:spAutoFit/>
          </a:bodyPr>
          <a:lstStyle/>
          <a:p>
            <a:r>
              <a:rPr lang="en-CN" sz="2400" b="1" dirty="0">
                <a:latin typeface="Kaiti TC" panose="02010600040101010101" pitchFamily="2" charset="-120"/>
                <a:ea typeface="Kaiti TC" panose="02010600040101010101" pitchFamily="2" charset="-120"/>
              </a:rPr>
              <a:t>实验范式</a:t>
            </a:r>
          </a:p>
        </p:txBody>
      </p:sp>
      <p:sp>
        <p:nvSpPr>
          <p:cNvPr id="21" name="TextBox 20">
            <a:extLst>
              <a:ext uri="{FF2B5EF4-FFF2-40B4-BE49-F238E27FC236}">
                <a16:creationId xmlns:a16="http://schemas.microsoft.com/office/drawing/2014/main" id="{C38D7E65-AC7C-54DF-3EEE-45DE44680F9A}"/>
              </a:ext>
            </a:extLst>
          </p:cNvPr>
          <p:cNvSpPr txBox="1"/>
          <p:nvPr/>
        </p:nvSpPr>
        <p:spPr>
          <a:xfrm>
            <a:off x="9400032" y="6034497"/>
            <a:ext cx="1921103" cy="369332"/>
          </a:xfrm>
          <a:prstGeom prst="rect">
            <a:avLst/>
          </a:prstGeom>
          <a:noFill/>
        </p:spPr>
        <p:txBody>
          <a:bodyPr wrap="none" rtlCol="0">
            <a:spAutoFit/>
          </a:bodyPr>
          <a:lstStyle/>
          <a:p>
            <a:r>
              <a:rPr lang="en-US" dirty="0"/>
              <a:t>(Gong et al., 2024)</a:t>
            </a:r>
            <a:endParaRPr lang="en-CN" dirty="0"/>
          </a:p>
        </p:txBody>
      </p:sp>
    </p:spTree>
    <p:extLst>
      <p:ext uri="{BB962C8B-B14F-4D97-AF65-F5344CB8AC3E}">
        <p14:creationId xmlns:p14="http://schemas.microsoft.com/office/powerpoint/2010/main" val="36992213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A2C71-D5BC-7308-1ED5-0B216D1FC74D}"/>
            </a:ext>
          </a:extLst>
        </p:cNvPr>
        <p:cNvGrpSpPr/>
        <p:nvPr/>
      </p:nvGrpSpPr>
      <p:grpSpPr>
        <a:xfrm>
          <a:off x="0" y="0"/>
          <a:ext cx="0" cy="0"/>
          <a:chOff x="0" y="0"/>
          <a:chExt cx="0" cy="0"/>
        </a:xfrm>
      </p:grpSpPr>
      <p:grpSp>
        <p:nvGrpSpPr>
          <p:cNvPr id="10" name="组合 9">
            <a:extLst>
              <a:ext uri="{FF2B5EF4-FFF2-40B4-BE49-F238E27FC236}">
                <a16:creationId xmlns:a16="http://schemas.microsoft.com/office/drawing/2014/main" id="{A6A5707A-78F3-18F7-0108-785235999C49}"/>
              </a:ext>
            </a:extLst>
          </p:cNvPr>
          <p:cNvGrpSpPr/>
          <p:nvPr/>
        </p:nvGrpSpPr>
        <p:grpSpPr>
          <a:xfrm>
            <a:off x="49794" y="96338"/>
            <a:ext cx="12394359" cy="727165"/>
            <a:chOff x="-6488" y="56364"/>
            <a:chExt cx="9015602" cy="596761"/>
          </a:xfrm>
        </p:grpSpPr>
        <p:sp>
          <p:nvSpPr>
            <p:cNvPr id="11" name="矩形 10">
              <a:extLst>
                <a:ext uri="{FF2B5EF4-FFF2-40B4-BE49-F238E27FC236}">
                  <a16:creationId xmlns:a16="http://schemas.microsoft.com/office/drawing/2014/main" id="{AEAC9B2A-6B55-B204-9F6E-B8D62B72D4CE}"/>
                </a:ext>
              </a:extLst>
            </p:cNvPr>
            <p:cNvSpPr/>
            <p:nvPr/>
          </p:nvSpPr>
          <p:spPr>
            <a:xfrm>
              <a:off x="651757" y="56364"/>
              <a:ext cx="8357357" cy="5809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r>
                <a:rPr kumimoji="1" lang="en-US" altLang="zh-CN" sz="4000" b="1" dirty="0">
                  <a:solidFill>
                    <a:srgbClr val="C00000"/>
                  </a:solidFill>
                  <a:latin typeface="华文楷体" panose="02010600040101010101" pitchFamily="2" charset="-122"/>
                  <a:ea typeface="华文楷体" panose="02010600040101010101" pitchFamily="2" charset="-122"/>
                </a:rPr>
                <a:t>Empirical Study</a:t>
              </a:r>
            </a:p>
          </p:txBody>
        </p:sp>
        <p:cxnSp>
          <p:nvCxnSpPr>
            <p:cNvPr id="13" name="直接连接符 12">
              <a:extLst>
                <a:ext uri="{FF2B5EF4-FFF2-40B4-BE49-F238E27FC236}">
                  <a16:creationId xmlns:a16="http://schemas.microsoft.com/office/drawing/2014/main" id="{F60D7E02-E351-E297-DC96-DA347DE793F0}"/>
                </a:ext>
              </a:extLst>
            </p:cNvPr>
            <p:cNvCxnSpPr>
              <a:cxnSpLocks/>
            </p:cNvCxnSpPr>
            <p:nvPr/>
          </p:nvCxnSpPr>
          <p:spPr>
            <a:xfrm>
              <a:off x="574757" y="653125"/>
              <a:ext cx="8250942" cy="0"/>
            </a:xfrm>
            <a:prstGeom prst="line">
              <a:avLst/>
            </a:prstGeom>
            <a:ln w="12700" cap="rnd">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CEAD78DC-9030-E646-0C81-82201A6F54B1}"/>
                </a:ext>
              </a:extLst>
            </p:cNvPr>
            <p:cNvSpPr/>
            <p:nvPr/>
          </p:nvSpPr>
          <p:spPr>
            <a:xfrm>
              <a:off x="-6488" y="142486"/>
              <a:ext cx="332509"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14A561F0-B914-393A-F837-374705E91AF0}"/>
                </a:ext>
              </a:extLst>
            </p:cNvPr>
            <p:cNvSpPr/>
            <p:nvPr/>
          </p:nvSpPr>
          <p:spPr>
            <a:xfrm>
              <a:off x="367416" y="142486"/>
              <a:ext cx="130866"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 name="Picture 3">
            <a:extLst>
              <a:ext uri="{FF2B5EF4-FFF2-40B4-BE49-F238E27FC236}">
                <a16:creationId xmlns:a16="http://schemas.microsoft.com/office/drawing/2014/main" id="{E53F70B1-CA42-89B0-6FFA-3A3E60ADDB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8296" y="1181155"/>
            <a:ext cx="8912098" cy="5154911"/>
          </a:xfrm>
          <a:prstGeom prst="rect">
            <a:avLst/>
          </a:prstGeom>
        </p:spPr>
      </p:pic>
      <p:sp>
        <p:nvSpPr>
          <p:cNvPr id="8" name="TextBox 7">
            <a:extLst>
              <a:ext uri="{FF2B5EF4-FFF2-40B4-BE49-F238E27FC236}">
                <a16:creationId xmlns:a16="http://schemas.microsoft.com/office/drawing/2014/main" id="{F7EB61BB-9903-9BE5-7D8E-410FE1B084CB}"/>
              </a:ext>
            </a:extLst>
          </p:cNvPr>
          <p:cNvSpPr txBox="1"/>
          <p:nvPr/>
        </p:nvSpPr>
        <p:spPr>
          <a:xfrm>
            <a:off x="9704832" y="2126079"/>
            <a:ext cx="687368" cy="2605842"/>
          </a:xfrm>
          <a:prstGeom prst="rect">
            <a:avLst/>
          </a:prstGeom>
          <a:noFill/>
        </p:spPr>
        <p:txBody>
          <a:bodyPr vert="wordArtVert" wrap="none" rtlCol="0">
            <a:spAutoFit/>
          </a:bodyPr>
          <a:lstStyle/>
          <a:p>
            <a:r>
              <a:rPr lang="en-CN" sz="2400" b="1" dirty="0">
                <a:latin typeface="Kaiti TC" panose="02010600040101010101" pitchFamily="2" charset="-120"/>
                <a:ea typeface="Kaiti TC" panose="02010600040101010101" pitchFamily="2" charset="-120"/>
              </a:rPr>
              <a:t>提示词示例</a:t>
            </a:r>
          </a:p>
        </p:txBody>
      </p:sp>
      <p:sp>
        <p:nvSpPr>
          <p:cNvPr id="9" name="TextBox 8">
            <a:extLst>
              <a:ext uri="{FF2B5EF4-FFF2-40B4-BE49-F238E27FC236}">
                <a16:creationId xmlns:a16="http://schemas.microsoft.com/office/drawing/2014/main" id="{EAA12E73-98B1-6371-C443-C87BA83DB2AA}"/>
              </a:ext>
            </a:extLst>
          </p:cNvPr>
          <p:cNvSpPr txBox="1"/>
          <p:nvPr/>
        </p:nvSpPr>
        <p:spPr>
          <a:xfrm>
            <a:off x="9806984" y="6034496"/>
            <a:ext cx="1921103" cy="369332"/>
          </a:xfrm>
          <a:prstGeom prst="rect">
            <a:avLst/>
          </a:prstGeom>
          <a:noFill/>
        </p:spPr>
        <p:txBody>
          <a:bodyPr wrap="none" rtlCol="0">
            <a:spAutoFit/>
          </a:bodyPr>
          <a:lstStyle/>
          <a:p>
            <a:r>
              <a:rPr lang="en-US" dirty="0"/>
              <a:t>(Gong et al., 2024)</a:t>
            </a:r>
            <a:endParaRPr lang="en-CN" dirty="0"/>
          </a:p>
        </p:txBody>
      </p:sp>
    </p:spTree>
    <p:extLst>
      <p:ext uri="{BB962C8B-B14F-4D97-AF65-F5344CB8AC3E}">
        <p14:creationId xmlns:p14="http://schemas.microsoft.com/office/powerpoint/2010/main" val="37327530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73C4F-DF2B-CF31-E695-57F16EC40216}"/>
            </a:ext>
          </a:extLst>
        </p:cNvPr>
        <p:cNvGrpSpPr/>
        <p:nvPr/>
      </p:nvGrpSpPr>
      <p:grpSpPr>
        <a:xfrm>
          <a:off x="0" y="0"/>
          <a:ext cx="0" cy="0"/>
          <a:chOff x="0" y="0"/>
          <a:chExt cx="0" cy="0"/>
        </a:xfrm>
      </p:grpSpPr>
      <p:grpSp>
        <p:nvGrpSpPr>
          <p:cNvPr id="10" name="组合 9">
            <a:extLst>
              <a:ext uri="{FF2B5EF4-FFF2-40B4-BE49-F238E27FC236}">
                <a16:creationId xmlns:a16="http://schemas.microsoft.com/office/drawing/2014/main" id="{B421D5CA-EF18-E8EC-AEDF-03991E0F2596}"/>
              </a:ext>
            </a:extLst>
          </p:cNvPr>
          <p:cNvGrpSpPr/>
          <p:nvPr/>
        </p:nvGrpSpPr>
        <p:grpSpPr>
          <a:xfrm>
            <a:off x="49794" y="96338"/>
            <a:ext cx="12394359" cy="727165"/>
            <a:chOff x="-6488" y="56364"/>
            <a:chExt cx="9015602" cy="596761"/>
          </a:xfrm>
        </p:grpSpPr>
        <p:sp>
          <p:nvSpPr>
            <p:cNvPr id="11" name="矩形 10">
              <a:extLst>
                <a:ext uri="{FF2B5EF4-FFF2-40B4-BE49-F238E27FC236}">
                  <a16:creationId xmlns:a16="http://schemas.microsoft.com/office/drawing/2014/main" id="{B05A3658-2DA0-1A12-AC9E-09174406CD3E}"/>
                </a:ext>
              </a:extLst>
            </p:cNvPr>
            <p:cNvSpPr/>
            <p:nvPr/>
          </p:nvSpPr>
          <p:spPr>
            <a:xfrm>
              <a:off x="651757" y="56364"/>
              <a:ext cx="8357357" cy="5809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r>
                <a:rPr kumimoji="1" lang="en-US" altLang="zh-CN" sz="4000" b="1" dirty="0">
                  <a:solidFill>
                    <a:srgbClr val="C00000"/>
                  </a:solidFill>
                  <a:latin typeface="华文楷体" panose="02010600040101010101" pitchFamily="2" charset="-122"/>
                  <a:ea typeface="华文楷体" panose="02010600040101010101" pitchFamily="2" charset="-122"/>
                </a:rPr>
                <a:t>Empirical Study</a:t>
              </a:r>
            </a:p>
          </p:txBody>
        </p:sp>
        <p:cxnSp>
          <p:nvCxnSpPr>
            <p:cNvPr id="13" name="直接连接符 12">
              <a:extLst>
                <a:ext uri="{FF2B5EF4-FFF2-40B4-BE49-F238E27FC236}">
                  <a16:creationId xmlns:a16="http://schemas.microsoft.com/office/drawing/2014/main" id="{506071BC-BB74-2D06-CB55-C45AED68E692}"/>
                </a:ext>
              </a:extLst>
            </p:cNvPr>
            <p:cNvCxnSpPr>
              <a:cxnSpLocks/>
            </p:cNvCxnSpPr>
            <p:nvPr/>
          </p:nvCxnSpPr>
          <p:spPr>
            <a:xfrm>
              <a:off x="574757" y="653125"/>
              <a:ext cx="8250942" cy="0"/>
            </a:xfrm>
            <a:prstGeom prst="line">
              <a:avLst/>
            </a:prstGeom>
            <a:ln w="12700" cap="rnd">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FF2683CC-1511-6C21-0AE2-219BE1EEA39E}"/>
                </a:ext>
              </a:extLst>
            </p:cNvPr>
            <p:cNvSpPr/>
            <p:nvPr/>
          </p:nvSpPr>
          <p:spPr>
            <a:xfrm>
              <a:off x="-6488" y="142486"/>
              <a:ext cx="332509"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518D7FDE-EFA7-B7FA-D1E0-7AAA4B527062}"/>
                </a:ext>
              </a:extLst>
            </p:cNvPr>
            <p:cNvSpPr/>
            <p:nvPr/>
          </p:nvSpPr>
          <p:spPr>
            <a:xfrm>
              <a:off x="367416" y="142486"/>
              <a:ext cx="130866"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3" name="Picture 2">
            <a:extLst>
              <a:ext uri="{FF2B5EF4-FFF2-40B4-BE49-F238E27FC236}">
                <a16:creationId xmlns:a16="http://schemas.microsoft.com/office/drawing/2014/main" id="{9D3FE1F6-C468-C88C-72B1-489992B130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513" y="2161032"/>
            <a:ext cx="4572000" cy="3048000"/>
          </a:xfrm>
          <a:prstGeom prst="rect">
            <a:avLst/>
          </a:prstGeom>
        </p:spPr>
      </p:pic>
      <p:pic>
        <p:nvPicPr>
          <p:cNvPr id="6" name="Picture 5">
            <a:extLst>
              <a:ext uri="{FF2B5EF4-FFF2-40B4-BE49-F238E27FC236}">
                <a16:creationId xmlns:a16="http://schemas.microsoft.com/office/drawing/2014/main" id="{BFB6A922-B67B-13BA-3821-BC0556BE7CC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84700" y="1315720"/>
            <a:ext cx="7607300" cy="2641600"/>
          </a:xfrm>
          <a:prstGeom prst="rect">
            <a:avLst/>
          </a:prstGeom>
        </p:spPr>
      </p:pic>
      <p:sp>
        <p:nvSpPr>
          <p:cNvPr id="7" name="TextBox 6">
            <a:extLst>
              <a:ext uri="{FF2B5EF4-FFF2-40B4-BE49-F238E27FC236}">
                <a16:creationId xmlns:a16="http://schemas.microsoft.com/office/drawing/2014/main" id="{38E7D24B-53BA-5370-892B-1B50D312321F}"/>
              </a:ext>
            </a:extLst>
          </p:cNvPr>
          <p:cNvSpPr txBox="1"/>
          <p:nvPr/>
        </p:nvSpPr>
        <p:spPr>
          <a:xfrm>
            <a:off x="954728" y="5327904"/>
            <a:ext cx="2351926" cy="461665"/>
          </a:xfrm>
          <a:prstGeom prst="rect">
            <a:avLst/>
          </a:prstGeom>
          <a:noFill/>
        </p:spPr>
        <p:txBody>
          <a:bodyPr wrap="none" rtlCol="0">
            <a:spAutoFit/>
          </a:bodyPr>
          <a:lstStyle/>
          <a:p>
            <a:r>
              <a:rPr lang="en-CN" sz="2400" dirty="0">
                <a:latin typeface="Kaiti TC" panose="02010600040101010101" pitchFamily="2" charset="-120"/>
                <a:ea typeface="Kaiti TC" panose="02010600040101010101" pitchFamily="2" charset="-120"/>
              </a:rPr>
              <a:t>Human behavior</a:t>
            </a:r>
          </a:p>
        </p:txBody>
      </p:sp>
      <p:sp>
        <p:nvSpPr>
          <p:cNvPr id="12" name="TextBox 11">
            <a:extLst>
              <a:ext uri="{FF2B5EF4-FFF2-40B4-BE49-F238E27FC236}">
                <a16:creationId xmlns:a16="http://schemas.microsoft.com/office/drawing/2014/main" id="{B9DA5AFA-4418-0546-6E1A-B94BCFE2D2EF}"/>
              </a:ext>
            </a:extLst>
          </p:cNvPr>
          <p:cNvSpPr txBox="1"/>
          <p:nvPr/>
        </p:nvSpPr>
        <p:spPr>
          <a:xfrm>
            <a:off x="7324597" y="3987871"/>
            <a:ext cx="3368230" cy="461665"/>
          </a:xfrm>
          <a:prstGeom prst="rect">
            <a:avLst/>
          </a:prstGeom>
          <a:noFill/>
        </p:spPr>
        <p:txBody>
          <a:bodyPr wrap="none" rtlCol="0">
            <a:spAutoFit/>
          </a:bodyPr>
          <a:lstStyle/>
          <a:p>
            <a:r>
              <a:rPr lang="en-CN" sz="2400" dirty="0">
                <a:latin typeface="Kaiti TC" panose="02010600040101010101" pitchFamily="2" charset="-120"/>
                <a:ea typeface="Kaiti TC" panose="02010600040101010101" pitchFamily="2" charset="-120"/>
              </a:rPr>
              <a:t>Result on LLM(GPT 3.5)</a:t>
            </a:r>
          </a:p>
        </p:txBody>
      </p:sp>
      <p:sp>
        <p:nvSpPr>
          <p:cNvPr id="16" name="TextBox 15">
            <a:extLst>
              <a:ext uri="{FF2B5EF4-FFF2-40B4-BE49-F238E27FC236}">
                <a16:creationId xmlns:a16="http://schemas.microsoft.com/office/drawing/2014/main" id="{1188533F-51C5-F6A1-A7CA-5199B69FB951}"/>
              </a:ext>
            </a:extLst>
          </p:cNvPr>
          <p:cNvSpPr txBox="1"/>
          <p:nvPr/>
        </p:nvSpPr>
        <p:spPr>
          <a:xfrm>
            <a:off x="9732275" y="5789569"/>
            <a:ext cx="1921103" cy="369332"/>
          </a:xfrm>
          <a:prstGeom prst="rect">
            <a:avLst/>
          </a:prstGeom>
          <a:noFill/>
        </p:spPr>
        <p:txBody>
          <a:bodyPr wrap="none" rtlCol="0">
            <a:spAutoFit/>
          </a:bodyPr>
          <a:lstStyle/>
          <a:p>
            <a:r>
              <a:rPr lang="en-CN" dirty="0"/>
              <a:t>(Gong et al., 2024)</a:t>
            </a:r>
          </a:p>
        </p:txBody>
      </p:sp>
    </p:spTree>
    <p:extLst>
      <p:ext uri="{BB962C8B-B14F-4D97-AF65-F5344CB8AC3E}">
        <p14:creationId xmlns:p14="http://schemas.microsoft.com/office/powerpoint/2010/main" val="39099747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330CC-F4A2-7D5D-C00C-736A79B829EF}"/>
            </a:ext>
          </a:extLst>
        </p:cNvPr>
        <p:cNvGrpSpPr/>
        <p:nvPr/>
      </p:nvGrpSpPr>
      <p:grpSpPr>
        <a:xfrm>
          <a:off x="0" y="0"/>
          <a:ext cx="0" cy="0"/>
          <a:chOff x="0" y="0"/>
          <a:chExt cx="0" cy="0"/>
        </a:xfrm>
      </p:grpSpPr>
      <p:grpSp>
        <p:nvGrpSpPr>
          <p:cNvPr id="10" name="组合 9">
            <a:extLst>
              <a:ext uri="{FF2B5EF4-FFF2-40B4-BE49-F238E27FC236}">
                <a16:creationId xmlns:a16="http://schemas.microsoft.com/office/drawing/2014/main" id="{529C06DE-90F3-ECB0-D517-CC0A7DC5BD05}"/>
              </a:ext>
            </a:extLst>
          </p:cNvPr>
          <p:cNvGrpSpPr/>
          <p:nvPr/>
        </p:nvGrpSpPr>
        <p:grpSpPr>
          <a:xfrm>
            <a:off x="49794" y="96338"/>
            <a:ext cx="12394359" cy="727165"/>
            <a:chOff x="-6488" y="56364"/>
            <a:chExt cx="9015602" cy="596761"/>
          </a:xfrm>
        </p:grpSpPr>
        <p:sp>
          <p:nvSpPr>
            <p:cNvPr id="11" name="矩形 10">
              <a:extLst>
                <a:ext uri="{FF2B5EF4-FFF2-40B4-BE49-F238E27FC236}">
                  <a16:creationId xmlns:a16="http://schemas.microsoft.com/office/drawing/2014/main" id="{EA331E5B-4786-AD92-2EB0-B8620EF067FB}"/>
                </a:ext>
              </a:extLst>
            </p:cNvPr>
            <p:cNvSpPr/>
            <p:nvPr/>
          </p:nvSpPr>
          <p:spPr>
            <a:xfrm>
              <a:off x="651757" y="56364"/>
              <a:ext cx="8357357" cy="5809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r>
                <a:rPr kumimoji="1" lang="en-US" altLang="zh-CN" sz="4000" b="1" dirty="0">
                  <a:solidFill>
                    <a:srgbClr val="C00000"/>
                  </a:solidFill>
                  <a:latin typeface="华文楷体" panose="02010600040101010101" pitchFamily="2" charset="-122"/>
                  <a:ea typeface="华文楷体" panose="02010600040101010101" pitchFamily="2" charset="-122"/>
                </a:rPr>
                <a:t>What does this work tell us?</a:t>
              </a:r>
            </a:p>
          </p:txBody>
        </p:sp>
        <p:cxnSp>
          <p:nvCxnSpPr>
            <p:cNvPr id="13" name="直接连接符 12">
              <a:extLst>
                <a:ext uri="{FF2B5EF4-FFF2-40B4-BE49-F238E27FC236}">
                  <a16:creationId xmlns:a16="http://schemas.microsoft.com/office/drawing/2014/main" id="{39F6058B-5143-889D-7867-55D1F472F471}"/>
                </a:ext>
              </a:extLst>
            </p:cNvPr>
            <p:cNvCxnSpPr>
              <a:cxnSpLocks/>
            </p:cNvCxnSpPr>
            <p:nvPr/>
          </p:nvCxnSpPr>
          <p:spPr>
            <a:xfrm>
              <a:off x="574757" y="653125"/>
              <a:ext cx="8250942" cy="0"/>
            </a:xfrm>
            <a:prstGeom prst="line">
              <a:avLst/>
            </a:prstGeom>
            <a:ln w="12700" cap="rnd">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13A31DF9-BB4A-1BC0-A50D-F1047136F354}"/>
                </a:ext>
              </a:extLst>
            </p:cNvPr>
            <p:cNvSpPr/>
            <p:nvPr/>
          </p:nvSpPr>
          <p:spPr>
            <a:xfrm>
              <a:off x="-6488" y="142486"/>
              <a:ext cx="332509"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52ABFDF5-097A-19BF-9618-90525120E957}"/>
                </a:ext>
              </a:extLst>
            </p:cNvPr>
            <p:cNvSpPr/>
            <p:nvPr/>
          </p:nvSpPr>
          <p:spPr>
            <a:xfrm>
              <a:off x="367416" y="142486"/>
              <a:ext cx="130866"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TextBox 15">
            <a:extLst>
              <a:ext uri="{FF2B5EF4-FFF2-40B4-BE49-F238E27FC236}">
                <a16:creationId xmlns:a16="http://schemas.microsoft.com/office/drawing/2014/main" id="{FB79CA2E-9ECC-8C92-439B-8D38C00D97F8}"/>
              </a:ext>
            </a:extLst>
          </p:cNvPr>
          <p:cNvSpPr txBox="1"/>
          <p:nvPr/>
        </p:nvSpPr>
        <p:spPr>
          <a:xfrm>
            <a:off x="9732275" y="5789569"/>
            <a:ext cx="1921103" cy="369332"/>
          </a:xfrm>
          <a:prstGeom prst="rect">
            <a:avLst/>
          </a:prstGeom>
          <a:noFill/>
        </p:spPr>
        <p:txBody>
          <a:bodyPr wrap="none" rtlCol="0">
            <a:spAutoFit/>
          </a:bodyPr>
          <a:lstStyle/>
          <a:p>
            <a:r>
              <a:rPr lang="en-CN" dirty="0"/>
              <a:t>(Gong et al., 2024)</a:t>
            </a:r>
          </a:p>
        </p:txBody>
      </p:sp>
      <p:sp>
        <p:nvSpPr>
          <p:cNvPr id="4" name="TextBox 3">
            <a:extLst>
              <a:ext uri="{FF2B5EF4-FFF2-40B4-BE49-F238E27FC236}">
                <a16:creationId xmlns:a16="http://schemas.microsoft.com/office/drawing/2014/main" id="{33718A62-0070-9E7A-4B8E-191E14C42653}"/>
              </a:ext>
            </a:extLst>
          </p:cNvPr>
          <p:cNvSpPr txBox="1"/>
          <p:nvPr/>
        </p:nvSpPr>
        <p:spPr>
          <a:xfrm>
            <a:off x="364230" y="2681452"/>
            <a:ext cx="11343129" cy="1456809"/>
          </a:xfrm>
          <a:prstGeom prst="rect">
            <a:avLst/>
          </a:prstGeom>
          <a:noFill/>
        </p:spPr>
        <p:txBody>
          <a:bodyPr wrap="square">
            <a:spAutoFit/>
          </a:bodyPr>
          <a:lstStyle/>
          <a:p>
            <a:pPr marL="0" marR="0" indent="0" algn="l">
              <a:spcBef>
                <a:spcPts val="975"/>
              </a:spcBef>
              <a:spcAft>
                <a:spcPts val="975"/>
              </a:spcAft>
              <a:buFont typeface="Arial" panose="020B0604020202020204" pitchFamily="34" charset="0"/>
              <a:buChar char="•"/>
            </a:pPr>
            <a:r>
              <a:rPr lang="en-CN" sz="2400" b="1" i="0" dirty="0">
                <a:solidFill>
                  <a:srgbClr val="171717"/>
                </a:solidFill>
                <a:effectLst/>
                <a:latin typeface="Kaiti TC" panose="02010600040101010101" pitchFamily="2" charset="-120"/>
                <a:ea typeface="Kaiti TC" panose="02010600040101010101" pitchFamily="2" charset="-120"/>
              </a:rPr>
              <a:t>First:</a:t>
            </a:r>
            <a:r>
              <a:rPr lang="en-CN" sz="2400" b="0" i="0" dirty="0">
                <a:solidFill>
                  <a:srgbClr val="171717"/>
                </a:solidFill>
                <a:effectLst/>
                <a:latin typeface="Kaiti TC" panose="02010600040101010101" pitchFamily="2" charset="-120"/>
                <a:ea typeface="Kaiti TC" panose="02010600040101010101" pitchFamily="2" charset="-120"/>
              </a:rPr>
              <a:t> LLM context use can be quantitatively measured with cognitive-science tasks.</a:t>
            </a:r>
          </a:p>
          <a:p>
            <a:pPr marL="0" marR="0" indent="0" algn="l">
              <a:spcBef>
                <a:spcPts val="975"/>
              </a:spcBef>
              <a:spcAft>
                <a:spcPts val="975"/>
              </a:spcAft>
              <a:buFont typeface="Arial" panose="020B0604020202020204" pitchFamily="34" charset="0"/>
              <a:buChar char="•"/>
            </a:pPr>
            <a:r>
              <a:rPr lang="en-CN" sz="2400" b="1" i="0" dirty="0">
                <a:solidFill>
                  <a:srgbClr val="171717"/>
                </a:solidFill>
                <a:effectLst/>
                <a:latin typeface="Kaiti TC" panose="02010600040101010101" pitchFamily="2" charset="-120"/>
                <a:ea typeface="Kaiti TC" panose="02010600040101010101" pitchFamily="2" charset="-120"/>
              </a:rPr>
              <a:t>Second:</a:t>
            </a:r>
            <a:r>
              <a:rPr lang="en-CN" sz="2400" b="0" i="0" dirty="0">
                <a:solidFill>
                  <a:srgbClr val="171717"/>
                </a:solidFill>
                <a:effectLst/>
                <a:latin typeface="Kaiti TC" panose="02010600040101010101" pitchFamily="2" charset="-120"/>
                <a:ea typeface="Kaiti TC" panose="02010600040101010101" pitchFamily="2" charset="-120"/>
              </a:rPr>
              <a:t> ChatGPT shows an n-dependent capacity limit in n-back, resembling human working-memory curves</a:t>
            </a:r>
            <a:r>
              <a:rPr lang="en-CN" sz="2400" dirty="0">
                <a:solidFill>
                  <a:srgbClr val="171717"/>
                </a:solidFill>
                <a:latin typeface="Kaiti TC" panose="02010600040101010101" pitchFamily="2" charset="-120"/>
                <a:ea typeface="Kaiti TC" panose="02010600040101010101" pitchFamily="2" charset="-120"/>
              </a:rPr>
              <a:t>.</a:t>
            </a:r>
            <a:endParaRPr lang="en-CN" sz="2400" b="0" i="0" dirty="0">
              <a:solidFill>
                <a:srgbClr val="171717"/>
              </a:solidFill>
              <a:effectLst/>
              <a:latin typeface="Kaiti TC" panose="02010600040101010101" pitchFamily="2" charset="-120"/>
              <a:ea typeface="Kaiti TC" panose="02010600040101010101" pitchFamily="2" charset="-120"/>
            </a:endParaRPr>
          </a:p>
        </p:txBody>
      </p:sp>
      <p:sp>
        <p:nvSpPr>
          <p:cNvPr id="5" name="TextBox 4">
            <a:extLst>
              <a:ext uri="{FF2B5EF4-FFF2-40B4-BE49-F238E27FC236}">
                <a16:creationId xmlns:a16="http://schemas.microsoft.com/office/drawing/2014/main" id="{579E12EA-39BE-8AB9-077B-11881282805D}"/>
              </a:ext>
            </a:extLst>
          </p:cNvPr>
          <p:cNvSpPr txBox="1"/>
          <p:nvPr/>
        </p:nvSpPr>
        <p:spPr>
          <a:xfrm>
            <a:off x="364230" y="4348397"/>
            <a:ext cx="7938521" cy="2308324"/>
          </a:xfrm>
          <a:prstGeom prst="rect">
            <a:avLst/>
          </a:prstGeom>
          <a:noFill/>
        </p:spPr>
        <p:txBody>
          <a:bodyPr wrap="square" rtlCol="0">
            <a:spAutoFit/>
          </a:bodyPr>
          <a:lstStyle/>
          <a:p>
            <a:r>
              <a:rPr lang="en-US" sz="2400" dirty="0">
                <a:solidFill>
                  <a:srgbClr val="171717"/>
                </a:solidFill>
                <a:latin typeface="Kaiti TC" panose="02010600040101010101" pitchFamily="2" charset="-120"/>
                <a:ea typeface="Kaiti TC" panose="02010600040101010101" pitchFamily="2" charset="-120"/>
              </a:rPr>
              <a:t>The authors speculate that the constraint may relate to model architecture, especially self-attention. Hence,</a:t>
            </a:r>
            <a:r>
              <a:rPr lang="en-CN" sz="2400" dirty="0">
                <a:solidFill>
                  <a:srgbClr val="171717"/>
                </a:solidFill>
                <a:latin typeface="Kaiti TC" panose="02010600040101010101" pitchFamily="2" charset="-120"/>
                <a:ea typeface="Kaiti TC" panose="02010600040101010101" pitchFamily="2" charset="-120"/>
              </a:rPr>
              <a:t>the next step is mechanistic: how self-attention, contextual competition, and interference control jointly determine capacity.</a:t>
            </a:r>
          </a:p>
          <a:p>
            <a:endParaRPr lang="en-CN" sz="2400" dirty="0"/>
          </a:p>
        </p:txBody>
      </p:sp>
      <p:pic>
        <p:nvPicPr>
          <p:cNvPr id="9" name="Picture 8">
            <a:extLst>
              <a:ext uri="{FF2B5EF4-FFF2-40B4-BE49-F238E27FC236}">
                <a16:creationId xmlns:a16="http://schemas.microsoft.com/office/drawing/2014/main" id="{FC68B10F-6493-5FAB-46D9-AABD15085F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610" y="842783"/>
            <a:ext cx="10684780" cy="1726918"/>
          </a:xfrm>
          <a:prstGeom prst="rect">
            <a:avLst/>
          </a:prstGeom>
        </p:spPr>
      </p:pic>
    </p:spTree>
    <p:extLst>
      <p:ext uri="{BB962C8B-B14F-4D97-AF65-F5344CB8AC3E}">
        <p14:creationId xmlns:p14="http://schemas.microsoft.com/office/powerpoint/2010/main" val="10711037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F78DB-00CD-C1BD-4D5A-B63A2D2146BA}"/>
            </a:ext>
          </a:extLst>
        </p:cNvPr>
        <p:cNvGrpSpPr/>
        <p:nvPr/>
      </p:nvGrpSpPr>
      <p:grpSpPr>
        <a:xfrm>
          <a:off x="0" y="0"/>
          <a:ext cx="0" cy="0"/>
          <a:chOff x="0" y="0"/>
          <a:chExt cx="0" cy="0"/>
        </a:xfrm>
      </p:grpSpPr>
      <p:grpSp>
        <p:nvGrpSpPr>
          <p:cNvPr id="10" name="组合 9">
            <a:extLst>
              <a:ext uri="{FF2B5EF4-FFF2-40B4-BE49-F238E27FC236}">
                <a16:creationId xmlns:a16="http://schemas.microsoft.com/office/drawing/2014/main" id="{C43D156D-3D87-5B32-545C-EE5088EC7FD7}"/>
              </a:ext>
            </a:extLst>
          </p:cNvPr>
          <p:cNvGrpSpPr/>
          <p:nvPr/>
        </p:nvGrpSpPr>
        <p:grpSpPr>
          <a:xfrm>
            <a:off x="49794" y="96338"/>
            <a:ext cx="12394359" cy="727165"/>
            <a:chOff x="-6488" y="56364"/>
            <a:chExt cx="9015602" cy="596761"/>
          </a:xfrm>
        </p:grpSpPr>
        <p:sp>
          <p:nvSpPr>
            <p:cNvPr id="11" name="矩形 10">
              <a:extLst>
                <a:ext uri="{FF2B5EF4-FFF2-40B4-BE49-F238E27FC236}">
                  <a16:creationId xmlns:a16="http://schemas.microsoft.com/office/drawing/2014/main" id="{2EC0EC36-56D7-1282-7BEC-D794F6BD11C7}"/>
                </a:ext>
              </a:extLst>
            </p:cNvPr>
            <p:cNvSpPr/>
            <p:nvPr/>
          </p:nvSpPr>
          <p:spPr>
            <a:xfrm>
              <a:off x="651757" y="56364"/>
              <a:ext cx="8357357" cy="5809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r>
                <a:rPr kumimoji="1" lang="en-US" altLang="zh-CN" sz="4000" b="1" dirty="0">
                  <a:solidFill>
                    <a:srgbClr val="C00000"/>
                  </a:solidFill>
                  <a:latin typeface="华文楷体" panose="02010600040101010101" pitchFamily="2" charset="-122"/>
                  <a:ea typeface="华文楷体" panose="02010600040101010101" pitchFamily="2" charset="-122"/>
                </a:rPr>
                <a:t>Self-attention: Mechanism</a:t>
              </a:r>
            </a:p>
          </p:txBody>
        </p:sp>
        <p:cxnSp>
          <p:nvCxnSpPr>
            <p:cNvPr id="13" name="直接连接符 12">
              <a:extLst>
                <a:ext uri="{FF2B5EF4-FFF2-40B4-BE49-F238E27FC236}">
                  <a16:creationId xmlns:a16="http://schemas.microsoft.com/office/drawing/2014/main" id="{1DD6E981-4C8C-37F3-223B-B46987D1EC5A}"/>
                </a:ext>
              </a:extLst>
            </p:cNvPr>
            <p:cNvCxnSpPr>
              <a:cxnSpLocks/>
            </p:cNvCxnSpPr>
            <p:nvPr/>
          </p:nvCxnSpPr>
          <p:spPr>
            <a:xfrm>
              <a:off x="574757" y="653125"/>
              <a:ext cx="8250942" cy="0"/>
            </a:xfrm>
            <a:prstGeom prst="line">
              <a:avLst/>
            </a:prstGeom>
            <a:ln w="12700" cap="rnd">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02C81BFF-4154-7A46-2D79-B70B67B3B7AB}"/>
                </a:ext>
              </a:extLst>
            </p:cNvPr>
            <p:cNvSpPr/>
            <p:nvPr/>
          </p:nvSpPr>
          <p:spPr>
            <a:xfrm>
              <a:off x="-6488" y="142486"/>
              <a:ext cx="332509"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4C7CD1B6-1B92-FE96-E220-19CA513456FD}"/>
                </a:ext>
              </a:extLst>
            </p:cNvPr>
            <p:cNvSpPr/>
            <p:nvPr/>
          </p:nvSpPr>
          <p:spPr>
            <a:xfrm>
              <a:off x="367416" y="142486"/>
              <a:ext cx="130866"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TextBox 15">
            <a:extLst>
              <a:ext uri="{FF2B5EF4-FFF2-40B4-BE49-F238E27FC236}">
                <a16:creationId xmlns:a16="http://schemas.microsoft.com/office/drawing/2014/main" id="{2739F001-0F91-5242-DC98-2FDB818B10A0}"/>
              </a:ext>
            </a:extLst>
          </p:cNvPr>
          <p:cNvSpPr txBox="1"/>
          <p:nvPr/>
        </p:nvSpPr>
        <p:spPr>
          <a:xfrm>
            <a:off x="9732275" y="5789569"/>
            <a:ext cx="2294218" cy="369332"/>
          </a:xfrm>
          <a:prstGeom prst="rect">
            <a:avLst/>
          </a:prstGeom>
          <a:noFill/>
        </p:spPr>
        <p:txBody>
          <a:bodyPr wrap="none" rtlCol="0">
            <a:spAutoFit/>
          </a:bodyPr>
          <a:lstStyle/>
          <a:p>
            <a:r>
              <a:rPr lang="en-CN" dirty="0"/>
              <a:t>(Gong &amp; Zhang., 2024)</a:t>
            </a:r>
          </a:p>
        </p:txBody>
      </p:sp>
      <p:pic>
        <p:nvPicPr>
          <p:cNvPr id="4" name="Picture 3">
            <a:extLst>
              <a:ext uri="{FF2B5EF4-FFF2-40B4-BE49-F238E27FC236}">
                <a16:creationId xmlns:a16="http://schemas.microsoft.com/office/drawing/2014/main" id="{F49C4EAC-7C2F-D741-BBEC-D83F6B7CA4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3825" y="842782"/>
            <a:ext cx="4455261" cy="5882434"/>
          </a:xfrm>
          <a:prstGeom prst="rect">
            <a:avLst/>
          </a:prstGeom>
        </p:spPr>
      </p:pic>
      <p:pic>
        <p:nvPicPr>
          <p:cNvPr id="8" name="Picture 7">
            <a:extLst>
              <a:ext uri="{FF2B5EF4-FFF2-40B4-BE49-F238E27FC236}">
                <a16:creationId xmlns:a16="http://schemas.microsoft.com/office/drawing/2014/main" id="{72EFEDA1-01D6-5C67-5EBE-4BA2E2B717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50672" y="1169887"/>
            <a:ext cx="3956368" cy="2734817"/>
          </a:xfrm>
          <a:prstGeom prst="rect">
            <a:avLst/>
          </a:prstGeom>
        </p:spPr>
      </p:pic>
      <p:sp>
        <p:nvSpPr>
          <p:cNvPr id="9" name="TextBox 8">
            <a:extLst>
              <a:ext uri="{FF2B5EF4-FFF2-40B4-BE49-F238E27FC236}">
                <a16:creationId xmlns:a16="http://schemas.microsoft.com/office/drawing/2014/main" id="{C15A2D20-CB70-C1FA-CC11-281B47B36904}"/>
              </a:ext>
            </a:extLst>
          </p:cNvPr>
          <p:cNvSpPr txBox="1"/>
          <p:nvPr/>
        </p:nvSpPr>
        <p:spPr>
          <a:xfrm>
            <a:off x="5254752" y="6036438"/>
            <a:ext cx="4600940" cy="461665"/>
          </a:xfrm>
          <a:prstGeom prst="rect">
            <a:avLst/>
          </a:prstGeom>
          <a:noFill/>
        </p:spPr>
        <p:txBody>
          <a:bodyPr wrap="none" rtlCol="0">
            <a:spAutoFit/>
          </a:bodyPr>
          <a:lstStyle/>
          <a:p>
            <a:r>
              <a:rPr lang="en-CN" sz="2400" dirty="0">
                <a:latin typeface="Kaiti TC" panose="02010600040101010101" pitchFamily="2" charset="-120"/>
                <a:ea typeface="Kaiti TC" panose="02010600040101010101" pitchFamily="2" charset="-120"/>
              </a:rPr>
              <a:t>简单</a:t>
            </a:r>
            <a:r>
              <a:rPr lang="zh-CN" altLang="en-US" sz="2400" dirty="0">
                <a:latin typeface="Kaiti TC" panose="02010600040101010101" pitchFamily="2" charset="-120"/>
                <a:ea typeface="Kaiti TC" panose="02010600040101010101" pitchFamily="2" charset="-120"/>
              </a:rPr>
              <a:t>的可解释 </a:t>
            </a:r>
            <a:r>
              <a:rPr lang="en-US" altLang="zh-CN" sz="2400" dirty="0">
                <a:latin typeface="Kaiti TC" panose="02010600040101010101" pitchFamily="2" charset="-120"/>
                <a:ea typeface="Kaiti TC" panose="02010600040101010101" pitchFamily="2" charset="-120"/>
              </a:rPr>
              <a:t>attention</a:t>
            </a:r>
            <a:r>
              <a:rPr lang="zh-CN" altLang="en-US" sz="2400" dirty="0">
                <a:latin typeface="Kaiti TC" panose="02010600040101010101" pitchFamily="2" charset="-120"/>
                <a:ea typeface="Kaiti TC" panose="02010600040101010101" pitchFamily="2" charset="-120"/>
              </a:rPr>
              <a:t> 模型架构</a:t>
            </a:r>
            <a:endParaRPr lang="en-CN" sz="2400" dirty="0">
              <a:latin typeface="Kaiti TC" panose="02010600040101010101" pitchFamily="2" charset="-120"/>
              <a:ea typeface="Kaiti TC" panose="02010600040101010101" pitchFamily="2" charset="-120"/>
            </a:endParaRPr>
          </a:p>
        </p:txBody>
      </p:sp>
      <p:sp>
        <p:nvSpPr>
          <p:cNvPr id="17" name="TextBox 16">
            <a:extLst>
              <a:ext uri="{FF2B5EF4-FFF2-40B4-BE49-F238E27FC236}">
                <a16:creationId xmlns:a16="http://schemas.microsoft.com/office/drawing/2014/main" id="{4AF4CA17-854B-A9DF-26A5-ADF03D61D4AA}"/>
              </a:ext>
            </a:extLst>
          </p:cNvPr>
          <p:cNvSpPr txBox="1"/>
          <p:nvPr/>
        </p:nvSpPr>
        <p:spPr>
          <a:xfrm>
            <a:off x="6904692" y="3920740"/>
            <a:ext cx="3050835" cy="461665"/>
          </a:xfrm>
          <a:prstGeom prst="rect">
            <a:avLst/>
          </a:prstGeom>
          <a:noFill/>
        </p:spPr>
        <p:txBody>
          <a:bodyPr wrap="none" rtlCol="0">
            <a:spAutoFit/>
          </a:bodyPr>
          <a:lstStyle/>
          <a:p>
            <a:r>
              <a:rPr lang="en-US" sz="2400" dirty="0">
                <a:latin typeface="Kaiti TC" panose="02010600040101010101" pitchFamily="2" charset="-120"/>
                <a:ea typeface="Kaiti TC" panose="02010600040101010101" pitchFamily="2" charset="-120"/>
              </a:rPr>
              <a:t>N-back</a:t>
            </a:r>
            <a:r>
              <a:rPr lang="zh-CN" altLang="en-US" sz="2400" dirty="0">
                <a:latin typeface="Kaiti TC" panose="02010600040101010101" pitchFamily="2" charset="-120"/>
                <a:ea typeface="Kaiti TC" panose="02010600040101010101" pitchFamily="2" charset="-120"/>
              </a:rPr>
              <a:t> 任务训练结果</a:t>
            </a:r>
            <a:endParaRPr lang="en-CN" sz="2400" dirty="0">
              <a:latin typeface="Kaiti TC" panose="02010600040101010101" pitchFamily="2" charset="-120"/>
              <a:ea typeface="Kaiti TC" panose="02010600040101010101" pitchFamily="2" charset="-120"/>
            </a:endParaRPr>
          </a:p>
        </p:txBody>
      </p:sp>
    </p:spTree>
    <p:extLst>
      <p:ext uri="{BB962C8B-B14F-4D97-AF65-F5344CB8AC3E}">
        <p14:creationId xmlns:p14="http://schemas.microsoft.com/office/powerpoint/2010/main" val="33333314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DBAF1-B668-64D1-AF79-8A2A8A6F125B}"/>
            </a:ext>
          </a:extLst>
        </p:cNvPr>
        <p:cNvGrpSpPr/>
        <p:nvPr/>
      </p:nvGrpSpPr>
      <p:grpSpPr>
        <a:xfrm>
          <a:off x="0" y="0"/>
          <a:ext cx="0" cy="0"/>
          <a:chOff x="0" y="0"/>
          <a:chExt cx="0" cy="0"/>
        </a:xfrm>
      </p:grpSpPr>
      <p:grpSp>
        <p:nvGrpSpPr>
          <p:cNvPr id="10" name="组合 9">
            <a:extLst>
              <a:ext uri="{FF2B5EF4-FFF2-40B4-BE49-F238E27FC236}">
                <a16:creationId xmlns:a16="http://schemas.microsoft.com/office/drawing/2014/main" id="{F545E777-E562-CD3C-945D-1B58637F8ED8}"/>
              </a:ext>
            </a:extLst>
          </p:cNvPr>
          <p:cNvGrpSpPr/>
          <p:nvPr/>
        </p:nvGrpSpPr>
        <p:grpSpPr>
          <a:xfrm>
            <a:off x="49794" y="96338"/>
            <a:ext cx="12394359" cy="727165"/>
            <a:chOff x="-6488" y="56364"/>
            <a:chExt cx="9015602" cy="596761"/>
          </a:xfrm>
        </p:grpSpPr>
        <p:sp>
          <p:nvSpPr>
            <p:cNvPr id="11" name="矩形 10">
              <a:extLst>
                <a:ext uri="{FF2B5EF4-FFF2-40B4-BE49-F238E27FC236}">
                  <a16:creationId xmlns:a16="http://schemas.microsoft.com/office/drawing/2014/main" id="{2CFDA5F0-21B4-776A-898E-744800B18473}"/>
                </a:ext>
              </a:extLst>
            </p:cNvPr>
            <p:cNvSpPr/>
            <p:nvPr/>
          </p:nvSpPr>
          <p:spPr>
            <a:xfrm>
              <a:off x="651757" y="56364"/>
              <a:ext cx="8357357" cy="5809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r>
                <a:rPr kumimoji="1" lang="en-US" altLang="zh-CN" sz="4000" b="1" dirty="0">
                  <a:solidFill>
                    <a:srgbClr val="C00000"/>
                  </a:solidFill>
                  <a:latin typeface="华文楷体" panose="02010600040101010101" pitchFamily="2" charset="-122"/>
                  <a:ea typeface="华文楷体" panose="02010600040101010101" pitchFamily="2" charset="-122"/>
                </a:rPr>
                <a:t>Self-attention: Mechanism</a:t>
              </a:r>
            </a:p>
          </p:txBody>
        </p:sp>
        <p:cxnSp>
          <p:nvCxnSpPr>
            <p:cNvPr id="13" name="直接连接符 12">
              <a:extLst>
                <a:ext uri="{FF2B5EF4-FFF2-40B4-BE49-F238E27FC236}">
                  <a16:creationId xmlns:a16="http://schemas.microsoft.com/office/drawing/2014/main" id="{EE3B9FC5-4EC5-F430-5FBA-87274584A34B}"/>
                </a:ext>
              </a:extLst>
            </p:cNvPr>
            <p:cNvCxnSpPr>
              <a:cxnSpLocks/>
            </p:cNvCxnSpPr>
            <p:nvPr/>
          </p:nvCxnSpPr>
          <p:spPr>
            <a:xfrm>
              <a:off x="574757" y="653125"/>
              <a:ext cx="8250942" cy="0"/>
            </a:xfrm>
            <a:prstGeom prst="line">
              <a:avLst/>
            </a:prstGeom>
            <a:ln w="12700" cap="rnd">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35DE5C1B-DD67-AA49-633D-74B5D0FB9FAE}"/>
                </a:ext>
              </a:extLst>
            </p:cNvPr>
            <p:cNvSpPr/>
            <p:nvPr/>
          </p:nvSpPr>
          <p:spPr>
            <a:xfrm>
              <a:off x="-6488" y="142486"/>
              <a:ext cx="332509"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36DA8CC0-E190-2E6E-B143-D5926DFEC9AC}"/>
                </a:ext>
              </a:extLst>
            </p:cNvPr>
            <p:cNvSpPr/>
            <p:nvPr/>
          </p:nvSpPr>
          <p:spPr>
            <a:xfrm>
              <a:off x="367416" y="142486"/>
              <a:ext cx="130866"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TextBox 15">
            <a:extLst>
              <a:ext uri="{FF2B5EF4-FFF2-40B4-BE49-F238E27FC236}">
                <a16:creationId xmlns:a16="http://schemas.microsoft.com/office/drawing/2014/main" id="{BB22F6A0-32F4-4050-9DDB-0E3E99208D2D}"/>
              </a:ext>
            </a:extLst>
          </p:cNvPr>
          <p:cNvSpPr txBox="1"/>
          <p:nvPr/>
        </p:nvSpPr>
        <p:spPr>
          <a:xfrm>
            <a:off x="9732275" y="5789569"/>
            <a:ext cx="2294218" cy="369332"/>
          </a:xfrm>
          <a:prstGeom prst="rect">
            <a:avLst/>
          </a:prstGeom>
          <a:noFill/>
        </p:spPr>
        <p:txBody>
          <a:bodyPr wrap="none" rtlCol="0">
            <a:spAutoFit/>
          </a:bodyPr>
          <a:lstStyle/>
          <a:p>
            <a:r>
              <a:rPr lang="en-CN" dirty="0"/>
              <a:t>(Gong &amp; Zhang., 2024)</a:t>
            </a:r>
          </a:p>
        </p:txBody>
      </p:sp>
      <p:sp>
        <p:nvSpPr>
          <p:cNvPr id="2" name="TextBox 1">
            <a:extLst>
              <a:ext uri="{FF2B5EF4-FFF2-40B4-BE49-F238E27FC236}">
                <a16:creationId xmlns:a16="http://schemas.microsoft.com/office/drawing/2014/main" id="{4E829F6B-3028-A77C-1F01-DA44BCFFF0F9}"/>
              </a:ext>
            </a:extLst>
          </p:cNvPr>
          <p:cNvSpPr txBox="1"/>
          <p:nvPr/>
        </p:nvSpPr>
        <p:spPr>
          <a:xfrm>
            <a:off x="954728" y="1471639"/>
            <a:ext cx="8513869" cy="400110"/>
          </a:xfrm>
          <a:prstGeom prst="rect">
            <a:avLst/>
          </a:prstGeom>
          <a:noFill/>
        </p:spPr>
        <p:txBody>
          <a:bodyPr wrap="none" rtlCol="0">
            <a:spAutoFit/>
          </a:bodyPr>
          <a:lstStyle/>
          <a:p>
            <a:r>
              <a:rPr lang="en-CN" sz="2000" dirty="0">
                <a:latin typeface="Kaiti TC" panose="02010600040101010101" pitchFamily="2" charset="-120"/>
                <a:ea typeface="Kaiti TC" panose="02010600040101010101" pitchFamily="2" charset="-120"/>
              </a:rPr>
              <a:t>Every</a:t>
            </a:r>
            <a:r>
              <a:rPr lang="zh-CN" altLang="en-US" sz="2000" dirty="0">
                <a:latin typeface="Kaiti TC" panose="02010600040101010101" pitchFamily="2" charset="-120"/>
                <a:ea typeface="Kaiti TC" panose="02010600040101010101" pitchFamily="2" charset="-120"/>
              </a:rPr>
              <a:t> </a:t>
            </a:r>
            <a:r>
              <a:rPr lang="en-US" altLang="zh-CN" sz="2000" dirty="0">
                <a:latin typeface="Kaiti TC" panose="02010600040101010101" pitchFamily="2" charset="-120"/>
                <a:ea typeface="Kaiti TC" panose="02010600040101010101" pitchFamily="2" charset="-120"/>
              </a:rPr>
              <a:t>symbol in sequence will be embedded accompanied with position coding:</a:t>
            </a:r>
            <a:endParaRPr lang="en-CN" sz="2000" dirty="0">
              <a:latin typeface="Kaiti TC" panose="02010600040101010101" pitchFamily="2" charset="-120"/>
              <a:ea typeface="Kaiti TC" panose="02010600040101010101" pitchFamily="2" charset="-120"/>
            </a:endParaRPr>
          </a:p>
        </p:txBody>
      </p:sp>
      <p:sp>
        <p:nvSpPr>
          <p:cNvPr id="3" name="TextBox 2">
            <a:extLst>
              <a:ext uri="{FF2B5EF4-FFF2-40B4-BE49-F238E27FC236}">
                <a16:creationId xmlns:a16="http://schemas.microsoft.com/office/drawing/2014/main" id="{4F255D1D-504B-B809-6389-CB3A59C7D24B}"/>
              </a:ext>
            </a:extLst>
          </p:cNvPr>
          <p:cNvSpPr txBox="1"/>
          <p:nvPr/>
        </p:nvSpPr>
        <p:spPr>
          <a:xfrm>
            <a:off x="395416" y="1009974"/>
            <a:ext cx="3211135" cy="461665"/>
          </a:xfrm>
          <a:prstGeom prst="rect">
            <a:avLst/>
          </a:prstGeom>
          <a:noFill/>
        </p:spPr>
        <p:txBody>
          <a:bodyPr wrap="none" rtlCol="0">
            <a:spAutoFit/>
          </a:bodyPr>
          <a:lstStyle/>
          <a:p>
            <a:r>
              <a:rPr lang="en-CN" sz="2400" b="1" dirty="0">
                <a:latin typeface="Kaiti TC" panose="02010600040101010101" pitchFamily="2" charset="-120"/>
                <a:ea typeface="Kaiti TC" panose="02010600040101010101" pitchFamily="2" charset="-120"/>
              </a:rPr>
              <a:t>What happened indeed?</a:t>
            </a:r>
          </a:p>
        </p:txBody>
      </p:sp>
      <p:pic>
        <p:nvPicPr>
          <p:cNvPr id="6" name="Picture 5">
            <a:extLst>
              <a:ext uri="{FF2B5EF4-FFF2-40B4-BE49-F238E27FC236}">
                <a16:creationId xmlns:a16="http://schemas.microsoft.com/office/drawing/2014/main" id="{8153A974-0D37-3A41-65C9-E629F08031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81538" y="1808684"/>
            <a:ext cx="2197100" cy="711200"/>
          </a:xfrm>
          <a:prstGeom prst="rect">
            <a:avLst/>
          </a:prstGeom>
        </p:spPr>
      </p:pic>
      <p:sp>
        <p:nvSpPr>
          <p:cNvPr id="12" name="TextBox 11">
            <a:extLst>
              <a:ext uri="{FF2B5EF4-FFF2-40B4-BE49-F238E27FC236}">
                <a16:creationId xmlns:a16="http://schemas.microsoft.com/office/drawing/2014/main" id="{55E4D568-2760-04E6-99C0-136FDF1CD5A2}"/>
              </a:ext>
            </a:extLst>
          </p:cNvPr>
          <p:cNvSpPr txBox="1"/>
          <p:nvPr/>
        </p:nvSpPr>
        <p:spPr>
          <a:xfrm>
            <a:off x="954728" y="2519884"/>
            <a:ext cx="7338869" cy="400110"/>
          </a:xfrm>
          <a:prstGeom prst="rect">
            <a:avLst/>
          </a:prstGeom>
          <a:noFill/>
        </p:spPr>
        <p:txBody>
          <a:bodyPr wrap="none" rtlCol="0">
            <a:spAutoFit/>
          </a:bodyPr>
          <a:lstStyle/>
          <a:p>
            <a:r>
              <a:rPr lang="en-US" sz="2000" dirty="0">
                <a:latin typeface="Kaiti TC" panose="02010600040101010101" pitchFamily="2" charset="-120"/>
                <a:ea typeface="Kaiti TC" panose="02010600040101010101" pitchFamily="2" charset="-120"/>
              </a:rPr>
              <a:t>And all those token embeddings will be projected into three spaces</a:t>
            </a:r>
            <a:r>
              <a:rPr lang="en-US" altLang="zh-CN" sz="2000" dirty="0">
                <a:latin typeface="Kaiti TC" panose="02010600040101010101" pitchFamily="2" charset="-120"/>
                <a:ea typeface="Kaiti TC" panose="02010600040101010101" pitchFamily="2" charset="-120"/>
              </a:rPr>
              <a:t>:</a:t>
            </a:r>
            <a:endParaRPr lang="en-CN" sz="2000" dirty="0">
              <a:latin typeface="Kaiti TC" panose="02010600040101010101" pitchFamily="2" charset="-120"/>
              <a:ea typeface="Kaiti TC" panose="02010600040101010101" pitchFamily="2" charset="-120"/>
            </a:endParaRPr>
          </a:p>
        </p:txBody>
      </p:sp>
      <p:pic>
        <p:nvPicPr>
          <p:cNvPr id="19" name="Picture 18">
            <a:extLst>
              <a:ext uri="{FF2B5EF4-FFF2-40B4-BE49-F238E27FC236}">
                <a16:creationId xmlns:a16="http://schemas.microsoft.com/office/drawing/2014/main" id="{26139DEB-6548-16B0-7B37-E2B29FD525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08350" y="2990007"/>
            <a:ext cx="5575300" cy="508000"/>
          </a:xfrm>
          <a:prstGeom prst="rect">
            <a:avLst/>
          </a:prstGeom>
        </p:spPr>
      </p:pic>
      <p:sp>
        <p:nvSpPr>
          <p:cNvPr id="21" name="TextBox 20">
            <a:extLst>
              <a:ext uri="{FF2B5EF4-FFF2-40B4-BE49-F238E27FC236}">
                <a16:creationId xmlns:a16="http://schemas.microsoft.com/office/drawing/2014/main" id="{2776704D-B453-CAAD-E114-B70547FC91DF}"/>
              </a:ext>
            </a:extLst>
          </p:cNvPr>
          <p:cNvSpPr txBox="1"/>
          <p:nvPr/>
        </p:nvSpPr>
        <p:spPr>
          <a:xfrm>
            <a:off x="954728" y="3701378"/>
            <a:ext cx="6288901" cy="400110"/>
          </a:xfrm>
          <a:prstGeom prst="rect">
            <a:avLst/>
          </a:prstGeom>
          <a:noFill/>
        </p:spPr>
        <p:txBody>
          <a:bodyPr wrap="none" rtlCol="0">
            <a:spAutoFit/>
          </a:bodyPr>
          <a:lstStyle/>
          <a:p>
            <a:r>
              <a:rPr lang="en-US" altLang="zh-CN" sz="2000" dirty="0">
                <a:latin typeface="Kaiti TC" panose="02010600040101010101" pitchFamily="2" charset="-120"/>
                <a:ea typeface="Kaiti TC" panose="02010600040101010101" pitchFamily="2" charset="-120"/>
              </a:rPr>
              <a:t>Current position(</a:t>
            </a:r>
            <a:r>
              <a:rPr lang="en-US" altLang="zh-CN" sz="2000" dirty="0" err="1">
                <a:latin typeface="Kaiti TC" panose="02010600040101010101" pitchFamily="2" charset="-120"/>
                <a:ea typeface="Kaiti TC" panose="02010600040101010101" pitchFamily="2" charset="-120"/>
              </a:rPr>
              <a:t>i</a:t>
            </a:r>
            <a:r>
              <a:rPr lang="en-US" altLang="zh-CN" sz="2000" dirty="0">
                <a:latin typeface="Kaiti TC" panose="02010600040101010101" pitchFamily="2" charset="-120"/>
                <a:ea typeface="Kaiti TC" panose="02010600040101010101" pitchFamily="2" charset="-120"/>
              </a:rPr>
              <a:t>) will give a score on history position(j):</a:t>
            </a:r>
            <a:endParaRPr lang="en-CN" sz="2000" dirty="0">
              <a:latin typeface="Kaiti TC" panose="02010600040101010101" pitchFamily="2" charset="-120"/>
              <a:ea typeface="Kaiti TC" panose="02010600040101010101" pitchFamily="2" charset="-120"/>
            </a:endParaRPr>
          </a:p>
        </p:txBody>
      </p:sp>
      <p:pic>
        <p:nvPicPr>
          <p:cNvPr id="23" name="Picture 22">
            <a:extLst>
              <a:ext uri="{FF2B5EF4-FFF2-40B4-BE49-F238E27FC236}">
                <a16:creationId xmlns:a16="http://schemas.microsoft.com/office/drawing/2014/main" id="{83925EA8-D9A4-07B3-37C9-CD084E34EF2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26038" y="4095472"/>
            <a:ext cx="1308100" cy="787400"/>
          </a:xfrm>
          <a:prstGeom prst="rect">
            <a:avLst/>
          </a:prstGeom>
        </p:spPr>
      </p:pic>
      <p:pic>
        <p:nvPicPr>
          <p:cNvPr id="25" name="Picture 24">
            <a:extLst>
              <a:ext uri="{FF2B5EF4-FFF2-40B4-BE49-F238E27FC236}">
                <a16:creationId xmlns:a16="http://schemas.microsoft.com/office/drawing/2014/main" id="{FC766536-3FC3-EAF0-0EFB-8E73E05AC26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074988" y="5363263"/>
            <a:ext cx="5410200" cy="863600"/>
          </a:xfrm>
          <a:prstGeom prst="rect">
            <a:avLst/>
          </a:prstGeom>
        </p:spPr>
      </p:pic>
      <p:sp>
        <p:nvSpPr>
          <p:cNvPr id="26" name="TextBox 25">
            <a:extLst>
              <a:ext uri="{FF2B5EF4-FFF2-40B4-BE49-F238E27FC236}">
                <a16:creationId xmlns:a16="http://schemas.microsoft.com/office/drawing/2014/main" id="{3CC715F7-986F-0F05-C83A-CA6468843B84}"/>
              </a:ext>
            </a:extLst>
          </p:cNvPr>
          <p:cNvSpPr txBox="1"/>
          <p:nvPr/>
        </p:nvSpPr>
        <p:spPr>
          <a:xfrm>
            <a:off x="954728" y="4923012"/>
            <a:ext cx="6377067" cy="400110"/>
          </a:xfrm>
          <a:prstGeom prst="rect">
            <a:avLst/>
          </a:prstGeom>
          <a:noFill/>
        </p:spPr>
        <p:txBody>
          <a:bodyPr wrap="none" rtlCol="0">
            <a:spAutoFit/>
          </a:bodyPr>
          <a:lstStyle/>
          <a:p>
            <a:r>
              <a:rPr lang="en-US" altLang="zh-CN" sz="2000" dirty="0">
                <a:latin typeface="Kaiti TC" panose="02010600040101010101" pitchFamily="2" charset="-120"/>
                <a:ea typeface="Kaiti TC" panose="02010600040101010101" pitchFamily="2" charset="-120"/>
              </a:rPr>
              <a:t>Attention weight will be calculated based on masked score:</a:t>
            </a:r>
            <a:endParaRPr lang="en-CN" sz="2000" dirty="0">
              <a:latin typeface="Kaiti TC" panose="02010600040101010101" pitchFamily="2" charset="-120"/>
              <a:ea typeface="Kaiti TC" panose="02010600040101010101" pitchFamily="2" charset="-120"/>
            </a:endParaRPr>
          </a:p>
        </p:txBody>
      </p:sp>
    </p:spTree>
    <p:extLst>
      <p:ext uri="{BB962C8B-B14F-4D97-AF65-F5344CB8AC3E}">
        <p14:creationId xmlns:p14="http://schemas.microsoft.com/office/powerpoint/2010/main" val="41203756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C8FC1-9FAB-CEF4-DD6A-B6C5697BA7E7}"/>
            </a:ext>
          </a:extLst>
        </p:cNvPr>
        <p:cNvGrpSpPr/>
        <p:nvPr/>
      </p:nvGrpSpPr>
      <p:grpSpPr>
        <a:xfrm>
          <a:off x="0" y="0"/>
          <a:ext cx="0" cy="0"/>
          <a:chOff x="0" y="0"/>
          <a:chExt cx="0" cy="0"/>
        </a:xfrm>
      </p:grpSpPr>
      <p:grpSp>
        <p:nvGrpSpPr>
          <p:cNvPr id="10" name="组合 9">
            <a:extLst>
              <a:ext uri="{FF2B5EF4-FFF2-40B4-BE49-F238E27FC236}">
                <a16:creationId xmlns:a16="http://schemas.microsoft.com/office/drawing/2014/main" id="{611F84CF-2649-F627-7333-694070A5FBDC}"/>
              </a:ext>
            </a:extLst>
          </p:cNvPr>
          <p:cNvGrpSpPr/>
          <p:nvPr/>
        </p:nvGrpSpPr>
        <p:grpSpPr>
          <a:xfrm>
            <a:off x="49794" y="96338"/>
            <a:ext cx="12394359" cy="727165"/>
            <a:chOff x="-6488" y="56364"/>
            <a:chExt cx="9015602" cy="596761"/>
          </a:xfrm>
        </p:grpSpPr>
        <p:sp>
          <p:nvSpPr>
            <p:cNvPr id="11" name="矩形 10">
              <a:extLst>
                <a:ext uri="{FF2B5EF4-FFF2-40B4-BE49-F238E27FC236}">
                  <a16:creationId xmlns:a16="http://schemas.microsoft.com/office/drawing/2014/main" id="{481B511A-F352-1E1E-495E-68033EEA06EB}"/>
                </a:ext>
              </a:extLst>
            </p:cNvPr>
            <p:cNvSpPr/>
            <p:nvPr/>
          </p:nvSpPr>
          <p:spPr>
            <a:xfrm>
              <a:off x="651757" y="56364"/>
              <a:ext cx="8357357" cy="5809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r>
                <a:rPr kumimoji="1" lang="en-US" altLang="zh-CN" sz="4000" b="1" dirty="0">
                  <a:solidFill>
                    <a:srgbClr val="C00000"/>
                  </a:solidFill>
                  <a:latin typeface="华文楷体" panose="02010600040101010101" pitchFamily="2" charset="-122"/>
                  <a:ea typeface="华文楷体" panose="02010600040101010101" pitchFamily="2" charset="-122"/>
                </a:rPr>
                <a:t>Self-attention: Mechanism</a:t>
              </a:r>
            </a:p>
          </p:txBody>
        </p:sp>
        <p:cxnSp>
          <p:nvCxnSpPr>
            <p:cNvPr id="13" name="直接连接符 12">
              <a:extLst>
                <a:ext uri="{FF2B5EF4-FFF2-40B4-BE49-F238E27FC236}">
                  <a16:creationId xmlns:a16="http://schemas.microsoft.com/office/drawing/2014/main" id="{9A2D5A43-1CB9-3B1B-3D7D-CA40F297093B}"/>
                </a:ext>
              </a:extLst>
            </p:cNvPr>
            <p:cNvCxnSpPr>
              <a:cxnSpLocks/>
            </p:cNvCxnSpPr>
            <p:nvPr/>
          </p:nvCxnSpPr>
          <p:spPr>
            <a:xfrm>
              <a:off x="574757" y="653125"/>
              <a:ext cx="8250942" cy="0"/>
            </a:xfrm>
            <a:prstGeom prst="line">
              <a:avLst/>
            </a:prstGeom>
            <a:ln w="12700" cap="rnd">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03605AD3-B0A2-6210-AA56-D81CD62FF40A}"/>
                </a:ext>
              </a:extLst>
            </p:cNvPr>
            <p:cNvSpPr/>
            <p:nvPr/>
          </p:nvSpPr>
          <p:spPr>
            <a:xfrm>
              <a:off x="-6488" y="142486"/>
              <a:ext cx="332509"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1039EB36-414A-457F-7FDA-C91E7F4A84B5}"/>
                </a:ext>
              </a:extLst>
            </p:cNvPr>
            <p:cNvSpPr/>
            <p:nvPr/>
          </p:nvSpPr>
          <p:spPr>
            <a:xfrm>
              <a:off x="367416" y="142486"/>
              <a:ext cx="130866"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TextBox 15">
            <a:extLst>
              <a:ext uri="{FF2B5EF4-FFF2-40B4-BE49-F238E27FC236}">
                <a16:creationId xmlns:a16="http://schemas.microsoft.com/office/drawing/2014/main" id="{CC579B41-DFA0-20BB-E93D-2CACA35E357E}"/>
              </a:ext>
            </a:extLst>
          </p:cNvPr>
          <p:cNvSpPr txBox="1"/>
          <p:nvPr/>
        </p:nvSpPr>
        <p:spPr>
          <a:xfrm>
            <a:off x="9732275" y="5789569"/>
            <a:ext cx="2294218" cy="369332"/>
          </a:xfrm>
          <a:prstGeom prst="rect">
            <a:avLst/>
          </a:prstGeom>
          <a:noFill/>
        </p:spPr>
        <p:txBody>
          <a:bodyPr wrap="none" rtlCol="0">
            <a:spAutoFit/>
          </a:bodyPr>
          <a:lstStyle/>
          <a:p>
            <a:r>
              <a:rPr lang="en-CN" dirty="0"/>
              <a:t>(Gong &amp; Zhang., 2024)</a:t>
            </a:r>
          </a:p>
        </p:txBody>
      </p:sp>
      <p:sp>
        <p:nvSpPr>
          <p:cNvPr id="2" name="TextBox 1">
            <a:extLst>
              <a:ext uri="{FF2B5EF4-FFF2-40B4-BE49-F238E27FC236}">
                <a16:creationId xmlns:a16="http://schemas.microsoft.com/office/drawing/2014/main" id="{2373D7B2-4754-4E84-0D96-4CDD504432F8}"/>
              </a:ext>
            </a:extLst>
          </p:cNvPr>
          <p:cNvSpPr txBox="1"/>
          <p:nvPr/>
        </p:nvSpPr>
        <p:spPr>
          <a:xfrm>
            <a:off x="954728" y="1471639"/>
            <a:ext cx="6599884" cy="400110"/>
          </a:xfrm>
          <a:prstGeom prst="rect">
            <a:avLst/>
          </a:prstGeom>
          <a:noFill/>
        </p:spPr>
        <p:txBody>
          <a:bodyPr wrap="none" rtlCol="0">
            <a:spAutoFit/>
          </a:bodyPr>
          <a:lstStyle/>
          <a:p>
            <a:r>
              <a:rPr lang="en-US" altLang="zh-CN" sz="2000" dirty="0">
                <a:latin typeface="Kaiti TC" panose="02010600040101010101" pitchFamily="2" charset="-120"/>
                <a:ea typeface="Kaiti TC" panose="02010600040101010101" pitchFamily="2" charset="-120"/>
              </a:rPr>
              <a:t>Current output will be calculated based on attention weight:</a:t>
            </a:r>
            <a:endParaRPr lang="en-CN" sz="2000" dirty="0">
              <a:latin typeface="Kaiti TC" panose="02010600040101010101" pitchFamily="2" charset="-120"/>
              <a:ea typeface="Kaiti TC" panose="02010600040101010101" pitchFamily="2" charset="-120"/>
            </a:endParaRPr>
          </a:p>
        </p:txBody>
      </p:sp>
      <p:sp>
        <p:nvSpPr>
          <p:cNvPr id="3" name="TextBox 2">
            <a:extLst>
              <a:ext uri="{FF2B5EF4-FFF2-40B4-BE49-F238E27FC236}">
                <a16:creationId xmlns:a16="http://schemas.microsoft.com/office/drawing/2014/main" id="{D1D1B62D-4DCE-509F-C998-68A500574509}"/>
              </a:ext>
            </a:extLst>
          </p:cNvPr>
          <p:cNvSpPr txBox="1"/>
          <p:nvPr/>
        </p:nvSpPr>
        <p:spPr>
          <a:xfrm>
            <a:off x="395416" y="1009974"/>
            <a:ext cx="3211135" cy="461665"/>
          </a:xfrm>
          <a:prstGeom prst="rect">
            <a:avLst/>
          </a:prstGeom>
          <a:noFill/>
        </p:spPr>
        <p:txBody>
          <a:bodyPr wrap="none" rtlCol="0">
            <a:spAutoFit/>
          </a:bodyPr>
          <a:lstStyle/>
          <a:p>
            <a:r>
              <a:rPr lang="en-CN" sz="2400" b="1" dirty="0">
                <a:latin typeface="Kaiti TC" panose="02010600040101010101" pitchFamily="2" charset="-120"/>
                <a:ea typeface="Kaiti TC" panose="02010600040101010101" pitchFamily="2" charset="-120"/>
              </a:rPr>
              <a:t>What happened indeed?</a:t>
            </a:r>
          </a:p>
        </p:txBody>
      </p:sp>
      <p:pic>
        <p:nvPicPr>
          <p:cNvPr id="5" name="Picture 4">
            <a:extLst>
              <a:ext uri="{FF2B5EF4-FFF2-40B4-BE49-F238E27FC236}">
                <a16:creationId xmlns:a16="http://schemas.microsoft.com/office/drawing/2014/main" id="{63FFADD9-AD02-7C0A-71FD-2CE23E477E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97438" y="1757667"/>
            <a:ext cx="1765300" cy="876300"/>
          </a:xfrm>
          <a:prstGeom prst="rect">
            <a:avLst/>
          </a:prstGeom>
        </p:spPr>
      </p:pic>
      <p:sp>
        <p:nvSpPr>
          <p:cNvPr id="7" name="TextBox 6">
            <a:extLst>
              <a:ext uri="{FF2B5EF4-FFF2-40B4-BE49-F238E27FC236}">
                <a16:creationId xmlns:a16="http://schemas.microsoft.com/office/drawing/2014/main" id="{CB7F5F51-7CF8-5A7B-0BB1-EDC73BD4AEDB}"/>
              </a:ext>
            </a:extLst>
          </p:cNvPr>
          <p:cNvSpPr txBox="1"/>
          <p:nvPr/>
        </p:nvSpPr>
        <p:spPr>
          <a:xfrm>
            <a:off x="506917" y="2689162"/>
            <a:ext cx="11432938" cy="461665"/>
          </a:xfrm>
          <a:prstGeom prst="rect">
            <a:avLst/>
          </a:prstGeom>
          <a:noFill/>
        </p:spPr>
        <p:txBody>
          <a:bodyPr wrap="none" rtlCol="0">
            <a:spAutoFit/>
          </a:bodyPr>
          <a:lstStyle/>
          <a:p>
            <a:r>
              <a:rPr lang="en-CN" sz="2400" dirty="0">
                <a:latin typeface="Kaiti TC" panose="02010600040101010101" pitchFamily="2" charset="-120"/>
                <a:ea typeface="Kaiti TC" panose="02010600040101010101" pitchFamily="2" charset="-120"/>
              </a:rPr>
              <a:t>Then, with the assumption that targeted position is t = i-N, we could run the calculation</a:t>
            </a:r>
          </a:p>
        </p:txBody>
      </p:sp>
      <p:pic>
        <p:nvPicPr>
          <p:cNvPr id="9" name="Picture 8">
            <a:extLst>
              <a:ext uri="{FF2B5EF4-FFF2-40B4-BE49-F238E27FC236}">
                <a16:creationId xmlns:a16="http://schemas.microsoft.com/office/drawing/2014/main" id="{11176871-428C-4E9F-96D6-D7EF6A28DCE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03041" y="3150827"/>
            <a:ext cx="3385917" cy="3326173"/>
          </a:xfrm>
          <a:prstGeom prst="rect">
            <a:avLst/>
          </a:prstGeom>
        </p:spPr>
      </p:pic>
    </p:spTree>
    <p:extLst>
      <p:ext uri="{BB962C8B-B14F-4D97-AF65-F5344CB8AC3E}">
        <p14:creationId xmlns:p14="http://schemas.microsoft.com/office/powerpoint/2010/main" val="12682327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F04C3-72D9-8A78-D1C8-951765560709}"/>
            </a:ext>
          </a:extLst>
        </p:cNvPr>
        <p:cNvGrpSpPr/>
        <p:nvPr/>
      </p:nvGrpSpPr>
      <p:grpSpPr>
        <a:xfrm>
          <a:off x="0" y="0"/>
          <a:ext cx="0" cy="0"/>
          <a:chOff x="0" y="0"/>
          <a:chExt cx="0" cy="0"/>
        </a:xfrm>
      </p:grpSpPr>
      <p:grpSp>
        <p:nvGrpSpPr>
          <p:cNvPr id="10" name="组合 9">
            <a:extLst>
              <a:ext uri="{FF2B5EF4-FFF2-40B4-BE49-F238E27FC236}">
                <a16:creationId xmlns:a16="http://schemas.microsoft.com/office/drawing/2014/main" id="{A95975F0-E4EC-A003-534E-EDF1F9CC5D75}"/>
              </a:ext>
            </a:extLst>
          </p:cNvPr>
          <p:cNvGrpSpPr/>
          <p:nvPr/>
        </p:nvGrpSpPr>
        <p:grpSpPr>
          <a:xfrm>
            <a:off x="49794" y="96338"/>
            <a:ext cx="12394359" cy="727165"/>
            <a:chOff x="-6488" y="56364"/>
            <a:chExt cx="9015602" cy="596761"/>
          </a:xfrm>
        </p:grpSpPr>
        <p:sp>
          <p:nvSpPr>
            <p:cNvPr id="11" name="矩形 10">
              <a:extLst>
                <a:ext uri="{FF2B5EF4-FFF2-40B4-BE49-F238E27FC236}">
                  <a16:creationId xmlns:a16="http://schemas.microsoft.com/office/drawing/2014/main" id="{0ED0566A-8AD7-7226-8931-C77F4BD79E4B}"/>
                </a:ext>
              </a:extLst>
            </p:cNvPr>
            <p:cNvSpPr/>
            <p:nvPr/>
          </p:nvSpPr>
          <p:spPr>
            <a:xfrm>
              <a:off x="651757" y="56364"/>
              <a:ext cx="8357357" cy="5809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r>
                <a:rPr kumimoji="1" lang="en-US" altLang="zh-CN" sz="4000" b="1" dirty="0">
                  <a:solidFill>
                    <a:srgbClr val="C00000"/>
                  </a:solidFill>
                  <a:latin typeface="华文楷体" panose="02010600040101010101" pitchFamily="2" charset="-122"/>
                  <a:ea typeface="华文楷体" panose="02010600040101010101" pitchFamily="2" charset="-122"/>
                </a:rPr>
                <a:t>Self-attention: Mechanism</a:t>
              </a:r>
            </a:p>
          </p:txBody>
        </p:sp>
        <p:cxnSp>
          <p:nvCxnSpPr>
            <p:cNvPr id="13" name="直接连接符 12">
              <a:extLst>
                <a:ext uri="{FF2B5EF4-FFF2-40B4-BE49-F238E27FC236}">
                  <a16:creationId xmlns:a16="http://schemas.microsoft.com/office/drawing/2014/main" id="{CA260363-7AD4-2901-54DF-235648BEE541}"/>
                </a:ext>
              </a:extLst>
            </p:cNvPr>
            <p:cNvCxnSpPr>
              <a:cxnSpLocks/>
            </p:cNvCxnSpPr>
            <p:nvPr/>
          </p:nvCxnSpPr>
          <p:spPr>
            <a:xfrm>
              <a:off x="574757" y="653125"/>
              <a:ext cx="8250942" cy="0"/>
            </a:xfrm>
            <a:prstGeom prst="line">
              <a:avLst/>
            </a:prstGeom>
            <a:ln w="12700" cap="rnd">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A645847A-D0E9-C0AA-D28C-2DE9AD57342A}"/>
                </a:ext>
              </a:extLst>
            </p:cNvPr>
            <p:cNvSpPr/>
            <p:nvPr/>
          </p:nvSpPr>
          <p:spPr>
            <a:xfrm>
              <a:off x="-6488" y="142486"/>
              <a:ext cx="332509"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7F2B58BD-329A-FFCF-C59C-40B5F0197904}"/>
                </a:ext>
              </a:extLst>
            </p:cNvPr>
            <p:cNvSpPr/>
            <p:nvPr/>
          </p:nvSpPr>
          <p:spPr>
            <a:xfrm>
              <a:off x="367416" y="142486"/>
              <a:ext cx="130866"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TextBox 15">
            <a:extLst>
              <a:ext uri="{FF2B5EF4-FFF2-40B4-BE49-F238E27FC236}">
                <a16:creationId xmlns:a16="http://schemas.microsoft.com/office/drawing/2014/main" id="{66C36692-1ECC-DAF9-B102-C1A401874C31}"/>
              </a:ext>
            </a:extLst>
          </p:cNvPr>
          <p:cNvSpPr txBox="1"/>
          <p:nvPr/>
        </p:nvSpPr>
        <p:spPr>
          <a:xfrm>
            <a:off x="9732275" y="5789569"/>
            <a:ext cx="2294218" cy="369332"/>
          </a:xfrm>
          <a:prstGeom prst="rect">
            <a:avLst/>
          </a:prstGeom>
          <a:noFill/>
        </p:spPr>
        <p:txBody>
          <a:bodyPr wrap="none" rtlCol="0">
            <a:spAutoFit/>
          </a:bodyPr>
          <a:lstStyle/>
          <a:p>
            <a:r>
              <a:rPr lang="en-CN" dirty="0"/>
              <a:t>(Gong &amp; Zhang., 2024)</a:t>
            </a:r>
          </a:p>
        </p:txBody>
      </p:sp>
      <p:sp>
        <p:nvSpPr>
          <p:cNvPr id="4" name="TextBox 3">
            <a:extLst>
              <a:ext uri="{FF2B5EF4-FFF2-40B4-BE49-F238E27FC236}">
                <a16:creationId xmlns:a16="http://schemas.microsoft.com/office/drawing/2014/main" id="{7D92510A-84CC-6F1C-20FE-FA0B15431EF6}"/>
              </a:ext>
            </a:extLst>
          </p:cNvPr>
          <p:cNvSpPr txBox="1"/>
          <p:nvPr/>
        </p:nvSpPr>
        <p:spPr>
          <a:xfrm>
            <a:off x="278355" y="1066800"/>
            <a:ext cx="10554745" cy="830997"/>
          </a:xfrm>
          <a:prstGeom prst="rect">
            <a:avLst/>
          </a:prstGeom>
          <a:noFill/>
        </p:spPr>
        <p:txBody>
          <a:bodyPr wrap="square" rtlCol="0">
            <a:spAutoFit/>
          </a:bodyPr>
          <a:lstStyle/>
          <a:p>
            <a:r>
              <a:rPr lang="en-CN" sz="2400" dirty="0">
                <a:latin typeface="Kaiti TC" panose="02010600040101010101" pitchFamily="2" charset="-120"/>
                <a:ea typeface="Kaiti TC" panose="02010600040101010101" pitchFamily="2" charset="-120"/>
              </a:rPr>
              <a:t>Above calculation implicates that higher a_i will give higher accuracy, hence the model should enhance cetain amplitude</a:t>
            </a:r>
          </a:p>
        </p:txBody>
      </p:sp>
      <p:pic>
        <p:nvPicPr>
          <p:cNvPr id="8" name="Picture 7">
            <a:extLst>
              <a:ext uri="{FF2B5EF4-FFF2-40B4-BE49-F238E27FC236}">
                <a16:creationId xmlns:a16="http://schemas.microsoft.com/office/drawing/2014/main" id="{2D2683CD-B386-79E0-DA47-E38CCF4B68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0174" y="1971248"/>
            <a:ext cx="8351652" cy="3744869"/>
          </a:xfrm>
          <a:prstGeom prst="rect">
            <a:avLst/>
          </a:prstGeom>
        </p:spPr>
      </p:pic>
    </p:spTree>
    <p:extLst>
      <p:ext uri="{BB962C8B-B14F-4D97-AF65-F5344CB8AC3E}">
        <p14:creationId xmlns:p14="http://schemas.microsoft.com/office/powerpoint/2010/main" val="24520434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1EE8D-5C8F-F991-DD93-B6C456E129A8}"/>
            </a:ext>
          </a:extLst>
        </p:cNvPr>
        <p:cNvGrpSpPr/>
        <p:nvPr/>
      </p:nvGrpSpPr>
      <p:grpSpPr>
        <a:xfrm>
          <a:off x="0" y="0"/>
          <a:ext cx="0" cy="0"/>
          <a:chOff x="0" y="0"/>
          <a:chExt cx="0" cy="0"/>
        </a:xfrm>
      </p:grpSpPr>
      <p:grpSp>
        <p:nvGrpSpPr>
          <p:cNvPr id="10" name="组合 9">
            <a:extLst>
              <a:ext uri="{FF2B5EF4-FFF2-40B4-BE49-F238E27FC236}">
                <a16:creationId xmlns:a16="http://schemas.microsoft.com/office/drawing/2014/main" id="{C36F4302-47F9-5A6F-979A-558579E6F756}"/>
              </a:ext>
            </a:extLst>
          </p:cNvPr>
          <p:cNvGrpSpPr/>
          <p:nvPr/>
        </p:nvGrpSpPr>
        <p:grpSpPr>
          <a:xfrm>
            <a:off x="49794" y="96338"/>
            <a:ext cx="12394359" cy="727165"/>
            <a:chOff x="-6488" y="56364"/>
            <a:chExt cx="9015602" cy="596761"/>
          </a:xfrm>
        </p:grpSpPr>
        <p:sp>
          <p:nvSpPr>
            <p:cNvPr id="11" name="矩形 10">
              <a:extLst>
                <a:ext uri="{FF2B5EF4-FFF2-40B4-BE49-F238E27FC236}">
                  <a16:creationId xmlns:a16="http://schemas.microsoft.com/office/drawing/2014/main" id="{439601B2-3F36-6289-85FB-4D847F3128A0}"/>
                </a:ext>
              </a:extLst>
            </p:cNvPr>
            <p:cNvSpPr/>
            <p:nvPr/>
          </p:nvSpPr>
          <p:spPr>
            <a:xfrm>
              <a:off x="651757" y="56364"/>
              <a:ext cx="8357357" cy="5809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r>
                <a:rPr kumimoji="1" lang="en-US" altLang="zh-CN" sz="4000" b="1" dirty="0">
                  <a:solidFill>
                    <a:srgbClr val="C00000"/>
                  </a:solidFill>
                  <a:latin typeface="华文楷体" panose="02010600040101010101" pitchFamily="2" charset="-122"/>
                  <a:ea typeface="华文楷体" panose="02010600040101010101" pitchFamily="2" charset="-122"/>
                </a:rPr>
                <a:t>Self-attention: Mechanism</a:t>
              </a:r>
            </a:p>
          </p:txBody>
        </p:sp>
        <p:cxnSp>
          <p:nvCxnSpPr>
            <p:cNvPr id="13" name="直接连接符 12">
              <a:extLst>
                <a:ext uri="{FF2B5EF4-FFF2-40B4-BE49-F238E27FC236}">
                  <a16:creationId xmlns:a16="http://schemas.microsoft.com/office/drawing/2014/main" id="{781A07AA-182A-92EA-DDA5-D22EAAB256BA}"/>
                </a:ext>
              </a:extLst>
            </p:cNvPr>
            <p:cNvCxnSpPr>
              <a:cxnSpLocks/>
            </p:cNvCxnSpPr>
            <p:nvPr/>
          </p:nvCxnSpPr>
          <p:spPr>
            <a:xfrm>
              <a:off x="574757" y="653125"/>
              <a:ext cx="8250942" cy="0"/>
            </a:xfrm>
            <a:prstGeom prst="line">
              <a:avLst/>
            </a:prstGeom>
            <a:ln w="12700" cap="rnd">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C8BEB458-91F5-584B-81EF-96E86737668A}"/>
                </a:ext>
              </a:extLst>
            </p:cNvPr>
            <p:cNvSpPr/>
            <p:nvPr/>
          </p:nvSpPr>
          <p:spPr>
            <a:xfrm>
              <a:off x="-6488" y="142486"/>
              <a:ext cx="332509"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A8FF52B9-F7F0-10CD-4ACD-6221B0AF2495}"/>
                </a:ext>
              </a:extLst>
            </p:cNvPr>
            <p:cNvSpPr/>
            <p:nvPr/>
          </p:nvSpPr>
          <p:spPr>
            <a:xfrm>
              <a:off x="367416" y="142486"/>
              <a:ext cx="130866"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TextBox 15">
            <a:extLst>
              <a:ext uri="{FF2B5EF4-FFF2-40B4-BE49-F238E27FC236}">
                <a16:creationId xmlns:a16="http://schemas.microsoft.com/office/drawing/2014/main" id="{25F7F895-A598-1F72-AF8C-6BE80ACA920F}"/>
              </a:ext>
            </a:extLst>
          </p:cNvPr>
          <p:cNvSpPr txBox="1"/>
          <p:nvPr/>
        </p:nvSpPr>
        <p:spPr>
          <a:xfrm>
            <a:off x="9732275" y="5789569"/>
            <a:ext cx="2294218" cy="369332"/>
          </a:xfrm>
          <a:prstGeom prst="rect">
            <a:avLst/>
          </a:prstGeom>
          <a:noFill/>
        </p:spPr>
        <p:txBody>
          <a:bodyPr wrap="none" rtlCol="0">
            <a:spAutoFit/>
          </a:bodyPr>
          <a:lstStyle/>
          <a:p>
            <a:r>
              <a:rPr lang="en-CN" dirty="0"/>
              <a:t>(Gong &amp; Zhang., 2024)</a:t>
            </a:r>
          </a:p>
        </p:txBody>
      </p:sp>
      <p:sp>
        <p:nvSpPr>
          <p:cNvPr id="4" name="TextBox 3">
            <a:extLst>
              <a:ext uri="{FF2B5EF4-FFF2-40B4-BE49-F238E27FC236}">
                <a16:creationId xmlns:a16="http://schemas.microsoft.com/office/drawing/2014/main" id="{AA8A1831-8D56-77D8-911B-D1DACB4EE6B3}"/>
              </a:ext>
            </a:extLst>
          </p:cNvPr>
          <p:cNvSpPr txBox="1"/>
          <p:nvPr/>
        </p:nvSpPr>
        <p:spPr>
          <a:xfrm>
            <a:off x="278355" y="1066800"/>
            <a:ext cx="8283037" cy="461665"/>
          </a:xfrm>
          <a:prstGeom prst="rect">
            <a:avLst/>
          </a:prstGeom>
          <a:noFill/>
        </p:spPr>
        <p:txBody>
          <a:bodyPr wrap="none" rtlCol="0">
            <a:spAutoFit/>
          </a:bodyPr>
          <a:lstStyle/>
          <a:p>
            <a:r>
              <a:rPr lang="en-CN" sz="2400" dirty="0">
                <a:latin typeface="Kaiti TC" panose="02010600040101010101" pitchFamily="2" charset="-120"/>
                <a:ea typeface="Kaiti TC" panose="02010600040101010101" pitchFamily="2" charset="-120"/>
              </a:rPr>
              <a:t>Why more N reduces the amplitude of certain attention weight?</a:t>
            </a:r>
          </a:p>
        </p:txBody>
      </p:sp>
      <p:pic>
        <p:nvPicPr>
          <p:cNvPr id="8" name="Picture 7">
            <a:extLst>
              <a:ext uri="{FF2B5EF4-FFF2-40B4-BE49-F238E27FC236}">
                <a16:creationId xmlns:a16="http://schemas.microsoft.com/office/drawing/2014/main" id="{C14B04D4-C609-027D-7C43-97AD5B4270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1035" y="1894297"/>
            <a:ext cx="4089400" cy="4140200"/>
          </a:xfrm>
          <a:prstGeom prst="rect">
            <a:avLst/>
          </a:prstGeom>
        </p:spPr>
      </p:pic>
    </p:spTree>
    <p:extLst>
      <p:ext uri="{BB962C8B-B14F-4D97-AF65-F5344CB8AC3E}">
        <p14:creationId xmlns:p14="http://schemas.microsoft.com/office/powerpoint/2010/main" val="34884298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83419-AFFD-CCFE-C93A-97623C8F40A6}"/>
            </a:ext>
          </a:extLst>
        </p:cNvPr>
        <p:cNvGrpSpPr/>
        <p:nvPr/>
      </p:nvGrpSpPr>
      <p:grpSpPr>
        <a:xfrm>
          <a:off x="0" y="0"/>
          <a:ext cx="0" cy="0"/>
          <a:chOff x="0" y="0"/>
          <a:chExt cx="0" cy="0"/>
        </a:xfrm>
      </p:grpSpPr>
      <p:grpSp>
        <p:nvGrpSpPr>
          <p:cNvPr id="10" name="组合 9">
            <a:extLst>
              <a:ext uri="{FF2B5EF4-FFF2-40B4-BE49-F238E27FC236}">
                <a16:creationId xmlns:a16="http://schemas.microsoft.com/office/drawing/2014/main" id="{0448DF60-DC2F-E6D5-973B-4DF7F6A428E0}"/>
              </a:ext>
            </a:extLst>
          </p:cNvPr>
          <p:cNvGrpSpPr/>
          <p:nvPr/>
        </p:nvGrpSpPr>
        <p:grpSpPr>
          <a:xfrm>
            <a:off x="49794" y="96338"/>
            <a:ext cx="12394359" cy="727165"/>
            <a:chOff x="-6488" y="56364"/>
            <a:chExt cx="9015602" cy="596761"/>
          </a:xfrm>
        </p:grpSpPr>
        <p:sp>
          <p:nvSpPr>
            <p:cNvPr id="11" name="矩形 10">
              <a:extLst>
                <a:ext uri="{FF2B5EF4-FFF2-40B4-BE49-F238E27FC236}">
                  <a16:creationId xmlns:a16="http://schemas.microsoft.com/office/drawing/2014/main" id="{2D22EA0C-0B23-B731-1151-A31C2FA1F3BB}"/>
                </a:ext>
              </a:extLst>
            </p:cNvPr>
            <p:cNvSpPr/>
            <p:nvPr/>
          </p:nvSpPr>
          <p:spPr>
            <a:xfrm>
              <a:off x="651757" y="56364"/>
              <a:ext cx="8357357" cy="5809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r>
                <a:rPr kumimoji="1" lang="en-US" altLang="zh-CN" sz="4000" b="1" dirty="0">
                  <a:solidFill>
                    <a:srgbClr val="C00000"/>
                  </a:solidFill>
                  <a:latin typeface="华文楷体" panose="02010600040101010101" pitchFamily="2" charset="-122"/>
                  <a:ea typeface="华文楷体" panose="02010600040101010101" pitchFamily="2" charset="-122"/>
                </a:rPr>
                <a:t>Self-attention: Mechanism</a:t>
              </a:r>
            </a:p>
          </p:txBody>
        </p:sp>
        <p:cxnSp>
          <p:nvCxnSpPr>
            <p:cNvPr id="13" name="直接连接符 12">
              <a:extLst>
                <a:ext uri="{FF2B5EF4-FFF2-40B4-BE49-F238E27FC236}">
                  <a16:creationId xmlns:a16="http://schemas.microsoft.com/office/drawing/2014/main" id="{AAD59C79-19EC-5D90-66A2-62462EDFDD2F}"/>
                </a:ext>
              </a:extLst>
            </p:cNvPr>
            <p:cNvCxnSpPr>
              <a:cxnSpLocks/>
            </p:cNvCxnSpPr>
            <p:nvPr/>
          </p:nvCxnSpPr>
          <p:spPr>
            <a:xfrm>
              <a:off x="574757" y="653125"/>
              <a:ext cx="8250942" cy="0"/>
            </a:xfrm>
            <a:prstGeom prst="line">
              <a:avLst/>
            </a:prstGeom>
            <a:ln w="12700" cap="rnd">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2A546FB8-3B45-6305-2EC1-05128FB249E9}"/>
                </a:ext>
              </a:extLst>
            </p:cNvPr>
            <p:cNvSpPr/>
            <p:nvPr/>
          </p:nvSpPr>
          <p:spPr>
            <a:xfrm>
              <a:off x="-6488" y="142486"/>
              <a:ext cx="332509"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E42AF34B-D889-2680-3046-EB87634E1F42}"/>
                </a:ext>
              </a:extLst>
            </p:cNvPr>
            <p:cNvSpPr/>
            <p:nvPr/>
          </p:nvSpPr>
          <p:spPr>
            <a:xfrm>
              <a:off x="367416" y="142486"/>
              <a:ext cx="130866"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TextBox 15">
            <a:extLst>
              <a:ext uri="{FF2B5EF4-FFF2-40B4-BE49-F238E27FC236}">
                <a16:creationId xmlns:a16="http://schemas.microsoft.com/office/drawing/2014/main" id="{7870CC61-1B74-9997-437A-04D7446EC88D}"/>
              </a:ext>
            </a:extLst>
          </p:cNvPr>
          <p:cNvSpPr txBox="1"/>
          <p:nvPr/>
        </p:nvSpPr>
        <p:spPr>
          <a:xfrm>
            <a:off x="9897782" y="6282590"/>
            <a:ext cx="2294218" cy="369332"/>
          </a:xfrm>
          <a:prstGeom prst="rect">
            <a:avLst/>
          </a:prstGeom>
          <a:noFill/>
        </p:spPr>
        <p:txBody>
          <a:bodyPr wrap="none" rtlCol="0">
            <a:spAutoFit/>
          </a:bodyPr>
          <a:lstStyle/>
          <a:p>
            <a:r>
              <a:rPr lang="en-CN" dirty="0"/>
              <a:t>(Gong &amp; Zhang., 2024)</a:t>
            </a:r>
          </a:p>
        </p:txBody>
      </p:sp>
      <p:sp>
        <p:nvSpPr>
          <p:cNvPr id="2" name="TextBox 1">
            <a:extLst>
              <a:ext uri="{FF2B5EF4-FFF2-40B4-BE49-F238E27FC236}">
                <a16:creationId xmlns:a16="http://schemas.microsoft.com/office/drawing/2014/main" id="{3A70E6CA-2613-4A09-C216-C34F986067B8}"/>
              </a:ext>
            </a:extLst>
          </p:cNvPr>
          <p:cNvSpPr txBox="1"/>
          <p:nvPr/>
        </p:nvSpPr>
        <p:spPr>
          <a:xfrm>
            <a:off x="278355" y="1104900"/>
            <a:ext cx="4509545" cy="830997"/>
          </a:xfrm>
          <a:prstGeom prst="rect">
            <a:avLst/>
          </a:prstGeom>
          <a:noFill/>
        </p:spPr>
        <p:txBody>
          <a:bodyPr wrap="square" rtlCol="0">
            <a:spAutoFit/>
          </a:bodyPr>
          <a:lstStyle/>
          <a:p>
            <a:r>
              <a:rPr lang="en-CN" sz="2400" dirty="0">
                <a:latin typeface="Kaiti TC" panose="02010600040101010101" pitchFamily="2" charset="-120"/>
                <a:ea typeface="Kaiti TC" panose="02010600040101010101" pitchFamily="2" charset="-120"/>
              </a:rPr>
              <a:t>In this paper, author introduces an index, attention entropy:</a:t>
            </a:r>
          </a:p>
        </p:txBody>
      </p:sp>
      <p:pic>
        <p:nvPicPr>
          <p:cNvPr id="7" name="Picture 6">
            <a:extLst>
              <a:ext uri="{FF2B5EF4-FFF2-40B4-BE49-F238E27FC236}">
                <a16:creationId xmlns:a16="http://schemas.microsoft.com/office/drawing/2014/main" id="{2B521A06-57A8-8CE5-6769-DCE9A1F108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6917" y="2641600"/>
            <a:ext cx="3530600" cy="2133600"/>
          </a:xfrm>
          <a:prstGeom prst="rect">
            <a:avLst/>
          </a:prstGeom>
        </p:spPr>
      </p:pic>
      <p:pic>
        <p:nvPicPr>
          <p:cNvPr id="12" name="Picture 11">
            <a:extLst>
              <a:ext uri="{FF2B5EF4-FFF2-40B4-BE49-F238E27FC236}">
                <a16:creationId xmlns:a16="http://schemas.microsoft.com/office/drawing/2014/main" id="{A363CF2A-66C5-CBA3-DA25-5C977281B88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72057" y="1056216"/>
            <a:ext cx="3371850" cy="4745567"/>
          </a:xfrm>
          <a:prstGeom prst="rect">
            <a:avLst/>
          </a:prstGeom>
        </p:spPr>
      </p:pic>
      <p:sp>
        <p:nvSpPr>
          <p:cNvPr id="17" name="TextBox 16">
            <a:extLst>
              <a:ext uri="{FF2B5EF4-FFF2-40B4-BE49-F238E27FC236}">
                <a16:creationId xmlns:a16="http://schemas.microsoft.com/office/drawing/2014/main" id="{0A0B0329-291E-7629-3D2D-DD1A94D64019}"/>
              </a:ext>
            </a:extLst>
          </p:cNvPr>
          <p:cNvSpPr txBox="1"/>
          <p:nvPr/>
        </p:nvSpPr>
        <p:spPr>
          <a:xfrm>
            <a:off x="4344572" y="5651030"/>
            <a:ext cx="4116833" cy="830997"/>
          </a:xfrm>
          <a:prstGeom prst="rect">
            <a:avLst/>
          </a:prstGeom>
          <a:noFill/>
        </p:spPr>
        <p:txBody>
          <a:bodyPr wrap="none" rtlCol="0">
            <a:spAutoFit/>
          </a:bodyPr>
          <a:lstStyle/>
          <a:p>
            <a:r>
              <a:rPr lang="en-CN" sz="2400" dirty="0">
                <a:latin typeface="Kaiti TC" panose="02010600040101010101" pitchFamily="2" charset="-120"/>
                <a:ea typeface="Kaiti TC" panose="02010600040101010101" pitchFamily="2" charset="-120"/>
              </a:rPr>
              <a:t>总熵与准确率的结果图</a:t>
            </a:r>
            <a:r>
              <a:rPr lang="zh-CN" altLang="en-US" sz="2400" dirty="0">
                <a:latin typeface="Kaiti TC" panose="02010600040101010101" pitchFamily="2" charset="-120"/>
                <a:ea typeface="Kaiti TC" panose="02010600040101010101" pitchFamily="2" charset="-120"/>
              </a:rPr>
              <a:t>：</a:t>
            </a:r>
            <a:endParaRPr lang="en-CN" altLang="zh-CN" sz="2400" dirty="0">
              <a:latin typeface="Kaiti TC" panose="02010600040101010101" pitchFamily="2" charset="-120"/>
              <a:ea typeface="Kaiti TC" panose="02010600040101010101" pitchFamily="2" charset="-120"/>
            </a:endParaRPr>
          </a:p>
          <a:p>
            <a:r>
              <a:rPr lang="en-US" altLang="zh-CN" sz="2400" dirty="0">
                <a:latin typeface="Kaiti TC" panose="02010600040101010101" pitchFamily="2" charset="-120"/>
                <a:ea typeface="Kaiti TC" panose="02010600040101010101" pitchFamily="2" charset="-120"/>
              </a:rPr>
              <a:t>N</a:t>
            </a:r>
            <a:r>
              <a:rPr lang="zh-CN" altLang="en-US" sz="2400" dirty="0">
                <a:latin typeface="Kaiti TC" panose="02010600040101010101" pitchFamily="2" charset="-120"/>
                <a:ea typeface="Kaiti TC" panose="02010600040101010101" pitchFamily="2" charset="-120"/>
              </a:rPr>
              <a:t>越大，熵越高，准确率越低</a:t>
            </a:r>
            <a:endParaRPr lang="en-US" altLang="zh-CN" sz="2400" dirty="0">
              <a:latin typeface="Kaiti TC" panose="02010600040101010101" pitchFamily="2" charset="-120"/>
              <a:ea typeface="Kaiti TC" panose="02010600040101010101" pitchFamily="2" charset="-120"/>
            </a:endParaRPr>
          </a:p>
        </p:txBody>
      </p:sp>
    </p:spTree>
    <p:extLst>
      <p:ext uri="{BB962C8B-B14F-4D97-AF65-F5344CB8AC3E}">
        <p14:creationId xmlns:p14="http://schemas.microsoft.com/office/powerpoint/2010/main" val="30529818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9E195-A1C9-1C47-24F6-A1F7E80DAB7A}"/>
            </a:ext>
          </a:extLst>
        </p:cNvPr>
        <p:cNvGrpSpPr/>
        <p:nvPr/>
      </p:nvGrpSpPr>
      <p:grpSpPr>
        <a:xfrm>
          <a:off x="0" y="0"/>
          <a:ext cx="0" cy="0"/>
          <a:chOff x="0" y="0"/>
          <a:chExt cx="0" cy="0"/>
        </a:xfrm>
      </p:grpSpPr>
      <p:grpSp>
        <p:nvGrpSpPr>
          <p:cNvPr id="10" name="组合 9">
            <a:extLst>
              <a:ext uri="{FF2B5EF4-FFF2-40B4-BE49-F238E27FC236}">
                <a16:creationId xmlns:a16="http://schemas.microsoft.com/office/drawing/2014/main" id="{FB2FA0A6-DF0D-A5AC-BBE2-127497D4ACA5}"/>
              </a:ext>
            </a:extLst>
          </p:cNvPr>
          <p:cNvGrpSpPr/>
          <p:nvPr/>
        </p:nvGrpSpPr>
        <p:grpSpPr>
          <a:xfrm>
            <a:off x="49794" y="96338"/>
            <a:ext cx="12394359" cy="727165"/>
            <a:chOff x="-6488" y="56364"/>
            <a:chExt cx="9015602" cy="596761"/>
          </a:xfrm>
        </p:grpSpPr>
        <p:sp>
          <p:nvSpPr>
            <p:cNvPr id="11" name="矩形 10">
              <a:extLst>
                <a:ext uri="{FF2B5EF4-FFF2-40B4-BE49-F238E27FC236}">
                  <a16:creationId xmlns:a16="http://schemas.microsoft.com/office/drawing/2014/main" id="{39B1F2F4-B9E2-B2BD-23E2-BE7201FAC3DF}"/>
                </a:ext>
              </a:extLst>
            </p:cNvPr>
            <p:cNvSpPr/>
            <p:nvPr/>
          </p:nvSpPr>
          <p:spPr>
            <a:xfrm>
              <a:off x="651757" y="56364"/>
              <a:ext cx="8357357" cy="5809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r>
                <a:rPr kumimoji="1" lang="en-US" altLang="zh-CN" sz="4000" b="1" dirty="0">
                  <a:solidFill>
                    <a:srgbClr val="C00000"/>
                  </a:solidFill>
                  <a:latin typeface="华文楷体" panose="02010600040101010101" pitchFamily="2" charset="-122"/>
                  <a:ea typeface="华文楷体" panose="02010600040101010101" pitchFamily="2" charset="-122"/>
                </a:rPr>
                <a:t>Self-attention: Mechanism</a:t>
              </a:r>
            </a:p>
          </p:txBody>
        </p:sp>
        <p:cxnSp>
          <p:nvCxnSpPr>
            <p:cNvPr id="13" name="直接连接符 12">
              <a:extLst>
                <a:ext uri="{FF2B5EF4-FFF2-40B4-BE49-F238E27FC236}">
                  <a16:creationId xmlns:a16="http://schemas.microsoft.com/office/drawing/2014/main" id="{99D1099D-B17F-5D1B-A41E-10B5A1844144}"/>
                </a:ext>
              </a:extLst>
            </p:cNvPr>
            <p:cNvCxnSpPr>
              <a:cxnSpLocks/>
            </p:cNvCxnSpPr>
            <p:nvPr/>
          </p:nvCxnSpPr>
          <p:spPr>
            <a:xfrm>
              <a:off x="574757" y="653125"/>
              <a:ext cx="8250942" cy="0"/>
            </a:xfrm>
            <a:prstGeom prst="line">
              <a:avLst/>
            </a:prstGeom>
            <a:ln w="12700" cap="rnd">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C4C3239D-203C-B60B-00D2-91F921C0E559}"/>
                </a:ext>
              </a:extLst>
            </p:cNvPr>
            <p:cNvSpPr/>
            <p:nvPr/>
          </p:nvSpPr>
          <p:spPr>
            <a:xfrm>
              <a:off x="-6488" y="142486"/>
              <a:ext cx="332509"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B142A909-D527-7986-9F3F-5F2E9D613738}"/>
                </a:ext>
              </a:extLst>
            </p:cNvPr>
            <p:cNvSpPr/>
            <p:nvPr/>
          </p:nvSpPr>
          <p:spPr>
            <a:xfrm>
              <a:off x="367416" y="142486"/>
              <a:ext cx="130866"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TextBox 15">
            <a:extLst>
              <a:ext uri="{FF2B5EF4-FFF2-40B4-BE49-F238E27FC236}">
                <a16:creationId xmlns:a16="http://schemas.microsoft.com/office/drawing/2014/main" id="{FDDB3594-DFEC-B060-2C62-77925A0C20BD}"/>
              </a:ext>
            </a:extLst>
          </p:cNvPr>
          <p:cNvSpPr txBox="1"/>
          <p:nvPr/>
        </p:nvSpPr>
        <p:spPr>
          <a:xfrm>
            <a:off x="9732275" y="5789569"/>
            <a:ext cx="2294218" cy="369332"/>
          </a:xfrm>
          <a:prstGeom prst="rect">
            <a:avLst/>
          </a:prstGeom>
          <a:noFill/>
        </p:spPr>
        <p:txBody>
          <a:bodyPr wrap="none" rtlCol="0">
            <a:spAutoFit/>
          </a:bodyPr>
          <a:lstStyle/>
          <a:p>
            <a:r>
              <a:rPr lang="en-CN" dirty="0"/>
              <a:t>(Gong &amp; Zhang., 2024)</a:t>
            </a:r>
          </a:p>
        </p:txBody>
      </p:sp>
      <p:pic>
        <p:nvPicPr>
          <p:cNvPr id="3" name="Picture 2">
            <a:extLst>
              <a:ext uri="{FF2B5EF4-FFF2-40B4-BE49-F238E27FC236}">
                <a16:creationId xmlns:a16="http://schemas.microsoft.com/office/drawing/2014/main" id="{DA354B2A-E391-8E37-EC3F-BCF5E3431B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44228" y="1331456"/>
            <a:ext cx="4826000" cy="3911600"/>
          </a:xfrm>
          <a:prstGeom prst="rect">
            <a:avLst/>
          </a:prstGeom>
        </p:spPr>
      </p:pic>
      <p:sp>
        <p:nvSpPr>
          <p:cNvPr id="5" name="TextBox 4">
            <a:extLst>
              <a:ext uri="{FF2B5EF4-FFF2-40B4-BE49-F238E27FC236}">
                <a16:creationId xmlns:a16="http://schemas.microsoft.com/office/drawing/2014/main" id="{E14A9199-5A89-6D11-23FC-C42689A1A2A6}"/>
              </a:ext>
            </a:extLst>
          </p:cNvPr>
          <p:cNvSpPr txBox="1"/>
          <p:nvPr/>
        </p:nvSpPr>
        <p:spPr>
          <a:xfrm>
            <a:off x="506917" y="1331456"/>
            <a:ext cx="4656444" cy="1569660"/>
          </a:xfrm>
          <a:prstGeom prst="rect">
            <a:avLst/>
          </a:prstGeom>
          <a:noFill/>
        </p:spPr>
        <p:txBody>
          <a:bodyPr wrap="square" rtlCol="0">
            <a:spAutoFit/>
          </a:bodyPr>
          <a:lstStyle/>
          <a:p>
            <a:r>
              <a:rPr lang="en-CN" sz="2400" dirty="0">
                <a:latin typeface="Kaiti TC" panose="02010600040101010101" pitchFamily="2" charset="-120"/>
                <a:ea typeface="Kaiti TC" panose="02010600040101010101" pitchFamily="2" charset="-120"/>
              </a:rPr>
              <a:t>Suppose</a:t>
            </a:r>
            <a:r>
              <a:rPr lang="zh-CN" altLang="en-US" sz="2400" dirty="0">
                <a:latin typeface="Kaiti TC" panose="02010600040101010101" pitchFamily="2" charset="-120"/>
                <a:ea typeface="Kaiti TC" panose="02010600040101010101" pitchFamily="2" charset="-120"/>
              </a:rPr>
              <a:t> </a:t>
            </a:r>
            <a:r>
              <a:rPr lang="en-US" altLang="zh-CN" sz="2400" dirty="0">
                <a:latin typeface="Kaiti TC" panose="02010600040101010101" pitchFamily="2" charset="-120"/>
                <a:ea typeface="Kaiti TC" panose="02010600040101010101" pitchFamily="2" charset="-120"/>
              </a:rPr>
              <a:t>targeted attention weight is a, and interference shares remaining weight. Total entropy could be calculated as</a:t>
            </a:r>
            <a:endParaRPr lang="en-CN" sz="2400" dirty="0">
              <a:latin typeface="Kaiti TC" panose="02010600040101010101" pitchFamily="2" charset="-120"/>
              <a:ea typeface="Kaiti TC" panose="02010600040101010101" pitchFamily="2" charset="-120"/>
            </a:endParaRPr>
          </a:p>
        </p:txBody>
      </p:sp>
      <p:pic>
        <p:nvPicPr>
          <p:cNvPr id="7" name="Picture 6">
            <a:extLst>
              <a:ext uri="{FF2B5EF4-FFF2-40B4-BE49-F238E27FC236}">
                <a16:creationId xmlns:a16="http://schemas.microsoft.com/office/drawing/2014/main" id="{423B7267-6774-88D9-42FD-8C6BD2FA854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1589" y="4049669"/>
            <a:ext cx="3467100" cy="787400"/>
          </a:xfrm>
          <a:prstGeom prst="rect">
            <a:avLst/>
          </a:prstGeom>
        </p:spPr>
      </p:pic>
    </p:spTree>
    <p:extLst>
      <p:ext uri="{BB962C8B-B14F-4D97-AF65-F5344CB8AC3E}">
        <p14:creationId xmlns:p14="http://schemas.microsoft.com/office/powerpoint/2010/main" val="33554535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1B2A5-E253-3ED6-D1FE-58C42B43A830}"/>
            </a:ext>
          </a:extLst>
        </p:cNvPr>
        <p:cNvGrpSpPr/>
        <p:nvPr/>
      </p:nvGrpSpPr>
      <p:grpSpPr>
        <a:xfrm>
          <a:off x="0" y="0"/>
          <a:ext cx="0" cy="0"/>
          <a:chOff x="0" y="0"/>
          <a:chExt cx="0" cy="0"/>
        </a:xfrm>
      </p:grpSpPr>
      <p:grpSp>
        <p:nvGrpSpPr>
          <p:cNvPr id="10" name="组合 9">
            <a:extLst>
              <a:ext uri="{FF2B5EF4-FFF2-40B4-BE49-F238E27FC236}">
                <a16:creationId xmlns:a16="http://schemas.microsoft.com/office/drawing/2014/main" id="{40AD980F-9C88-E131-3A18-F54358E39016}"/>
              </a:ext>
            </a:extLst>
          </p:cNvPr>
          <p:cNvGrpSpPr/>
          <p:nvPr/>
        </p:nvGrpSpPr>
        <p:grpSpPr>
          <a:xfrm>
            <a:off x="49794" y="96338"/>
            <a:ext cx="12394359" cy="727165"/>
            <a:chOff x="-6488" y="56364"/>
            <a:chExt cx="9015602" cy="596761"/>
          </a:xfrm>
        </p:grpSpPr>
        <p:sp>
          <p:nvSpPr>
            <p:cNvPr id="11" name="矩形 10">
              <a:extLst>
                <a:ext uri="{FF2B5EF4-FFF2-40B4-BE49-F238E27FC236}">
                  <a16:creationId xmlns:a16="http://schemas.microsoft.com/office/drawing/2014/main" id="{DBA9FA52-C13C-7620-CCE4-1FCB2329972D}"/>
                </a:ext>
              </a:extLst>
            </p:cNvPr>
            <p:cNvSpPr/>
            <p:nvPr/>
          </p:nvSpPr>
          <p:spPr>
            <a:xfrm>
              <a:off x="651757" y="56364"/>
              <a:ext cx="8357357" cy="5809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r>
                <a:rPr kumimoji="1" lang="en-US" altLang="zh-CN" sz="4000" b="1" dirty="0">
                  <a:solidFill>
                    <a:srgbClr val="C00000"/>
                  </a:solidFill>
                  <a:latin typeface="华文楷体" panose="02010600040101010101" pitchFamily="2" charset="-122"/>
                  <a:ea typeface="华文楷体" panose="02010600040101010101" pitchFamily="2" charset="-122"/>
                </a:rPr>
                <a:t>To summarize</a:t>
              </a:r>
            </a:p>
          </p:txBody>
        </p:sp>
        <p:cxnSp>
          <p:nvCxnSpPr>
            <p:cNvPr id="13" name="直接连接符 12">
              <a:extLst>
                <a:ext uri="{FF2B5EF4-FFF2-40B4-BE49-F238E27FC236}">
                  <a16:creationId xmlns:a16="http://schemas.microsoft.com/office/drawing/2014/main" id="{5C42959C-5F9C-70D9-1837-6E6D07C0C181}"/>
                </a:ext>
              </a:extLst>
            </p:cNvPr>
            <p:cNvCxnSpPr>
              <a:cxnSpLocks/>
            </p:cNvCxnSpPr>
            <p:nvPr/>
          </p:nvCxnSpPr>
          <p:spPr>
            <a:xfrm>
              <a:off x="574757" y="653125"/>
              <a:ext cx="8250942" cy="0"/>
            </a:xfrm>
            <a:prstGeom prst="line">
              <a:avLst/>
            </a:prstGeom>
            <a:ln w="12700" cap="rnd">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C038D9D6-1813-E5D2-D61A-64948D35C056}"/>
                </a:ext>
              </a:extLst>
            </p:cNvPr>
            <p:cNvSpPr/>
            <p:nvPr/>
          </p:nvSpPr>
          <p:spPr>
            <a:xfrm>
              <a:off x="-6488" y="142486"/>
              <a:ext cx="332509"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717846F9-C830-BD7B-627E-D38876CB28D9}"/>
                </a:ext>
              </a:extLst>
            </p:cNvPr>
            <p:cNvSpPr/>
            <p:nvPr/>
          </p:nvSpPr>
          <p:spPr>
            <a:xfrm>
              <a:off x="367416" y="142486"/>
              <a:ext cx="130866"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TextBox 15">
            <a:extLst>
              <a:ext uri="{FF2B5EF4-FFF2-40B4-BE49-F238E27FC236}">
                <a16:creationId xmlns:a16="http://schemas.microsoft.com/office/drawing/2014/main" id="{86BE4ADE-9B0D-F244-C21C-F8C3F5D2F1D0}"/>
              </a:ext>
            </a:extLst>
          </p:cNvPr>
          <p:cNvSpPr txBox="1"/>
          <p:nvPr/>
        </p:nvSpPr>
        <p:spPr>
          <a:xfrm>
            <a:off x="9732275" y="5789569"/>
            <a:ext cx="2294218" cy="369332"/>
          </a:xfrm>
          <a:prstGeom prst="rect">
            <a:avLst/>
          </a:prstGeom>
          <a:noFill/>
        </p:spPr>
        <p:txBody>
          <a:bodyPr wrap="none" rtlCol="0">
            <a:spAutoFit/>
          </a:bodyPr>
          <a:lstStyle/>
          <a:p>
            <a:r>
              <a:rPr lang="en-CN" dirty="0"/>
              <a:t>(Gong &amp; Zhang., 2024)</a:t>
            </a:r>
          </a:p>
        </p:txBody>
      </p:sp>
      <p:pic>
        <p:nvPicPr>
          <p:cNvPr id="3" name="Picture 2">
            <a:extLst>
              <a:ext uri="{FF2B5EF4-FFF2-40B4-BE49-F238E27FC236}">
                <a16:creationId xmlns:a16="http://schemas.microsoft.com/office/drawing/2014/main" id="{25D4443E-CB8E-B949-A1D4-B298F535A9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5435" y="1105536"/>
            <a:ext cx="8988540" cy="5053365"/>
          </a:xfrm>
          <a:prstGeom prst="rect">
            <a:avLst/>
          </a:prstGeom>
        </p:spPr>
      </p:pic>
    </p:spTree>
    <p:extLst>
      <p:ext uri="{BB962C8B-B14F-4D97-AF65-F5344CB8AC3E}">
        <p14:creationId xmlns:p14="http://schemas.microsoft.com/office/powerpoint/2010/main" val="4997558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EBDF1-7170-AEEE-3108-D7FEA7F356EE}"/>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353997AA-D9CA-317E-C9AB-5897FB34DC28}"/>
              </a:ext>
            </a:extLst>
          </p:cNvPr>
          <p:cNvSpPr txBox="1"/>
          <p:nvPr/>
        </p:nvSpPr>
        <p:spPr>
          <a:xfrm>
            <a:off x="1155700" y="2160259"/>
            <a:ext cx="9880600" cy="1794337"/>
          </a:xfrm>
          <a:prstGeom prst="rect">
            <a:avLst/>
          </a:prstGeom>
          <a:noFill/>
        </p:spPr>
        <p:txBody>
          <a:bodyPr wrap="square">
            <a:spAutoFit/>
          </a:bodyPr>
          <a:lstStyle/>
          <a:p>
            <a:pPr algn="ctr">
              <a:lnSpc>
                <a:spcPct val="150000"/>
              </a:lnSpc>
            </a:pPr>
            <a:r>
              <a:rPr kumimoji="1" lang="en-US" altLang="zh-CN" sz="4000" b="1" dirty="0">
                <a:solidFill>
                  <a:srgbClr val="C00000"/>
                </a:solidFill>
                <a:latin typeface="华文楷体" panose="02010600040101010101" pitchFamily="2" charset="-122"/>
                <a:ea typeface="华文楷体" panose="02010600040101010101" pitchFamily="2" charset="-122"/>
              </a:rPr>
              <a:t>Proactive Inference: Research in Psychology and LLM</a:t>
            </a:r>
          </a:p>
        </p:txBody>
      </p:sp>
    </p:spTree>
    <p:extLst>
      <p:ext uri="{BB962C8B-B14F-4D97-AF65-F5344CB8AC3E}">
        <p14:creationId xmlns:p14="http://schemas.microsoft.com/office/powerpoint/2010/main" val="30553782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8985A-4919-6E66-ACD5-EFEA7434AAEB}"/>
            </a:ext>
          </a:extLst>
        </p:cNvPr>
        <p:cNvGrpSpPr/>
        <p:nvPr/>
      </p:nvGrpSpPr>
      <p:grpSpPr>
        <a:xfrm>
          <a:off x="0" y="0"/>
          <a:ext cx="0" cy="0"/>
          <a:chOff x="0" y="0"/>
          <a:chExt cx="0" cy="0"/>
        </a:xfrm>
      </p:grpSpPr>
      <p:grpSp>
        <p:nvGrpSpPr>
          <p:cNvPr id="10" name="组合 9">
            <a:extLst>
              <a:ext uri="{FF2B5EF4-FFF2-40B4-BE49-F238E27FC236}">
                <a16:creationId xmlns:a16="http://schemas.microsoft.com/office/drawing/2014/main" id="{C38989FF-4A7E-A53C-A36F-6DFE91FB995E}"/>
              </a:ext>
            </a:extLst>
          </p:cNvPr>
          <p:cNvGrpSpPr/>
          <p:nvPr/>
        </p:nvGrpSpPr>
        <p:grpSpPr>
          <a:xfrm>
            <a:off x="49794" y="96334"/>
            <a:ext cx="12142207" cy="727169"/>
            <a:chOff x="-6488" y="56362"/>
            <a:chExt cx="8832187" cy="596763"/>
          </a:xfrm>
        </p:grpSpPr>
        <p:sp>
          <p:nvSpPr>
            <p:cNvPr id="11" name="矩形 10">
              <a:extLst>
                <a:ext uri="{FF2B5EF4-FFF2-40B4-BE49-F238E27FC236}">
                  <a16:creationId xmlns:a16="http://schemas.microsoft.com/office/drawing/2014/main" id="{B212F5FC-1AF3-758B-C62C-BF46E601707B}"/>
                </a:ext>
              </a:extLst>
            </p:cNvPr>
            <p:cNvSpPr/>
            <p:nvPr/>
          </p:nvSpPr>
          <p:spPr>
            <a:xfrm>
              <a:off x="651757" y="56362"/>
              <a:ext cx="3748978" cy="5809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r>
                <a:rPr lang="en-US" altLang="zh-CN" sz="4000" b="1" dirty="0">
                  <a:solidFill>
                    <a:srgbClr val="C00000"/>
                  </a:solidFill>
                  <a:latin typeface="华文楷体" panose="02010600040101010101" pitchFamily="2" charset="-122"/>
                  <a:ea typeface="华文楷体" panose="02010600040101010101" pitchFamily="2" charset="-122"/>
                </a:rPr>
                <a:t>Psychological Research</a:t>
              </a:r>
            </a:p>
          </p:txBody>
        </p:sp>
        <p:cxnSp>
          <p:nvCxnSpPr>
            <p:cNvPr id="13" name="直接连接符 12">
              <a:extLst>
                <a:ext uri="{FF2B5EF4-FFF2-40B4-BE49-F238E27FC236}">
                  <a16:creationId xmlns:a16="http://schemas.microsoft.com/office/drawing/2014/main" id="{2FBA600E-4651-7581-EAC4-C726C0BC3786}"/>
                </a:ext>
              </a:extLst>
            </p:cNvPr>
            <p:cNvCxnSpPr>
              <a:cxnSpLocks/>
            </p:cNvCxnSpPr>
            <p:nvPr/>
          </p:nvCxnSpPr>
          <p:spPr>
            <a:xfrm>
              <a:off x="574757" y="653125"/>
              <a:ext cx="8250942" cy="0"/>
            </a:xfrm>
            <a:prstGeom prst="line">
              <a:avLst/>
            </a:prstGeom>
            <a:ln w="12700" cap="rnd">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D467004E-B956-75EE-D813-D4FAA878D498}"/>
                </a:ext>
              </a:extLst>
            </p:cNvPr>
            <p:cNvSpPr/>
            <p:nvPr/>
          </p:nvSpPr>
          <p:spPr>
            <a:xfrm>
              <a:off x="-6488" y="142486"/>
              <a:ext cx="332509"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00678D8E-FEFD-CDA7-4AB0-97639770B1F4}"/>
                </a:ext>
              </a:extLst>
            </p:cNvPr>
            <p:cNvSpPr/>
            <p:nvPr/>
          </p:nvSpPr>
          <p:spPr>
            <a:xfrm>
              <a:off x="367416" y="142486"/>
              <a:ext cx="130866"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TextBox 1">
            <a:extLst>
              <a:ext uri="{FF2B5EF4-FFF2-40B4-BE49-F238E27FC236}">
                <a16:creationId xmlns:a16="http://schemas.microsoft.com/office/drawing/2014/main" id="{35F2BCFC-8BB3-7C4E-371D-862D0E88C680}"/>
              </a:ext>
            </a:extLst>
          </p:cNvPr>
          <p:cNvSpPr txBox="1"/>
          <p:nvPr/>
        </p:nvSpPr>
        <p:spPr>
          <a:xfrm>
            <a:off x="762367" y="6195057"/>
            <a:ext cx="5538696" cy="461665"/>
          </a:xfrm>
          <a:prstGeom prst="rect">
            <a:avLst/>
          </a:prstGeom>
          <a:noFill/>
        </p:spPr>
        <p:txBody>
          <a:bodyPr wrap="none" rtlCol="0">
            <a:spAutoFit/>
          </a:bodyPr>
          <a:lstStyle/>
          <a:p>
            <a:r>
              <a:rPr lang="en-CN" sz="2400" dirty="0">
                <a:latin typeface="Kaiti TC" panose="02010600040101010101" pitchFamily="2" charset="-120"/>
                <a:ea typeface="Kaiti TC" panose="02010600040101010101" pitchFamily="2" charset="-120"/>
              </a:rPr>
              <a:t>Classical Proactive Interference Paradigm</a:t>
            </a:r>
          </a:p>
        </p:txBody>
      </p:sp>
      <p:pic>
        <p:nvPicPr>
          <p:cNvPr id="4" name="Picture 3">
            <a:extLst>
              <a:ext uri="{FF2B5EF4-FFF2-40B4-BE49-F238E27FC236}">
                <a16:creationId xmlns:a16="http://schemas.microsoft.com/office/drawing/2014/main" id="{50BB2506-C016-442B-673A-7D7C99C7EE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794" y="842786"/>
            <a:ext cx="6947965" cy="5210974"/>
          </a:xfrm>
          <a:prstGeom prst="rect">
            <a:avLst/>
          </a:prstGeom>
        </p:spPr>
      </p:pic>
      <p:pic>
        <p:nvPicPr>
          <p:cNvPr id="6" name="Picture 5">
            <a:extLst>
              <a:ext uri="{FF2B5EF4-FFF2-40B4-BE49-F238E27FC236}">
                <a16:creationId xmlns:a16="http://schemas.microsoft.com/office/drawing/2014/main" id="{E50FCA58-0816-77AA-08C0-F62C4BBA548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79168" y="842787"/>
            <a:ext cx="5192419" cy="3894314"/>
          </a:xfrm>
          <a:prstGeom prst="rect">
            <a:avLst/>
          </a:prstGeom>
        </p:spPr>
      </p:pic>
      <p:sp>
        <p:nvSpPr>
          <p:cNvPr id="7" name="TextBox 6">
            <a:extLst>
              <a:ext uri="{FF2B5EF4-FFF2-40B4-BE49-F238E27FC236}">
                <a16:creationId xmlns:a16="http://schemas.microsoft.com/office/drawing/2014/main" id="{8EE431A4-5A9C-4EDA-1527-C321F49519E8}"/>
              </a:ext>
            </a:extLst>
          </p:cNvPr>
          <p:cNvSpPr txBox="1"/>
          <p:nvPr/>
        </p:nvSpPr>
        <p:spPr>
          <a:xfrm>
            <a:off x="8636000" y="4876800"/>
            <a:ext cx="2331087" cy="461665"/>
          </a:xfrm>
          <a:prstGeom prst="rect">
            <a:avLst/>
          </a:prstGeom>
          <a:noFill/>
        </p:spPr>
        <p:txBody>
          <a:bodyPr wrap="none" rtlCol="0">
            <a:spAutoFit/>
          </a:bodyPr>
          <a:lstStyle/>
          <a:p>
            <a:r>
              <a:rPr lang="en-CN" sz="2400" dirty="0">
                <a:latin typeface="Kaiti TC" panose="02010600040101010101" pitchFamily="2" charset="-120"/>
                <a:ea typeface="Kaiti TC" panose="02010600040101010101" pitchFamily="2" charset="-120"/>
              </a:rPr>
              <a:t>Classical Results</a:t>
            </a:r>
          </a:p>
        </p:txBody>
      </p:sp>
      <p:sp>
        <p:nvSpPr>
          <p:cNvPr id="8" name="TextBox 7">
            <a:extLst>
              <a:ext uri="{FF2B5EF4-FFF2-40B4-BE49-F238E27FC236}">
                <a16:creationId xmlns:a16="http://schemas.microsoft.com/office/drawing/2014/main" id="{1549F035-51E6-832A-20C5-C4635E57B960}"/>
              </a:ext>
            </a:extLst>
          </p:cNvPr>
          <p:cNvSpPr txBox="1"/>
          <p:nvPr/>
        </p:nvSpPr>
        <p:spPr>
          <a:xfrm>
            <a:off x="8953500" y="6056557"/>
            <a:ext cx="2927148" cy="369332"/>
          </a:xfrm>
          <a:prstGeom prst="rect">
            <a:avLst/>
          </a:prstGeom>
          <a:noFill/>
        </p:spPr>
        <p:txBody>
          <a:bodyPr wrap="none" rtlCol="0">
            <a:spAutoFit/>
          </a:bodyPr>
          <a:lstStyle/>
          <a:p>
            <a:r>
              <a:rPr lang="en-CN" dirty="0"/>
              <a:t>(Keppel &amp; Underwood, 1962)</a:t>
            </a:r>
          </a:p>
        </p:txBody>
      </p:sp>
    </p:spTree>
    <p:extLst>
      <p:ext uri="{BB962C8B-B14F-4D97-AF65-F5344CB8AC3E}">
        <p14:creationId xmlns:p14="http://schemas.microsoft.com/office/powerpoint/2010/main" val="31063899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0A122-8105-2955-085A-02143E375248}"/>
            </a:ext>
          </a:extLst>
        </p:cNvPr>
        <p:cNvGrpSpPr/>
        <p:nvPr/>
      </p:nvGrpSpPr>
      <p:grpSpPr>
        <a:xfrm>
          <a:off x="0" y="0"/>
          <a:ext cx="0" cy="0"/>
          <a:chOff x="0" y="0"/>
          <a:chExt cx="0" cy="0"/>
        </a:xfrm>
      </p:grpSpPr>
      <p:grpSp>
        <p:nvGrpSpPr>
          <p:cNvPr id="10" name="组合 9">
            <a:extLst>
              <a:ext uri="{FF2B5EF4-FFF2-40B4-BE49-F238E27FC236}">
                <a16:creationId xmlns:a16="http://schemas.microsoft.com/office/drawing/2014/main" id="{67D828BB-86A5-0770-EF9D-26B6A386A017}"/>
              </a:ext>
            </a:extLst>
          </p:cNvPr>
          <p:cNvGrpSpPr/>
          <p:nvPr/>
        </p:nvGrpSpPr>
        <p:grpSpPr>
          <a:xfrm>
            <a:off x="49794" y="96334"/>
            <a:ext cx="12142207" cy="727169"/>
            <a:chOff x="-6488" y="56362"/>
            <a:chExt cx="8832187" cy="596763"/>
          </a:xfrm>
        </p:grpSpPr>
        <p:sp>
          <p:nvSpPr>
            <p:cNvPr id="11" name="矩形 10">
              <a:extLst>
                <a:ext uri="{FF2B5EF4-FFF2-40B4-BE49-F238E27FC236}">
                  <a16:creationId xmlns:a16="http://schemas.microsoft.com/office/drawing/2014/main" id="{5D3A5A62-CE71-55B5-69C6-B03894DB0694}"/>
                </a:ext>
              </a:extLst>
            </p:cNvPr>
            <p:cNvSpPr/>
            <p:nvPr/>
          </p:nvSpPr>
          <p:spPr>
            <a:xfrm>
              <a:off x="651757" y="56362"/>
              <a:ext cx="3748978" cy="5809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r>
                <a:rPr lang="en-US" altLang="zh-CN" sz="4000" b="1" dirty="0">
                  <a:solidFill>
                    <a:srgbClr val="C00000"/>
                  </a:solidFill>
                  <a:latin typeface="华文楷体" panose="02010600040101010101" pitchFamily="2" charset="-122"/>
                  <a:ea typeface="华文楷体" panose="02010600040101010101" pitchFamily="2" charset="-122"/>
                </a:rPr>
                <a:t>Psychological Research</a:t>
              </a:r>
            </a:p>
          </p:txBody>
        </p:sp>
        <p:cxnSp>
          <p:nvCxnSpPr>
            <p:cNvPr id="13" name="直接连接符 12">
              <a:extLst>
                <a:ext uri="{FF2B5EF4-FFF2-40B4-BE49-F238E27FC236}">
                  <a16:creationId xmlns:a16="http://schemas.microsoft.com/office/drawing/2014/main" id="{B6EAD15E-053A-6E32-73C9-324BE8A6B3D8}"/>
                </a:ext>
              </a:extLst>
            </p:cNvPr>
            <p:cNvCxnSpPr>
              <a:cxnSpLocks/>
            </p:cNvCxnSpPr>
            <p:nvPr/>
          </p:nvCxnSpPr>
          <p:spPr>
            <a:xfrm>
              <a:off x="574757" y="653125"/>
              <a:ext cx="8250942" cy="0"/>
            </a:xfrm>
            <a:prstGeom prst="line">
              <a:avLst/>
            </a:prstGeom>
            <a:ln w="12700" cap="rnd">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C3DBC8A8-83C0-5E5D-8A49-45C9216BF314}"/>
                </a:ext>
              </a:extLst>
            </p:cNvPr>
            <p:cNvSpPr/>
            <p:nvPr/>
          </p:nvSpPr>
          <p:spPr>
            <a:xfrm>
              <a:off x="-6488" y="142486"/>
              <a:ext cx="332509"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8F667FB7-4384-01F8-5E36-CB6473F75728}"/>
                </a:ext>
              </a:extLst>
            </p:cNvPr>
            <p:cNvSpPr/>
            <p:nvPr/>
          </p:nvSpPr>
          <p:spPr>
            <a:xfrm>
              <a:off x="367416" y="142486"/>
              <a:ext cx="130866"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 name="TextBox 2">
            <a:extLst>
              <a:ext uri="{FF2B5EF4-FFF2-40B4-BE49-F238E27FC236}">
                <a16:creationId xmlns:a16="http://schemas.microsoft.com/office/drawing/2014/main" id="{125035F0-3B82-1F9F-85F3-14353AF4CC51}"/>
              </a:ext>
            </a:extLst>
          </p:cNvPr>
          <p:cNvSpPr txBox="1"/>
          <p:nvPr/>
        </p:nvSpPr>
        <p:spPr>
          <a:xfrm>
            <a:off x="176755" y="1016000"/>
            <a:ext cx="2674130" cy="461665"/>
          </a:xfrm>
          <a:prstGeom prst="rect">
            <a:avLst/>
          </a:prstGeom>
          <a:noFill/>
        </p:spPr>
        <p:txBody>
          <a:bodyPr wrap="none" rtlCol="0">
            <a:spAutoFit/>
          </a:bodyPr>
          <a:lstStyle/>
          <a:p>
            <a:r>
              <a:rPr lang="en-CN" sz="2400" dirty="0">
                <a:latin typeface="Kaiti TC" panose="02010600040101010101" pitchFamily="2" charset="-120"/>
                <a:ea typeface="Kaiti TC" panose="02010600040101010101" pitchFamily="2" charset="-120"/>
              </a:rPr>
              <a:t>Other paradigms…</a:t>
            </a:r>
          </a:p>
        </p:txBody>
      </p:sp>
      <p:pic>
        <p:nvPicPr>
          <p:cNvPr id="9" name="Picture 8">
            <a:extLst>
              <a:ext uri="{FF2B5EF4-FFF2-40B4-BE49-F238E27FC236}">
                <a16:creationId xmlns:a16="http://schemas.microsoft.com/office/drawing/2014/main" id="{C5021CB7-7CBF-0856-D295-6ADFC19867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6597" y="1477665"/>
            <a:ext cx="5706701" cy="5148783"/>
          </a:xfrm>
          <a:prstGeom prst="rect">
            <a:avLst/>
          </a:prstGeom>
        </p:spPr>
      </p:pic>
      <p:sp>
        <p:nvSpPr>
          <p:cNvPr id="12" name="TextBox 11">
            <a:extLst>
              <a:ext uri="{FF2B5EF4-FFF2-40B4-BE49-F238E27FC236}">
                <a16:creationId xmlns:a16="http://schemas.microsoft.com/office/drawing/2014/main" id="{CABE4E25-5C7E-5559-BC3D-6FA3A1E4B6DB}"/>
              </a:ext>
            </a:extLst>
          </p:cNvPr>
          <p:cNvSpPr txBox="1"/>
          <p:nvPr/>
        </p:nvSpPr>
        <p:spPr>
          <a:xfrm>
            <a:off x="6108703" y="6183854"/>
            <a:ext cx="2244525" cy="369332"/>
          </a:xfrm>
          <a:prstGeom prst="rect">
            <a:avLst/>
          </a:prstGeom>
          <a:noFill/>
        </p:spPr>
        <p:txBody>
          <a:bodyPr wrap="none" rtlCol="0">
            <a:spAutoFit/>
          </a:bodyPr>
          <a:lstStyle/>
          <a:p>
            <a:r>
              <a:rPr lang="en-CN" dirty="0"/>
              <a:t>(Jonides &amp; Nee, 2006)</a:t>
            </a:r>
          </a:p>
        </p:txBody>
      </p:sp>
      <p:pic>
        <p:nvPicPr>
          <p:cNvPr id="17" name="Picture 16">
            <a:extLst>
              <a:ext uri="{FF2B5EF4-FFF2-40B4-BE49-F238E27FC236}">
                <a16:creationId xmlns:a16="http://schemas.microsoft.com/office/drawing/2014/main" id="{0AFBBD65-8F32-F344-B9AA-637EF90A10D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30965" y="1016000"/>
            <a:ext cx="4000500" cy="4826000"/>
          </a:xfrm>
          <a:prstGeom prst="rect">
            <a:avLst/>
          </a:prstGeom>
        </p:spPr>
      </p:pic>
      <p:sp>
        <p:nvSpPr>
          <p:cNvPr id="18" name="TextBox 17">
            <a:extLst>
              <a:ext uri="{FF2B5EF4-FFF2-40B4-BE49-F238E27FC236}">
                <a16:creationId xmlns:a16="http://schemas.microsoft.com/office/drawing/2014/main" id="{1E9E45A1-7717-F6DE-0F50-20D4ADD49970}"/>
              </a:ext>
            </a:extLst>
          </p:cNvPr>
          <p:cNvSpPr txBox="1"/>
          <p:nvPr/>
        </p:nvSpPr>
        <p:spPr>
          <a:xfrm>
            <a:off x="10389439" y="6034496"/>
            <a:ext cx="1684051" cy="369332"/>
          </a:xfrm>
          <a:prstGeom prst="rect">
            <a:avLst/>
          </a:prstGeom>
          <a:noFill/>
        </p:spPr>
        <p:txBody>
          <a:bodyPr wrap="none" rtlCol="0">
            <a:spAutoFit/>
          </a:bodyPr>
          <a:lstStyle/>
          <a:p>
            <a:r>
              <a:rPr lang="en-CN" dirty="0"/>
              <a:t>(Wickens, 1973)</a:t>
            </a:r>
          </a:p>
        </p:txBody>
      </p:sp>
    </p:spTree>
    <p:extLst>
      <p:ext uri="{BB962C8B-B14F-4D97-AF65-F5344CB8AC3E}">
        <p14:creationId xmlns:p14="http://schemas.microsoft.com/office/powerpoint/2010/main" val="31020083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BC93A-A52F-8B48-696F-D7622BC27CA4}"/>
            </a:ext>
          </a:extLst>
        </p:cNvPr>
        <p:cNvGrpSpPr/>
        <p:nvPr/>
      </p:nvGrpSpPr>
      <p:grpSpPr>
        <a:xfrm>
          <a:off x="0" y="0"/>
          <a:ext cx="0" cy="0"/>
          <a:chOff x="0" y="0"/>
          <a:chExt cx="0" cy="0"/>
        </a:xfrm>
      </p:grpSpPr>
      <p:grpSp>
        <p:nvGrpSpPr>
          <p:cNvPr id="10" name="组合 9">
            <a:extLst>
              <a:ext uri="{FF2B5EF4-FFF2-40B4-BE49-F238E27FC236}">
                <a16:creationId xmlns:a16="http://schemas.microsoft.com/office/drawing/2014/main" id="{C02FB036-52DD-ED54-34B7-82B597C65B59}"/>
              </a:ext>
            </a:extLst>
          </p:cNvPr>
          <p:cNvGrpSpPr/>
          <p:nvPr/>
        </p:nvGrpSpPr>
        <p:grpSpPr>
          <a:xfrm>
            <a:off x="49794" y="96334"/>
            <a:ext cx="12142207" cy="727169"/>
            <a:chOff x="-6488" y="56362"/>
            <a:chExt cx="8832187" cy="596763"/>
          </a:xfrm>
        </p:grpSpPr>
        <p:sp>
          <p:nvSpPr>
            <p:cNvPr id="11" name="矩形 10">
              <a:extLst>
                <a:ext uri="{FF2B5EF4-FFF2-40B4-BE49-F238E27FC236}">
                  <a16:creationId xmlns:a16="http://schemas.microsoft.com/office/drawing/2014/main" id="{1983F917-93B7-6F20-316F-57B25BB38267}"/>
                </a:ext>
              </a:extLst>
            </p:cNvPr>
            <p:cNvSpPr/>
            <p:nvPr/>
          </p:nvSpPr>
          <p:spPr>
            <a:xfrm>
              <a:off x="651757" y="56362"/>
              <a:ext cx="3748978" cy="5809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r>
                <a:rPr lang="en-US" altLang="zh-CN" sz="4000" b="1" dirty="0">
                  <a:solidFill>
                    <a:srgbClr val="C00000"/>
                  </a:solidFill>
                  <a:latin typeface="华文楷体" panose="02010600040101010101" pitchFamily="2" charset="-122"/>
                  <a:ea typeface="华文楷体" panose="02010600040101010101" pitchFamily="2" charset="-122"/>
                </a:rPr>
                <a:t>Psychological Research</a:t>
              </a:r>
            </a:p>
          </p:txBody>
        </p:sp>
        <p:cxnSp>
          <p:nvCxnSpPr>
            <p:cNvPr id="13" name="直接连接符 12">
              <a:extLst>
                <a:ext uri="{FF2B5EF4-FFF2-40B4-BE49-F238E27FC236}">
                  <a16:creationId xmlns:a16="http://schemas.microsoft.com/office/drawing/2014/main" id="{2211FB1D-348F-9F2B-B637-5A620530A50F}"/>
                </a:ext>
              </a:extLst>
            </p:cNvPr>
            <p:cNvCxnSpPr>
              <a:cxnSpLocks/>
            </p:cNvCxnSpPr>
            <p:nvPr/>
          </p:nvCxnSpPr>
          <p:spPr>
            <a:xfrm>
              <a:off x="574757" y="653125"/>
              <a:ext cx="8250942" cy="0"/>
            </a:xfrm>
            <a:prstGeom prst="line">
              <a:avLst/>
            </a:prstGeom>
            <a:ln w="12700" cap="rnd">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4031B953-1939-5CC4-6101-E07A4232B170}"/>
                </a:ext>
              </a:extLst>
            </p:cNvPr>
            <p:cNvSpPr/>
            <p:nvPr/>
          </p:nvSpPr>
          <p:spPr>
            <a:xfrm>
              <a:off x="-6488" y="142486"/>
              <a:ext cx="332509"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4B02A43E-1EE0-9ABA-8676-CC2C20850F9F}"/>
                </a:ext>
              </a:extLst>
            </p:cNvPr>
            <p:cNvSpPr/>
            <p:nvPr/>
          </p:nvSpPr>
          <p:spPr>
            <a:xfrm>
              <a:off x="367416" y="142486"/>
              <a:ext cx="130866"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 name="TextBox 4">
            <a:extLst>
              <a:ext uri="{FF2B5EF4-FFF2-40B4-BE49-F238E27FC236}">
                <a16:creationId xmlns:a16="http://schemas.microsoft.com/office/drawing/2014/main" id="{A353C1CE-C1D1-CA1D-CCF7-6A842A3ACE32}"/>
              </a:ext>
            </a:extLst>
          </p:cNvPr>
          <p:cNvSpPr txBox="1"/>
          <p:nvPr/>
        </p:nvSpPr>
        <p:spPr>
          <a:xfrm>
            <a:off x="0" y="842786"/>
            <a:ext cx="12129545" cy="5632311"/>
          </a:xfrm>
          <a:prstGeom prst="rect">
            <a:avLst/>
          </a:prstGeom>
          <a:noFill/>
        </p:spPr>
        <p:txBody>
          <a:bodyPr wrap="square">
            <a:spAutoFit/>
          </a:bodyPr>
          <a:lstStyle/>
          <a:p>
            <a:pPr>
              <a:buNone/>
            </a:pPr>
            <a:r>
              <a:rPr lang="en-CN" sz="2400" dirty="0">
                <a:latin typeface="Kaiti TC" panose="02010600040101010101" pitchFamily="2" charset="-120"/>
                <a:ea typeface="Kaiti TC" panose="02010600040101010101" pitchFamily="2" charset="-120"/>
              </a:rPr>
              <a:t>Proactive interference shows that working memory failure is not simply due to passive decay. Instead, </a:t>
            </a:r>
            <a:r>
              <a:rPr lang="en-CN" sz="2400" b="1" dirty="0">
                <a:latin typeface="Kaiti TC" panose="02010600040101010101" pitchFamily="2" charset="-120"/>
                <a:ea typeface="Kaiti TC" panose="02010600040101010101" pitchFamily="2" charset="-120"/>
              </a:rPr>
              <a:t>recently encoded but currently irrelevant information</a:t>
            </a:r>
            <a:r>
              <a:rPr lang="en-CN" sz="2400" dirty="0">
                <a:latin typeface="Kaiti TC" panose="02010600040101010101" pitchFamily="2" charset="-120"/>
                <a:ea typeface="Kaiti TC" panose="02010600040101010101" pitchFamily="2" charset="-120"/>
              </a:rPr>
              <a:t> can remain active and interfere with new information.</a:t>
            </a:r>
          </a:p>
          <a:p>
            <a:pPr>
              <a:buNone/>
            </a:pPr>
            <a:endParaRPr lang="en-CN" sz="2400" dirty="0">
              <a:latin typeface="Kaiti TC" panose="02010600040101010101" pitchFamily="2" charset="-120"/>
              <a:ea typeface="Kaiti TC" panose="02010600040101010101" pitchFamily="2" charset="-120"/>
            </a:endParaRPr>
          </a:p>
          <a:p>
            <a:pPr>
              <a:buNone/>
            </a:pPr>
            <a:r>
              <a:rPr lang="en-CN" sz="2400" dirty="0">
                <a:latin typeface="Kaiti TC" panose="02010600040101010101" pitchFamily="2" charset="-120"/>
                <a:ea typeface="Kaiti TC" panose="02010600040101010101" pitchFamily="2" charset="-120"/>
              </a:rPr>
              <a:t>First, working memory must continuously update its contents by </a:t>
            </a:r>
            <a:r>
              <a:rPr lang="en-CN" sz="2400" b="1" dirty="0">
                <a:latin typeface="Kaiti TC" panose="02010600040101010101" pitchFamily="2" charset="-120"/>
                <a:ea typeface="Kaiti TC" panose="02010600040101010101" pitchFamily="2" charset="-120"/>
              </a:rPr>
              <a:t>removing or de-binding outdated item–context associations</a:t>
            </a:r>
            <a:r>
              <a:rPr lang="en-CN" sz="2400" dirty="0">
                <a:latin typeface="Kaiti TC" panose="02010600040101010101" pitchFamily="2" charset="-120"/>
                <a:ea typeface="Kaiti TC" panose="02010600040101010101" pitchFamily="2" charset="-120"/>
              </a:rPr>
              <a:t>. When this process fails, old information intrudes into current recall.</a:t>
            </a:r>
          </a:p>
          <a:p>
            <a:pPr>
              <a:buNone/>
            </a:pPr>
            <a:endParaRPr lang="en-CN" sz="2400" dirty="0">
              <a:latin typeface="Kaiti TC" panose="02010600040101010101" pitchFamily="2" charset="-120"/>
              <a:ea typeface="Kaiti TC" panose="02010600040101010101" pitchFamily="2" charset="-120"/>
            </a:endParaRPr>
          </a:p>
          <a:p>
            <a:pPr>
              <a:buNone/>
            </a:pPr>
            <a:r>
              <a:rPr lang="en-CN" sz="2400" dirty="0">
                <a:latin typeface="Kaiti TC" panose="02010600040101010101" pitchFamily="2" charset="-120"/>
                <a:ea typeface="Kaiti TC" panose="02010600040101010101" pitchFamily="2" charset="-120"/>
              </a:rPr>
              <a:t>Second, interference is stronger </a:t>
            </a:r>
            <a:r>
              <a:rPr lang="en-CN" sz="2400" b="1" dirty="0">
                <a:latin typeface="Kaiti TC" panose="02010600040101010101" pitchFamily="2" charset="-120"/>
                <a:ea typeface="Kaiti TC" panose="02010600040101010101" pitchFamily="2" charset="-120"/>
              </a:rPr>
              <a:t>when old and new items are similar</a:t>
            </a:r>
            <a:r>
              <a:rPr lang="en-CN" sz="2400" dirty="0">
                <a:latin typeface="Kaiti TC" panose="02010600040101010101" pitchFamily="2" charset="-120"/>
                <a:ea typeface="Kaiti TC" panose="02010600040101010101" pitchFamily="2" charset="-120"/>
              </a:rPr>
              <a:t>. Shared perceptual, phonological, semantic, or contextual features increase competition, whereas a category shift can reduce interference and produce release from PI.</a:t>
            </a:r>
          </a:p>
          <a:p>
            <a:pPr>
              <a:buNone/>
            </a:pPr>
            <a:endParaRPr lang="en-CN" sz="2400" dirty="0">
              <a:latin typeface="Kaiti TC" panose="02010600040101010101" pitchFamily="2" charset="-120"/>
              <a:ea typeface="Kaiti TC" panose="02010600040101010101" pitchFamily="2" charset="-120"/>
            </a:endParaRPr>
          </a:p>
          <a:p>
            <a:pPr>
              <a:buNone/>
            </a:pPr>
            <a:r>
              <a:rPr lang="en-CN" sz="2400" dirty="0">
                <a:latin typeface="Kaiti TC" panose="02010600040101010101" pitchFamily="2" charset="-120"/>
                <a:ea typeface="Kaiti TC" panose="02010600040101010101" pitchFamily="2" charset="-120"/>
              </a:rPr>
              <a:t>Third, forgetting often reflects </a:t>
            </a:r>
            <a:r>
              <a:rPr lang="en-CN" sz="2400" b="1" dirty="0">
                <a:latin typeface="Kaiti TC" panose="02010600040101010101" pitchFamily="2" charset="-120"/>
                <a:ea typeface="Kaiti TC" panose="02010600040101010101" pitchFamily="2" charset="-120"/>
              </a:rPr>
              <a:t>retrieval competition rather than complete loss of information</a:t>
            </a:r>
            <a:r>
              <a:rPr lang="en-CN" sz="2400" dirty="0">
                <a:latin typeface="Kaiti TC" panose="02010600040101010101" pitchFamily="2" charset="-120"/>
                <a:ea typeface="Kaiti TC" panose="02010600040101010101" pitchFamily="2" charset="-120"/>
              </a:rPr>
              <a:t>. The system must distinguish current relevance from mere familiarity, selecting the target while suppressing outdated competitors.</a:t>
            </a:r>
          </a:p>
        </p:txBody>
      </p:sp>
    </p:spTree>
    <p:extLst>
      <p:ext uri="{BB962C8B-B14F-4D97-AF65-F5344CB8AC3E}">
        <p14:creationId xmlns:p14="http://schemas.microsoft.com/office/powerpoint/2010/main" val="13864115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97013-C15E-1378-D23C-099E502EDAD3}"/>
            </a:ext>
          </a:extLst>
        </p:cNvPr>
        <p:cNvGrpSpPr/>
        <p:nvPr/>
      </p:nvGrpSpPr>
      <p:grpSpPr>
        <a:xfrm>
          <a:off x="0" y="0"/>
          <a:ext cx="0" cy="0"/>
          <a:chOff x="0" y="0"/>
          <a:chExt cx="0" cy="0"/>
        </a:xfrm>
      </p:grpSpPr>
      <p:grpSp>
        <p:nvGrpSpPr>
          <p:cNvPr id="10" name="组合 9">
            <a:extLst>
              <a:ext uri="{FF2B5EF4-FFF2-40B4-BE49-F238E27FC236}">
                <a16:creationId xmlns:a16="http://schemas.microsoft.com/office/drawing/2014/main" id="{7B10A275-389F-748D-3992-57F07AFF108E}"/>
              </a:ext>
            </a:extLst>
          </p:cNvPr>
          <p:cNvGrpSpPr/>
          <p:nvPr/>
        </p:nvGrpSpPr>
        <p:grpSpPr>
          <a:xfrm>
            <a:off x="49794" y="96334"/>
            <a:ext cx="12142207" cy="727169"/>
            <a:chOff x="-6488" y="56362"/>
            <a:chExt cx="8832187" cy="596763"/>
          </a:xfrm>
        </p:grpSpPr>
        <p:sp>
          <p:nvSpPr>
            <p:cNvPr id="11" name="矩形 10">
              <a:extLst>
                <a:ext uri="{FF2B5EF4-FFF2-40B4-BE49-F238E27FC236}">
                  <a16:creationId xmlns:a16="http://schemas.microsoft.com/office/drawing/2014/main" id="{9F195617-E5F0-9A6E-5711-25C374C1CB14}"/>
                </a:ext>
              </a:extLst>
            </p:cNvPr>
            <p:cNvSpPr/>
            <p:nvPr/>
          </p:nvSpPr>
          <p:spPr>
            <a:xfrm>
              <a:off x="651757" y="56362"/>
              <a:ext cx="2431379" cy="5809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r>
                <a:rPr lang="en-US" altLang="zh-CN" sz="4000" b="1" dirty="0">
                  <a:solidFill>
                    <a:srgbClr val="C00000"/>
                  </a:solidFill>
                  <a:latin typeface="华文楷体" panose="02010600040101010101" pitchFamily="2" charset="-122"/>
                  <a:ea typeface="华文楷体" panose="02010600040101010101" pitchFamily="2" charset="-122"/>
                </a:rPr>
                <a:t>LLM Research</a:t>
              </a:r>
            </a:p>
          </p:txBody>
        </p:sp>
        <p:cxnSp>
          <p:nvCxnSpPr>
            <p:cNvPr id="13" name="直接连接符 12">
              <a:extLst>
                <a:ext uri="{FF2B5EF4-FFF2-40B4-BE49-F238E27FC236}">
                  <a16:creationId xmlns:a16="http://schemas.microsoft.com/office/drawing/2014/main" id="{97439EF4-54C3-8AB9-FEAA-06A5B2D5D6CF}"/>
                </a:ext>
              </a:extLst>
            </p:cNvPr>
            <p:cNvCxnSpPr>
              <a:cxnSpLocks/>
            </p:cNvCxnSpPr>
            <p:nvPr/>
          </p:nvCxnSpPr>
          <p:spPr>
            <a:xfrm>
              <a:off x="574757" y="653125"/>
              <a:ext cx="8250942" cy="0"/>
            </a:xfrm>
            <a:prstGeom prst="line">
              <a:avLst/>
            </a:prstGeom>
            <a:ln w="12700" cap="rnd">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F4F250A2-C3B2-0045-B275-E7252E42A6ED}"/>
                </a:ext>
              </a:extLst>
            </p:cNvPr>
            <p:cNvSpPr/>
            <p:nvPr/>
          </p:nvSpPr>
          <p:spPr>
            <a:xfrm>
              <a:off x="-6488" y="142486"/>
              <a:ext cx="332509"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7BA564C2-5637-3E03-20AD-9BF4624D097D}"/>
                </a:ext>
              </a:extLst>
            </p:cNvPr>
            <p:cNvSpPr/>
            <p:nvPr/>
          </p:nvSpPr>
          <p:spPr>
            <a:xfrm>
              <a:off x="367416" y="142486"/>
              <a:ext cx="130866"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 name="Picture 3">
            <a:extLst>
              <a:ext uri="{FF2B5EF4-FFF2-40B4-BE49-F238E27FC236}">
                <a16:creationId xmlns:a16="http://schemas.microsoft.com/office/drawing/2014/main" id="{20834464-7E74-7764-AE0D-579011C4B0F2}"/>
              </a:ext>
            </a:extLst>
          </p:cNvPr>
          <p:cNvPicPr>
            <a:picLocks noChangeAspect="1"/>
          </p:cNvPicPr>
          <p:nvPr/>
        </p:nvPicPr>
        <p:blipFill>
          <a:blip r:embed="rId3">
            <a:extLst>
              <a:ext uri="{28A0092B-C50C-407E-A947-70E740481C1C}">
                <a14:useLocalDpi xmlns:a14="http://schemas.microsoft.com/office/drawing/2010/main" val="0"/>
              </a:ext>
            </a:extLst>
          </a:blip>
          <a:srcRect l="1" r="-644" b="37309"/>
          <a:stretch>
            <a:fillRect/>
          </a:stretch>
        </p:blipFill>
        <p:spPr>
          <a:xfrm>
            <a:off x="278355" y="1537732"/>
            <a:ext cx="4422481" cy="4012714"/>
          </a:xfrm>
          <a:prstGeom prst="rect">
            <a:avLst/>
          </a:prstGeom>
        </p:spPr>
      </p:pic>
      <p:sp>
        <p:nvSpPr>
          <p:cNvPr id="5" name="TextBox 4">
            <a:extLst>
              <a:ext uri="{FF2B5EF4-FFF2-40B4-BE49-F238E27FC236}">
                <a16:creationId xmlns:a16="http://schemas.microsoft.com/office/drawing/2014/main" id="{2A5C15A4-5796-7F99-FC61-F2E484C03C46}"/>
              </a:ext>
            </a:extLst>
          </p:cNvPr>
          <p:cNvSpPr txBox="1"/>
          <p:nvPr/>
        </p:nvSpPr>
        <p:spPr>
          <a:xfrm>
            <a:off x="49794" y="999306"/>
            <a:ext cx="4532010" cy="461665"/>
          </a:xfrm>
          <a:prstGeom prst="rect">
            <a:avLst/>
          </a:prstGeom>
          <a:noFill/>
        </p:spPr>
        <p:txBody>
          <a:bodyPr wrap="none" rtlCol="0">
            <a:spAutoFit/>
          </a:bodyPr>
          <a:lstStyle/>
          <a:p>
            <a:r>
              <a:rPr lang="en-CN" sz="2400" dirty="0">
                <a:latin typeface="Kaiti TC" panose="02010600040101010101" pitchFamily="2" charset="-120"/>
                <a:ea typeface="Kaiti TC" panose="02010600040101010101" pitchFamily="2" charset="-120"/>
              </a:rPr>
              <a:t>Key-value pairs paradigm in LLM</a:t>
            </a:r>
          </a:p>
        </p:txBody>
      </p:sp>
      <p:sp>
        <p:nvSpPr>
          <p:cNvPr id="6" name="TextBox 5">
            <a:extLst>
              <a:ext uri="{FF2B5EF4-FFF2-40B4-BE49-F238E27FC236}">
                <a16:creationId xmlns:a16="http://schemas.microsoft.com/office/drawing/2014/main" id="{E282C6A7-0D76-3489-6E63-CC599E5C8960}"/>
              </a:ext>
            </a:extLst>
          </p:cNvPr>
          <p:cNvSpPr txBox="1"/>
          <p:nvPr/>
        </p:nvSpPr>
        <p:spPr>
          <a:xfrm>
            <a:off x="9956800" y="6235700"/>
            <a:ext cx="2055371" cy="369332"/>
          </a:xfrm>
          <a:prstGeom prst="rect">
            <a:avLst/>
          </a:prstGeom>
          <a:noFill/>
        </p:spPr>
        <p:txBody>
          <a:bodyPr wrap="none" rtlCol="0">
            <a:spAutoFit/>
          </a:bodyPr>
          <a:lstStyle/>
          <a:p>
            <a:r>
              <a:rPr lang="en-CN" dirty="0"/>
              <a:t>(Wang &amp; Sun, 2025)</a:t>
            </a:r>
          </a:p>
        </p:txBody>
      </p:sp>
      <p:pic>
        <p:nvPicPr>
          <p:cNvPr id="8" name="Picture 7">
            <a:extLst>
              <a:ext uri="{FF2B5EF4-FFF2-40B4-BE49-F238E27FC236}">
                <a16:creationId xmlns:a16="http://schemas.microsoft.com/office/drawing/2014/main" id="{4EF427F3-57C8-7F8A-273E-61BCD63E604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37159" y="972169"/>
            <a:ext cx="4146077" cy="5632863"/>
          </a:xfrm>
          <a:prstGeom prst="rect">
            <a:avLst/>
          </a:prstGeom>
        </p:spPr>
      </p:pic>
      <p:sp>
        <p:nvSpPr>
          <p:cNvPr id="9" name="TextBox 8">
            <a:extLst>
              <a:ext uri="{FF2B5EF4-FFF2-40B4-BE49-F238E27FC236}">
                <a16:creationId xmlns:a16="http://schemas.microsoft.com/office/drawing/2014/main" id="{E7C3114B-8C8D-6CAF-3821-76C7E4F6327B}"/>
              </a:ext>
            </a:extLst>
          </p:cNvPr>
          <p:cNvSpPr txBox="1"/>
          <p:nvPr/>
        </p:nvSpPr>
        <p:spPr>
          <a:xfrm>
            <a:off x="1633561" y="5489362"/>
            <a:ext cx="1723549" cy="461665"/>
          </a:xfrm>
          <a:prstGeom prst="rect">
            <a:avLst/>
          </a:prstGeom>
          <a:noFill/>
        </p:spPr>
        <p:txBody>
          <a:bodyPr wrap="none" rtlCol="0">
            <a:spAutoFit/>
          </a:bodyPr>
          <a:lstStyle/>
          <a:p>
            <a:r>
              <a:rPr lang="en-CN" sz="2400" dirty="0">
                <a:latin typeface="Kaiti TC" panose="02010600040101010101" pitchFamily="2" charset="-120"/>
                <a:ea typeface="Kaiti TC" panose="02010600040101010101" pitchFamily="2" charset="-120"/>
              </a:rPr>
              <a:t>提示词设计</a:t>
            </a:r>
          </a:p>
        </p:txBody>
      </p:sp>
      <p:sp>
        <p:nvSpPr>
          <p:cNvPr id="12" name="TextBox 11">
            <a:extLst>
              <a:ext uri="{FF2B5EF4-FFF2-40B4-BE49-F238E27FC236}">
                <a16:creationId xmlns:a16="http://schemas.microsoft.com/office/drawing/2014/main" id="{EF03952D-AB69-2F57-F68E-40010D9C6BD8}"/>
              </a:ext>
            </a:extLst>
          </p:cNvPr>
          <p:cNvSpPr txBox="1"/>
          <p:nvPr/>
        </p:nvSpPr>
        <p:spPr>
          <a:xfrm>
            <a:off x="9951223" y="2485679"/>
            <a:ext cx="687368" cy="2605842"/>
          </a:xfrm>
          <a:prstGeom prst="rect">
            <a:avLst/>
          </a:prstGeom>
          <a:noFill/>
        </p:spPr>
        <p:txBody>
          <a:bodyPr vert="wordArtVert" wrap="none" rtlCol="0">
            <a:spAutoFit/>
          </a:bodyPr>
          <a:lstStyle/>
          <a:p>
            <a:r>
              <a:rPr lang="en-CN" sz="2400" dirty="0">
                <a:latin typeface="Kaiti TC" panose="02010600040101010101" pitchFamily="2" charset="-120"/>
                <a:ea typeface="Kaiti TC" panose="02010600040101010101" pitchFamily="2" charset="-120"/>
              </a:rPr>
              <a:t>多模型结果</a:t>
            </a:r>
          </a:p>
        </p:txBody>
      </p:sp>
    </p:spTree>
    <p:extLst>
      <p:ext uri="{BB962C8B-B14F-4D97-AF65-F5344CB8AC3E}">
        <p14:creationId xmlns:p14="http://schemas.microsoft.com/office/powerpoint/2010/main" val="7280491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99248-D1B8-0F11-B1CC-7BD16631ADE5}"/>
            </a:ext>
          </a:extLst>
        </p:cNvPr>
        <p:cNvGrpSpPr/>
        <p:nvPr/>
      </p:nvGrpSpPr>
      <p:grpSpPr>
        <a:xfrm>
          <a:off x="0" y="0"/>
          <a:ext cx="0" cy="0"/>
          <a:chOff x="0" y="0"/>
          <a:chExt cx="0" cy="0"/>
        </a:xfrm>
      </p:grpSpPr>
      <p:grpSp>
        <p:nvGrpSpPr>
          <p:cNvPr id="10" name="组合 9">
            <a:extLst>
              <a:ext uri="{FF2B5EF4-FFF2-40B4-BE49-F238E27FC236}">
                <a16:creationId xmlns:a16="http://schemas.microsoft.com/office/drawing/2014/main" id="{8A85E46E-0B95-492A-02EB-C5EC3A6601B6}"/>
              </a:ext>
            </a:extLst>
          </p:cNvPr>
          <p:cNvGrpSpPr/>
          <p:nvPr/>
        </p:nvGrpSpPr>
        <p:grpSpPr>
          <a:xfrm>
            <a:off x="49794" y="96334"/>
            <a:ext cx="12142207" cy="727169"/>
            <a:chOff x="-6488" y="56362"/>
            <a:chExt cx="8832187" cy="596763"/>
          </a:xfrm>
        </p:grpSpPr>
        <p:sp>
          <p:nvSpPr>
            <p:cNvPr id="11" name="矩形 10">
              <a:extLst>
                <a:ext uri="{FF2B5EF4-FFF2-40B4-BE49-F238E27FC236}">
                  <a16:creationId xmlns:a16="http://schemas.microsoft.com/office/drawing/2014/main" id="{898A3404-54BE-148D-852F-12AE23D01871}"/>
                </a:ext>
              </a:extLst>
            </p:cNvPr>
            <p:cNvSpPr/>
            <p:nvPr/>
          </p:nvSpPr>
          <p:spPr>
            <a:xfrm>
              <a:off x="651757" y="56362"/>
              <a:ext cx="2431379" cy="5809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r>
                <a:rPr lang="en-US" altLang="zh-CN" sz="4000" b="1" dirty="0">
                  <a:solidFill>
                    <a:srgbClr val="C00000"/>
                  </a:solidFill>
                  <a:latin typeface="华文楷体" panose="02010600040101010101" pitchFamily="2" charset="-122"/>
                  <a:ea typeface="华文楷体" panose="02010600040101010101" pitchFamily="2" charset="-122"/>
                </a:rPr>
                <a:t>LLM</a:t>
              </a:r>
              <a:r>
                <a:rPr lang="zh-CN" altLang="en-US" sz="4000" b="1" dirty="0">
                  <a:solidFill>
                    <a:srgbClr val="C00000"/>
                  </a:solidFill>
                  <a:latin typeface="华文楷体" panose="02010600040101010101" pitchFamily="2" charset="-122"/>
                  <a:ea typeface="华文楷体" panose="02010600040101010101" pitchFamily="2" charset="-122"/>
                </a:rPr>
                <a:t> </a:t>
              </a:r>
              <a:r>
                <a:rPr lang="en-US" altLang="zh-CN" sz="4000" b="1" dirty="0">
                  <a:solidFill>
                    <a:srgbClr val="C00000"/>
                  </a:solidFill>
                  <a:latin typeface="华文楷体" panose="02010600040101010101" pitchFamily="2" charset="-122"/>
                  <a:ea typeface="华文楷体" panose="02010600040101010101" pitchFamily="2" charset="-122"/>
                </a:rPr>
                <a:t>Research</a:t>
              </a:r>
            </a:p>
          </p:txBody>
        </p:sp>
        <p:cxnSp>
          <p:nvCxnSpPr>
            <p:cNvPr id="13" name="直接连接符 12">
              <a:extLst>
                <a:ext uri="{FF2B5EF4-FFF2-40B4-BE49-F238E27FC236}">
                  <a16:creationId xmlns:a16="http://schemas.microsoft.com/office/drawing/2014/main" id="{23615334-5C91-C1E4-1358-0CFD66A6F67A}"/>
                </a:ext>
              </a:extLst>
            </p:cNvPr>
            <p:cNvCxnSpPr>
              <a:cxnSpLocks/>
            </p:cNvCxnSpPr>
            <p:nvPr/>
          </p:nvCxnSpPr>
          <p:spPr>
            <a:xfrm>
              <a:off x="574757" y="653125"/>
              <a:ext cx="8250942" cy="0"/>
            </a:xfrm>
            <a:prstGeom prst="line">
              <a:avLst/>
            </a:prstGeom>
            <a:ln w="12700" cap="rnd">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0B477AE6-D984-62D5-528A-A747EF7822E4}"/>
                </a:ext>
              </a:extLst>
            </p:cNvPr>
            <p:cNvSpPr/>
            <p:nvPr/>
          </p:nvSpPr>
          <p:spPr>
            <a:xfrm>
              <a:off x="-6488" y="142486"/>
              <a:ext cx="332509"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E9E7ABF7-8AED-1DA8-D1FB-A415B407B416}"/>
                </a:ext>
              </a:extLst>
            </p:cNvPr>
            <p:cNvSpPr/>
            <p:nvPr/>
          </p:nvSpPr>
          <p:spPr>
            <a:xfrm>
              <a:off x="367416" y="142486"/>
              <a:ext cx="130866"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3" name="Picture 2">
            <a:extLst>
              <a:ext uri="{FF2B5EF4-FFF2-40B4-BE49-F238E27FC236}">
                <a16:creationId xmlns:a16="http://schemas.microsoft.com/office/drawing/2014/main" id="{3321CCBD-B8D2-2F45-36F2-A13A4B71BB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6917" y="916397"/>
            <a:ext cx="4356100" cy="5118100"/>
          </a:xfrm>
          <a:prstGeom prst="rect">
            <a:avLst/>
          </a:prstGeom>
        </p:spPr>
      </p:pic>
      <p:sp>
        <p:nvSpPr>
          <p:cNvPr id="4" name="TextBox 3">
            <a:extLst>
              <a:ext uri="{FF2B5EF4-FFF2-40B4-BE49-F238E27FC236}">
                <a16:creationId xmlns:a16="http://schemas.microsoft.com/office/drawing/2014/main" id="{1105B102-FEF4-54A9-B76D-018D07C276AF}"/>
              </a:ext>
            </a:extLst>
          </p:cNvPr>
          <p:cNvSpPr txBox="1"/>
          <p:nvPr/>
        </p:nvSpPr>
        <p:spPr>
          <a:xfrm>
            <a:off x="1053751" y="6034497"/>
            <a:ext cx="3262432" cy="461665"/>
          </a:xfrm>
          <a:prstGeom prst="rect">
            <a:avLst/>
          </a:prstGeom>
          <a:noFill/>
        </p:spPr>
        <p:txBody>
          <a:bodyPr wrap="none" rtlCol="0">
            <a:spAutoFit/>
          </a:bodyPr>
          <a:lstStyle/>
          <a:p>
            <a:r>
              <a:rPr lang="en-CN" sz="2400" dirty="0">
                <a:latin typeface="Kaiti TC" panose="02010600040101010101" pitchFamily="2" charset="-120"/>
                <a:ea typeface="Kaiti TC" panose="02010600040101010101" pitchFamily="2" charset="-120"/>
              </a:rPr>
              <a:t>错误答案落在哪个区间</a:t>
            </a:r>
          </a:p>
        </p:txBody>
      </p:sp>
      <p:pic>
        <p:nvPicPr>
          <p:cNvPr id="6" name="Picture 5">
            <a:extLst>
              <a:ext uri="{FF2B5EF4-FFF2-40B4-BE49-F238E27FC236}">
                <a16:creationId xmlns:a16="http://schemas.microsoft.com/office/drawing/2014/main" id="{503D1599-7D78-E1D7-776C-768E2333BB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916397"/>
            <a:ext cx="4902200" cy="4295116"/>
          </a:xfrm>
          <a:prstGeom prst="rect">
            <a:avLst/>
          </a:prstGeom>
        </p:spPr>
      </p:pic>
      <p:sp>
        <p:nvSpPr>
          <p:cNvPr id="7" name="TextBox 6">
            <a:extLst>
              <a:ext uri="{FF2B5EF4-FFF2-40B4-BE49-F238E27FC236}">
                <a16:creationId xmlns:a16="http://schemas.microsoft.com/office/drawing/2014/main" id="{1A63CCE2-3396-CFAD-5992-A6C8C41C4AC3}"/>
              </a:ext>
            </a:extLst>
          </p:cNvPr>
          <p:cNvSpPr txBox="1"/>
          <p:nvPr/>
        </p:nvSpPr>
        <p:spPr>
          <a:xfrm>
            <a:off x="6235700" y="4980680"/>
            <a:ext cx="5240537" cy="461665"/>
          </a:xfrm>
          <a:prstGeom prst="rect">
            <a:avLst/>
          </a:prstGeom>
          <a:noFill/>
        </p:spPr>
        <p:txBody>
          <a:bodyPr wrap="none" rtlCol="0">
            <a:spAutoFit/>
          </a:bodyPr>
          <a:lstStyle/>
          <a:p>
            <a:r>
              <a:rPr lang="en-CN" sz="2400" dirty="0">
                <a:latin typeface="Kaiti TC" panose="02010600040101010101" pitchFamily="2" charset="-120"/>
                <a:ea typeface="Kaiti TC" panose="02010600040101010101" pitchFamily="2" charset="-120"/>
              </a:rPr>
              <a:t>规律施</a:t>
            </a:r>
            <a:r>
              <a:rPr lang="zh-CN" altLang="en-US" sz="2400" dirty="0">
                <a:latin typeface="Kaiti TC" panose="02010600040101010101" pitchFamily="2" charset="-120"/>
                <a:ea typeface="Kaiti TC" panose="02010600040101010101" pitchFamily="2" charset="-120"/>
              </a:rPr>
              <a:t> </a:t>
            </a:r>
            <a:r>
              <a:rPr lang="en-CN" sz="2400" dirty="0">
                <a:latin typeface="Kaiti TC" panose="02010600040101010101" pitchFamily="2" charset="-120"/>
                <a:ea typeface="Kaiti TC" panose="02010600040101010101" pitchFamily="2" charset="-120"/>
              </a:rPr>
              <a:t>key-value</a:t>
            </a:r>
            <a:r>
              <a:rPr lang="zh-CN" altLang="en-US" sz="2400" dirty="0">
                <a:latin typeface="Kaiti TC" panose="02010600040101010101" pitchFamily="2" charset="-120"/>
                <a:ea typeface="Kaiti TC" panose="02010600040101010101" pitchFamily="2" charset="-120"/>
              </a:rPr>
              <a:t> </a:t>
            </a:r>
            <a:r>
              <a:rPr lang="en-CN" sz="2400" dirty="0">
                <a:latin typeface="Kaiti TC" panose="02010600040101010101" pitchFamily="2" charset="-120"/>
                <a:ea typeface="Kaiti TC" panose="02010600040101010101" pitchFamily="2" charset="-120"/>
              </a:rPr>
              <a:t>变化带来的雪崩效应</a:t>
            </a:r>
          </a:p>
        </p:txBody>
      </p:sp>
      <p:sp>
        <p:nvSpPr>
          <p:cNvPr id="8" name="TextBox 7">
            <a:extLst>
              <a:ext uri="{FF2B5EF4-FFF2-40B4-BE49-F238E27FC236}">
                <a16:creationId xmlns:a16="http://schemas.microsoft.com/office/drawing/2014/main" id="{F7D7F586-DCCC-88A5-2413-4823D6E951CE}"/>
              </a:ext>
            </a:extLst>
          </p:cNvPr>
          <p:cNvSpPr txBox="1"/>
          <p:nvPr/>
        </p:nvSpPr>
        <p:spPr>
          <a:xfrm>
            <a:off x="9956800" y="6235700"/>
            <a:ext cx="2055371" cy="369332"/>
          </a:xfrm>
          <a:prstGeom prst="rect">
            <a:avLst/>
          </a:prstGeom>
          <a:noFill/>
        </p:spPr>
        <p:txBody>
          <a:bodyPr wrap="none" rtlCol="0">
            <a:spAutoFit/>
          </a:bodyPr>
          <a:lstStyle/>
          <a:p>
            <a:r>
              <a:rPr lang="en-CN" dirty="0"/>
              <a:t>(Wang &amp; Sun, 2025)</a:t>
            </a:r>
          </a:p>
        </p:txBody>
      </p:sp>
    </p:spTree>
    <p:extLst>
      <p:ext uri="{BB962C8B-B14F-4D97-AF65-F5344CB8AC3E}">
        <p14:creationId xmlns:p14="http://schemas.microsoft.com/office/powerpoint/2010/main" val="28074678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198DE-EDBA-EADB-0360-6729D6F12BE1}"/>
            </a:ext>
          </a:extLst>
        </p:cNvPr>
        <p:cNvGrpSpPr/>
        <p:nvPr/>
      </p:nvGrpSpPr>
      <p:grpSpPr>
        <a:xfrm>
          <a:off x="0" y="0"/>
          <a:ext cx="0" cy="0"/>
          <a:chOff x="0" y="0"/>
          <a:chExt cx="0" cy="0"/>
        </a:xfrm>
      </p:grpSpPr>
      <p:grpSp>
        <p:nvGrpSpPr>
          <p:cNvPr id="10" name="组合 9">
            <a:extLst>
              <a:ext uri="{FF2B5EF4-FFF2-40B4-BE49-F238E27FC236}">
                <a16:creationId xmlns:a16="http://schemas.microsoft.com/office/drawing/2014/main" id="{6E42BD8E-4F6D-9240-6089-148D6C983DEE}"/>
              </a:ext>
            </a:extLst>
          </p:cNvPr>
          <p:cNvGrpSpPr/>
          <p:nvPr/>
        </p:nvGrpSpPr>
        <p:grpSpPr>
          <a:xfrm>
            <a:off x="49794" y="96334"/>
            <a:ext cx="12142207" cy="727169"/>
            <a:chOff x="-6488" y="56362"/>
            <a:chExt cx="8832187" cy="596763"/>
          </a:xfrm>
        </p:grpSpPr>
        <p:sp>
          <p:nvSpPr>
            <p:cNvPr id="11" name="矩形 10">
              <a:extLst>
                <a:ext uri="{FF2B5EF4-FFF2-40B4-BE49-F238E27FC236}">
                  <a16:creationId xmlns:a16="http://schemas.microsoft.com/office/drawing/2014/main" id="{E5197ECD-81F6-E47D-E5C2-801F02D4DDD5}"/>
                </a:ext>
              </a:extLst>
            </p:cNvPr>
            <p:cNvSpPr/>
            <p:nvPr/>
          </p:nvSpPr>
          <p:spPr>
            <a:xfrm>
              <a:off x="651757" y="56362"/>
              <a:ext cx="2431379" cy="5809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r>
                <a:rPr lang="en-US" altLang="zh-CN" sz="4000" b="1" dirty="0">
                  <a:solidFill>
                    <a:srgbClr val="C00000"/>
                  </a:solidFill>
                  <a:latin typeface="华文楷体" panose="02010600040101010101" pitchFamily="2" charset="-122"/>
                  <a:ea typeface="华文楷体" panose="02010600040101010101" pitchFamily="2" charset="-122"/>
                </a:rPr>
                <a:t>LLM</a:t>
              </a:r>
              <a:r>
                <a:rPr lang="zh-CN" altLang="en-US" sz="4000" b="1" dirty="0">
                  <a:solidFill>
                    <a:srgbClr val="C00000"/>
                  </a:solidFill>
                  <a:latin typeface="华文楷体" panose="02010600040101010101" pitchFamily="2" charset="-122"/>
                  <a:ea typeface="华文楷体" panose="02010600040101010101" pitchFamily="2" charset="-122"/>
                </a:rPr>
                <a:t> </a:t>
              </a:r>
              <a:r>
                <a:rPr lang="en-US" altLang="zh-CN" sz="4000" b="1" dirty="0">
                  <a:solidFill>
                    <a:srgbClr val="C00000"/>
                  </a:solidFill>
                  <a:latin typeface="华文楷体" panose="02010600040101010101" pitchFamily="2" charset="-122"/>
                  <a:ea typeface="华文楷体" panose="02010600040101010101" pitchFamily="2" charset="-122"/>
                </a:rPr>
                <a:t>Research</a:t>
              </a:r>
            </a:p>
          </p:txBody>
        </p:sp>
        <p:cxnSp>
          <p:nvCxnSpPr>
            <p:cNvPr id="13" name="直接连接符 12">
              <a:extLst>
                <a:ext uri="{FF2B5EF4-FFF2-40B4-BE49-F238E27FC236}">
                  <a16:creationId xmlns:a16="http://schemas.microsoft.com/office/drawing/2014/main" id="{35FCF878-79ED-D124-7ACA-589D4E858856}"/>
                </a:ext>
              </a:extLst>
            </p:cNvPr>
            <p:cNvCxnSpPr>
              <a:cxnSpLocks/>
            </p:cNvCxnSpPr>
            <p:nvPr/>
          </p:nvCxnSpPr>
          <p:spPr>
            <a:xfrm>
              <a:off x="574757" y="653125"/>
              <a:ext cx="8250942" cy="0"/>
            </a:xfrm>
            <a:prstGeom prst="line">
              <a:avLst/>
            </a:prstGeom>
            <a:ln w="12700" cap="rnd">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C7EECE3B-671B-3F44-5184-B379A889A919}"/>
                </a:ext>
              </a:extLst>
            </p:cNvPr>
            <p:cNvSpPr/>
            <p:nvPr/>
          </p:nvSpPr>
          <p:spPr>
            <a:xfrm>
              <a:off x="-6488" y="142486"/>
              <a:ext cx="332509"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15460C2F-ADEB-E8D2-7702-91CAAF20553C}"/>
                </a:ext>
              </a:extLst>
            </p:cNvPr>
            <p:cNvSpPr/>
            <p:nvPr/>
          </p:nvSpPr>
          <p:spPr>
            <a:xfrm>
              <a:off x="367416" y="142486"/>
              <a:ext cx="130866"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TextBox 7">
            <a:extLst>
              <a:ext uri="{FF2B5EF4-FFF2-40B4-BE49-F238E27FC236}">
                <a16:creationId xmlns:a16="http://schemas.microsoft.com/office/drawing/2014/main" id="{52A5430A-BC68-8EA1-863F-FCC676F533B2}"/>
              </a:ext>
            </a:extLst>
          </p:cNvPr>
          <p:cNvSpPr txBox="1"/>
          <p:nvPr/>
        </p:nvSpPr>
        <p:spPr>
          <a:xfrm>
            <a:off x="9956800" y="6235700"/>
            <a:ext cx="2055371" cy="369332"/>
          </a:xfrm>
          <a:prstGeom prst="rect">
            <a:avLst/>
          </a:prstGeom>
          <a:noFill/>
        </p:spPr>
        <p:txBody>
          <a:bodyPr wrap="none" rtlCol="0">
            <a:spAutoFit/>
          </a:bodyPr>
          <a:lstStyle/>
          <a:p>
            <a:r>
              <a:rPr lang="en-CN" dirty="0"/>
              <a:t>(Wang &amp; Sun, 2025)</a:t>
            </a:r>
          </a:p>
        </p:txBody>
      </p:sp>
      <p:pic>
        <p:nvPicPr>
          <p:cNvPr id="5" name="Picture 4">
            <a:extLst>
              <a:ext uri="{FF2B5EF4-FFF2-40B4-BE49-F238E27FC236}">
                <a16:creationId xmlns:a16="http://schemas.microsoft.com/office/drawing/2014/main" id="{8384E37B-A5FE-B37A-7C2D-D8DFC45256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8355" y="971550"/>
            <a:ext cx="4381500" cy="4000500"/>
          </a:xfrm>
          <a:prstGeom prst="rect">
            <a:avLst/>
          </a:prstGeom>
        </p:spPr>
      </p:pic>
      <p:sp>
        <p:nvSpPr>
          <p:cNvPr id="9" name="TextBox 8">
            <a:extLst>
              <a:ext uri="{FF2B5EF4-FFF2-40B4-BE49-F238E27FC236}">
                <a16:creationId xmlns:a16="http://schemas.microsoft.com/office/drawing/2014/main" id="{0CC4C70B-E739-9C93-E91A-1FAC41EF5B74}"/>
              </a:ext>
            </a:extLst>
          </p:cNvPr>
          <p:cNvSpPr txBox="1"/>
          <p:nvPr/>
        </p:nvSpPr>
        <p:spPr>
          <a:xfrm>
            <a:off x="278355" y="4972050"/>
            <a:ext cx="4381500" cy="1200329"/>
          </a:xfrm>
          <a:prstGeom prst="rect">
            <a:avLst/>
          </a:prstGeom>
          <a:noFill/>
        </p:spPr>
        <p:txBody>
          <a:bodyPr wrap="square" rtlCol="0">
            <a:spAutoFit/>
          </a:bodyPr>
          <a:lstStyle/>
          <a:p>
            <a:pPr algn="ctr"/>
            <a:r>
              <a:rPr lang="en-CN" sz="2400" dirty="0">
                <a:latin typeface="Kaiti TC" panose="02010600040101010101" pitchFamily="2" charset="-120"/>
                <a:ea typeface="Kaiti TC" panose="02010600040101010101" pitchFamily="2" charset="-120"/>
              </a:rPr>
              <a:t>解耦updated</a:t>
            </a:r>
            <a:r>
              <a:rPr lang="zh-CN" altLang="en-US" sz="2400" dirty="0">
                <a:latin typeface="Kaiti TC" panose="02010600040101010101" pitchFamily="2" charset="-120"/>
                <a:ea typeface="Kaiti TC" panose="02010600040101010101" pitchFamily="2" charset="-120"/>
              </a:rPr>
              <a:t> </a:t>
            </a:r>
            <a:r>
              <a:rPr lang="en-CN" sz="2400" dirty="0">
                <a:latin typeface="Kaiti TC" panose="02010600040101010101" pitchFamily="2" charset="-120"/>
                <a:ea typeface="Kaiti TC" panose="02010600040101010101" pitchFamily="2" charset="-120"/>
              </a:rPr>
              <a:t>key</a:t>
            </a:r>
            <a:r>
              <a:rPr lang="en-US" altLang="zh-CN" sz="2400" dirty="0">
                <a:latin typeface="Kaiti TC" panose="02010600040101010101" pitchFamily="2" charset="-120"/>
                <a:ea typeface="Kaiti TC" panose="02010600040101010101" pitchFamily="2" charset="-120"/>
              </a:rPr>
              <a:t>-value</a:t>
            </a:r>
            <a:r>
              <a:rPr lang="zh-CN" altLang="en-US" sz="2400" dirty="0">
                <a:latin typeface="Kaiti TC" panose="02010600040101010101" pitchFamily="2" charset="-120"/>
                <a:ea typeface="Kaiti TC" panose="02010600040101010101" pitchFamily="2" charset="-120"/>
              </a:rPr>
              <a:t>和</a:t>
            </a:r>
            <a:r>
              <a:rPr lang="en-US" altLang="zh-CN" sz="2400" dirty="0">
                <a:latin typeface="Kaiti TC" panose="02010600040101010101" pitchFamily="2" charset="-120"/>
                <a:ea typeface="Kaiti TC" panose="02010600040101010101" pitchFamily="2" charset="-120"/>
              </a:rPr>
              <a:t>tracked</a:t>
            </a:r>
            <a:r>
              <a:rPr lang="zh-CN" altLang="en-US" sz="2400" dirty="0">
                <a:latin typeface="Kaiti TC" panose="02010600040101010101" pitchFamily="2" charset="-120"/>
                <a:ea typeface="Kaiti TC" panose="02010600040101010101" pitchFamily="2" charset="-120"/>
              </a:rPr>
              <a:t> </a:t>
            </a:r>
            <a:r>
              <a:rPr lang="en-US" altLang="zh-CN" sz="2400" dirty="0">
                <a:latin typeface="Kaiti TC" panose="02010600040101010101" pitchFamily="2" charset="-120"/>
                <a:ea typeface="Kaiti TC" panose="02010600040101010101" pitchFamily="2" charset="-120"/>
              </a:rPr>
              <a:t>key-value</a:t>
            </a:r>
            <a:r>
              <a:rPr lang="zh-CN" altLang="en-US" sz="2400" dirty="0">
                <a:latin typeface="Kaiti TC" panose="02010600040101010101" pitchFamily="2" charset="-120"/>
                <a:ea typeface="Kaiti TC" panose="02010600040101010101" pitchFamily="2" charset="-120"/>
              </a:rPr>
              <a:t>以排除</a:t>
            </a:r>
            <a:r>
              <a:rPr lang="en-US" altLang="zh-CN" sz="2400" dirty="0">
                <a:latin typeface="Kaiti TC" panose="02010600040101010101" pitchFamily="2" charset="-120"/>
                <a:ea typeface="Kaiti TC" panose="02010600040101010101" pitchFamily="2" charset="-120"/>
              </a:rPr>
              <a:t>context</a:t>
            </a:r>
            <a:r>
              <a:rPr lang="zh-CN" altLang="en-US" sz="2400" dirty="0">
                <a:latin typeface="Kaiti TC" panose="02010600040101010101" pitchFamily="2" charset="-120"/>
                <a:ea typeface="Kaiti TC" panose="02010600040101010101" pitchFamily="2" charset="-120"/>
              </a:rPr>
              <a:t>长度的影响</a:t>
            </a:r>
            <a:endParaRPr lang="en-CN" sz="2400" dirty="0">
              <a:latin typeface="Kaiti TC" panose="02010600040101010101" pitchFamily="2" charset="-120"/>
              <a:ea typeface="Kaiti TC" panose="02010600040101010101" pitchFamily="2" charset="-120"/>
            </a:endParaRPr>
          </a:p>
        </p:txBody>
      </p:sp>
      <p:pic>
        <p:nvPicPr>
          <p:cNvPr id="16" name="Picture 15">
            <a:extLst>
              <a:ext uri="{FF2B5EF4-FFF2-40B4-BE49-F238E27FC236}">
                <a16:creationId xmlns:a16="http://schemas.microsoft.com/office/drawing/2014/main" id="{A885362E-567B-3169-9AEC-90E5434A2A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80000" y="901700"/>
            <a:ext cx="7112000" cy="5334000"/>
          </a:xfrm>
          <a:prstGeom prst="rect">
            <a:avLst/>
          </a:prstGeom>
        </p:spPr>
      </p:pic>
    </p:spTree>
    <p:extLst>
      <p:ext uri="{BB962C8B-B14F-4D97-AF65-F5344CB8AC3E}">
        <p14:creationId xmlns:p14="http://schemas.microsoft.com/office/powerpoint/2010/main" val="15375108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B3084-815B-A2F3-6E8F-BB1B1D7CB1FC}"/>
            </a:ext>
          </a:extLst>
        </p:cNvPr>
        <p:cNvGrpSpPr/>
        <p:nvPr/>
      </p:nvGrpSpPr>
      <p:grpSpPr>
        <a:xfrm>
          <a:off x="0" y="0"/>
          <a:ext cx="0" cy="0"/>
          <a:chOff x="0" y="0"/>
          <a:chExt cx="0" cy="0"/>
        </a:xfrm>
      </p:grpSpPr>
      <p:grpSp>
        <p:nvGrpSpPr>
          <p:cNvPr id="10" name="组合 9">
            <a:extLst>
              <a:ext uri="{FF2B5EF4-FFF2-40B4-BE49-F238E27FC236}">
                <a16:creationId xmlns:a16="http://schemas.microsoft.com/office/drawing/2014/main" id="{14F8F2F1-7D33-718D-F1E3-CC01C0429F6F}"/>
              </a:ext>
            </a:extLst>
          </p:cNvPr>
          <p:cNvGrpSpPr/>
          <p:nvPr/>
        </p:nvGrpSpPr>
        <p:grpSpPr>
          <a:xfrm>
            <a:off x="49794" y="96334"/>
            <a:ext cx="12142207" cy="727169"/>
            <a:chOff x="-6488" y="56362"/>
            <a:chExt cx="8832187" cy="596763"/>
          </a:xfrm>
        </p:grpSpPr>
        <p:sp>
          <p:nvSpPr>
            <p:cNvPr id="11" name="矩形 10">
              <a:extLst>
                <a:ext uri="{FF2B5EF4-FFF2-40B4-BE49-F238E27FC236}">
                  <a16:creationId xmlns:a16="http://schemas.microsoft.com/office/drawing/2014/main" id="{3FA3DAF6-4ECD-3F5B-9D3E-76DD8901B055}"/>
                </a:ext>
              </a:extLst>
            </p:cNvPr>
            <p:cNvSpPr/>
            <p:nvPr/>
          </p:nvSpPr>
          <p:spPr>
            <a:xfrm>
              <a:off x="651757" y="56362"/>
              <a:ext cx="2431379" cy="5809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r>
                <a:rPr lang="en-US" altLang="zh-CN" sz="4000" b="1" dirty="0">
                  <a:solidFill>
                    <a:srgbClr val="C00000"/>
                  </a:solidFill>
                  <a:latin typeface="华文楷体" panose="02010600040101010101" pitchFamily="2" charset="-122"/>
                  <a:ea typeface="华文楷体" panose="02010600040101010101" pitchFamily="2" charset="-122"/>
                </a:rPr>
                <a:t>LLM</a:t>
              </a:r>
              <a:r>
                <a:rPr lang="zh-CN" altLang="en-US" sz="4000" b="1" dirty="0">
                  <a:solidFill>
                    <a:srgbClr val="C00000"/>
                  </a:solidFill>
                  <a:latin typeface="华文楷体" panose="02010600040101010101" pitchFamily="2" charset="-122"/>
                  <a:ea typeface="华文楷体" panose="02010600040101010101" pitchFamily="2" charset="-122"/>
                </a:rPr>
                <a:t> </a:t>
              </a:r>
              <a:r>
                <a:rPr lang="en-US" altLang="zh-CN" sz="4000" b="1" dirty="0">
                  <a:solidFill>
                    <a:srgbClr val="C00000"/>
                  </a:solidFill>
                  <a:latin typeface="华文楷体" panose="02010600040101010101" pitchFamily="2" charset="-122"/>
                  <a:ea typeface="华文楷体" panose="02010600040101010101" pitchFamily="2" charset="-122"/>
                </a:rPr>
                <a:t>Research</a:t>
              </a:r>
            </a:p>
          </p:txBody>
        </p:sp>
        <p:cxnSp>
          <p:nvCxnSpPr>
            <p:cNvPr id="13" name="直接连接符 12">
              <a:extLst>
                <a:ext uri="{FF2B5EF4-FFF2-40B4-BE49-F238E27FC236}">
                  <a16:creationId xmlns:a16="http://schemas.microsoft.com/office/drawing/2014/main" id="{3497FAEE-D2F8-B3A2-52FB-60D458D03E2C}"/>
                </a:ext>
              </a:extLst>
            </p:cNvPr>
            <p:cNvCxnSpPr>
              <a:cxnSpLocks/>
            </p:cNvCxnSpPr>
            <p:nvPr/>
          </p:nvCxnSpPr>
          <p:spPr>
            <a:xfrm>
              <a:off x="574757" y="653125"/>
              <a:ext cx="8250942" cy="0"/>
            </a:xfrm>
            <a:prstGeom prst="line">
              <a:avLst/>
            </a:prstGeom>
            <a:ln w="12700" cap="rnd">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38B46D35-4A07-9A48-AB21-E5FF18B5B8EE}"/>
                </a:ext>
              </a:extLst>
            </p:cNvPr>
            <p:cNvSpPr/>
            <p:nvPr/>
          </p:nvSpPr>
          <p:spPr>
            <a:xfrm>
              <a:off x="-6488" y="142486"/>
              <a:ext cx="332509"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51465A1B-822E-D582-80F0-5BA4B6FFF156}"/>
                </a:ext>
              </a:extLst>
            </p:cNvPr>
            <p:cNvSpPr/>
            <p:nvPr/>
          </p:nvSpPr>
          <p:spPr>
            <a:xfrm>
              <a:off x="367416" y="142486"/>
              <a:ext cx="130866"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TextBox 7">
            <a:extLst>
              <a:ext uri="{FF2B5EF4-FFF2-40B4-BE49-F238E27FC236}">
                <a16:creationId xmlns:a16="http://schemas.microsoft.com/office/drawing/2014/main" id="{17796603-3CE0-F72D-5552-AD41B33056A1}"/>
              </a:ext>
            </a:extLst>
          </p:cNvPr>
          <p:cNvSpPr txBox="1"/>
          <p:nvPr/>
        </p:nvSpPr>
        <p:spPr>
          <a:xfrm>
            <a:off x="9956800" y="6235700"/>
            <a:ext cx="2055371" cy="369332"/>
          </a:xfrm>
          <a:prstGeom prst="rect">
            <a:avLst/>
          </a:prstGeom>
          <a:noFill/>
        </p:spPr>
        <p:txBody>
          <a:bodyPr wrap="none" rtlCol="0">
            <a:spAutoFit/>
          </a:bodyPr>
          <a:lstStyle/>
          <a:p>
            <a:r>
              <a:rPr lang="en-CN" dirty="0"/>
              <a:t>(Wang &amp; Sun, 2025)</a:t>
            </a:r>
          </a:p>
        </p:txBody>
      </p:sp>
      <p:sp>
        <p:nvSpPr>
          <p:cNvPr id="9" name="TextBox 8">
            <a:extLst>
              <a:ext uri="{FF2B5EF4-FFF2-40B4-BE49-F238E27FC236}">
                <a16:creationId xmlns:a16="http://schemas.microsoft.com/office/drawing/2014/main" id="{0F22BEA4-CC2E-4C2C-63F5-BC96689FBA28}"/>
              </a:ext>
            </a:extLst>
          </p:cNvPr>
          <p:cNvSpPr txBox="1"/>
          <p:nvPr/>
        </p:nvSpPr>
        <p:spPr>
          <a:xfrm>
            <a:off x="1686937" y="6004867"/>
            <a:ext cx="5220745" cy="461665"/>
          </a:xfrm>
          <a:prstGeom prst="rect">
            <a:avLst/>
          </a:prstGeom>
          <a:noFill/>
        </p:spPr>
        <p:txBody>
          <a:bodyPr wrap="square" rtlCol="0">
            <a:spAutoFit/>
          </a:bodyPr>
          <a:lstStyle/>
          <a:p>
            <a:pPr algn="ctr"/>
            <a:r>
              <a:rPr lang="en-CN" sz="2400" dirty="0">
                <a:latin typeface="Kaiti TC" panose="02010600040101010101" pitchFamily="2" charset="-120"/>
                <a:ea typeface="Kaiti TC" panose="02010600040101010101" pitchFamily="2" charset="-120"/>
              </a:rPr>
              <a:t>拼接value探究value</a:t>
            </a:r>
            <a:r>
              <a:rPr lang="en-US" altLang="zh-CN" sz="2400" dirty="0">
                <a:latin typeface="Kaiti TC" panose="02010600040101010101" pitchFamily="2" charset="-120"/>
                <a:ea typeface="Kaiti TC" panose="02010600040101010101" pitchFamily="2" charset="-120"/>
              </a:rPr>
              <a:t>-length</a:t>
            </a:r>
            <a:r>
              <a:rPr lang="zh-CN" altLang="en-US" sz="2400" dirty="0">
                <a:latin typeface="Kaiti TC" panose="02010600040101010101" pitchFamily="2" charset="-120"/>
                <a:ea typeface="Kaiti TC" panose="02010600040101010101" pitchFamily="2" charset="-120"/>
              </a:rPr>
              <a:t>的影响</a:t>
            </a:r>
            <a:endParaRPr lang="en-CN" sz="2400" dirty="0">
              <a:latin typeface="Kaiti TC" panose="02010600040101010101" pitchFamily="2" charset="-120"/>
              <a:ea typeface="Kaiti TC" panose="02010600040101010101" pitchFamily="2" charset="-120"/>
            </a:endParaRPr>
          </a:p>
        </p:txBody>
      </p:sp>
      <p:pic>
        <p:nvPicPr>
          <p:cNvPr id="3" name="Picture 2">
            <a:extLst>
              <a:ext uri="{FF2B5EF4-FFF2-40B4-BE49-F238E27FC236}">
                <a16:creationId xmlns:a16="http://schemas.microsoft.com/office/drawing/2014/main" id="{C1B47B92-A223-A3E0-3456-E3499D1A3B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7623" y="858703"/>
            <a:ext cx="6119372" cy="5110964"/>
          </a:xfrm>
          <a:prstGeom prst="rect">
            <a:avLst/>
          </a:prstGeom>
        </p:spPr>
      </p:pic>
    </p:spTree>
    <p:extLst>
      <p:ext uri="{BB962C8B-B14F-4D97-AF65-F5344CB8AC3E}">
        <p14:creationId xmlns:p14="http://schemas.microsoft.com/office/powerpoint/2010/main" val="38854293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57771-7DBE-3C55-227C-68F9AAB9F00A}"/>
            </a:ext>
          </a:extLst>
        </p:cNvPr>
        <p:cNvGrpSpPr/>
        <p:nvPr/>
      </p:nvGrpSpPr>
      <p:grpSpPr>
        <a:xfrm>
          <a:off x="0" y="0"/>
          <a:ext cx="0" cy="0"/>
          <a:chOff x="0" y="0"/>
          <a:chExt cx="0" cy="0"/>
        </a:xfrm>
      </p:grpSpPr>
      <p:grpSp>
        <p:nvGrpSpPr>
          <p:cNvPr id="10" name="组合 9">
            <a:extLst>
              <a:ext uri="{FF2B5EF4-FFF2-40B4-BE49-F238E27FC236}">
                <a16:creationId xmlns:a16="http://schemas.microsoft.com/office/drawing/2014/main" id="{D8F96D4A-FEB4-7A6A-0EBB-26A85957827C}"/>
              </a:ext>
            </a:extLst>
          </p:cNvPr>
          <p:cNvGrpSpPr/>
          <p:nvPr/>
        </p:nvGrpSpPr>
        <p:grpSpPr>
          <a:xfrm>
            <a:off x="49794" y="96334"/>
            <a:ext cx="12142207" cy="727169"/>
            <a:chOff x="-6488" y="56362"/>
            <a:chExt cx="8832187" cy="596763"/>
          </a:xfrm>
        </p:grpSpPr>
        <p:sp>
          <p:nvSpPr>
            <p:cNvPr id="11" name="矩形 10">
              <a:extLst>
                <a:ext uri="{FF2B5EF4-FFF2-40B4-BE49-F238E27FC236}">
                  <a16:creationId xmlns:a16="http://schemas.microsoft.com/office/drawing/2014/main" id="{26B81D20-D4AA-46C7-7BF7-57F963C5F22B}"/>
                </a:ext>
              </a:extLst>
            </p:cNvPr>
            <p:cNvSpPr/>
            <p:nvPr/>
          </p:nvSpPr>
          <p:spPr>
            <a:xfrm>
              <a:off x="651757" y="56362"/>
              <a:ext cx="2431379" cy="5809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r>
                <a:rPr lang="en-US" altLang="zh-CN" sz="4000" b="1" dirty="0">
                  <a:solidFill>
                    <a:srgbClr val="C00000"/>
                  </a:solidFill>
                  <a:latin typeface="华文楷体" panose="02010600040101010101" pitchFamily="2" charset="-122"/>
                  <a:ea typeface="华文楷体" panose="02010600040101010101" pitchFamily="2" charset="-122"/>
                </a:rPr>
                <a:t>LLM</a:t>
              </a:r>
              <a:r>
                <a:rPr lang="zh-CN" altLang="en-US" sz="4000" b="1" dirty="0">
                  <a:solidFill>
                    <a:srgbClr val="C00000"/>
                  </a:solidFill>
                  <a:latin typeface="华文楷体" panose="02010600040101010101" pitchFamily="2" charset="-122"/>
                  <a:ea typeface="华文楷体" panose="02010600040101010101" pitchFamily="2" charset="-122"/>
                </a:rPr>
                <a:t> </a:t>
              </a:r>
              <a:r>
                <a:rPr lang="en-US" altLang="zh-CN" sz="4000" b="1" dirty="0">
                  <a:solidFill>
                    <a:srgbClr val="C00000"/>
                  </a:solidFill>
                  <a:latin typeface="华文楷体" panose="02010600040101010101" pitchFamily="2" charset="-122"/>
                  <a:ea typeface="华文楷体" panose="02010600040101010101" pitchFamily="2" charset="-122"/>
                </a:rPr>
                <a:t>Research</a:t>
              </a:r>
            </a:p>
          </p:txBody>
        </p:sp>
        <p:cxnSp>
          <p:nvCxnSpPr>
            <p:cNvPr id="13" name="直接连接符 12">
              <a:extLst>
                <a:ext uri="{FF2B5EF4-FFF2-40B4-BE49-F238E27FC236}">
                  <a16:creationId xmlns:a16="http://schemas.microsoft.com/office/drawing/2014/main" id="{20E94D52-2F99-D142-3B2B-CFAFBFC7F21C}"/>
                </a:ext>
              </a:extLst>
            </p:cNvPr>
            <p:cNvCxnSpPr>
              <a:cxnSpLocks/>
            </p:cNvCxnSpPr>
            <p:nvPr/>
          </p:nvCxnSpPr>
          <p:spPr>
            <a:xfrm>
              <a:off x="574757" y="653125"/>
              <a:ext cx="8250942" cy="0"/>
            </a:xfrm>
            <a:prstGeom prst="line">
              <a:avLst/>
            </a:prstGeom>
            <a:ln w="12700" cap="rnd">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4D3EA5D5-94B9-97E6-9B87-1C32C29A26C5}"/>
                </a:ext>
              </a:extLst>
            </p:cNvPr>
            <p:cNvSpPr/>
            <p:nvPr/>
          </p:nvSpPr>
          <p:spPr>
            <a:xfrm>
              <a:off x="-6488" y="142486"/>
              <a:ext cx="332509"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B3AAC26C-20B1-A443-A84C-202E36FBF6C7}"/>
                </a:ext>
              </a:extLst>
            </p:cNvPr>
            <p:cNvSpPr/>
            <p:nvPr/>
          </p:nvSpPr>
          <p:spPr>
            <a:xfrm>
              <a:off x="367416" y="142486"/>
              <a:ext cx="130866"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TextBox 7">
            <a:extLst>
              <a:ext uri="{FF2B5EF4-FFF2-40B4-BE49-F238E27FC236}">
                <a16:creationId xmlns:a16="http://schemas.microsoft.com/office/drawing/2014/main" id="{4CF90F7C-8F2B-13D0-FCF1-38CD6BD81E6D}"/>
              </a:ext>
            </a:extLst>
          </p:cNvPr>
          <p:cNvSpPr txBox="1"/>
          <p:nvPr/>
        </p:nvSpPr>
        <p:spPr>
          <a:xfrm>
            <a:off x="9956800" y="6235700"/>
            <a:ext cx="2055371" cy="369332"/>
          </a:xfrm>
          <a:prstGeom prst="rect">
            <a:avLst/>
          </a:prstGeom>
          <a:noFill/>
        </p:spPr>
        <p:txBody>
          <a:bodyPr wrap="none" rtlCol="0">
            <a:spAutoFit/>
          </a:bodyPr>
          <a:lstStyle/>
          <a:p>
            <a:r>
              <a:rPr lang="en-CN" dirty="0"/>
              <a:t>(Wang &amp; Sun, 2025)</a:t>
            </a:r>
          </a:p>
        </p:txBody>
      </p:sp>
      <p:sp>
        <p:nvSpPr>
          <p:cNvPr id="9" name="TextBox 8">
            <a:extLst>
              <a:ext uri="{FF2B5EF4-FFF2-40B4-BE49-F238E27FC236}">
                <a16:creationId xmlns:a16="http://schemas.microsoft.com/office/drawing/2014/main" id="{77AB48CF-656F-39CD-A980-4A7655010518}"/>
              </a:ext>
            </a:extLst>
          </p:cNvPr>
          <p:cNvSpPr txBox="1"/>
          <p:nvPr/>
        </p:nvSpPr>
        <p:spPr>
          <a:xfrm>
            <a:off x="1191637" y="6048373"/>
            <a:ext cx="5220745" cy="461665"/>
          </a:xfrm>
          <a:prstGeom prst="rect">
            <a:avLst/>
          </a:prstGeom>
          <a:noFill/>
        </p:spPr>
        <p:txBody>
          <a:bodyPr wrap="square" rtlCol="0">
            <a:spAutoFit/>
          </a:bodyPr>
          <a:lstStyle/>
          <a:p>
            <a:pPr algn="ctr"/>
            <a:r>
              <a:rPr lang="en-CN" sz="2400" dirty="0">
                <a:latin typeface="Kaiti TC" panose="02010600040101010101" pitchFamily="2" charset="-120"/>
                <a:ea typeface="Kaiti TC" panose="02010600040101010101" pitchFamily="2" charset="-120"/>
              </a:rPr>
              <a:t>提示词工程</a:t>
            </a:r>
          </a:p>
        </p:txBody>
      </p:sp>
      <p:pic>
        <p:nvPicPr>
          <p:cNvPr id="4" name="Picture 3">
            <a:extLst>
              <a:ext uri="{FF2B5EF4-FFF2-40B4-BE49-F238E27FC236}">
                <a16:creationId xmlns:a16="http://schemas.microsoft.com/office/drawing/2014/main" id="{76998FE4-9FCE-C4F6-57B8-5813B45B05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794" y="972262"/>
            <a:ext cx="7772400" cy="5076111"/>
          </a:xfrm>
          <a:prstGeom prst="rect">
            <a:avLst/>
          </a:prstGeom>
        </p:spPr>
      </p:pic>
      <p:pic>
        <p:nvPicPr>
          <p:cNvPr id="6" name="Picture 5">
            <a:extLst>
              <a:ext uri="{FF2B5EF4-FFF2-40B4-BE49-F238E27FC236}">
                <a16:creationId xmlns:a16="http://schemas.microsoft.com/office/drawing/2014/main" id="{FD7C0F6C-2C79-C59B-AEA8-B31DD38C084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94650" y="1758950"/>
            <a:ext cx="3924300" cy="3797300"/>
          </a:xfrm>
          <a:prstGeom prst="rect">
            <a:avLst/>
          </a:prstGeom>
        </p:spPr>
      </p:pic>
    </p:spTree>
    <p:extLst>
      <p:ext uri="{BB962C8B-B14F-4D97-AF65-F5344CB8AC3E}">
        <p14:creationId xmlns:p14="http://schemas.microsoft.com/office/powerpoint/2010/main" val="26402376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3A4B6-D380-F993-0E68-F818EC1D66F8}"/>
            </a:ext>
          </a:extLst>
        </p:cNvPr>
        <p:cNvGrpSpPr/>
        <p:nvPr/>
      </p:nvGrpSpPr>
      <p:grpSpPr>
        <a:xfrm>
          <a:off x="0" y="0"/>
          <a:ext cx="0" cy="0"/>
          <a:chOff x="0" y="0"/>
          <a:chExt cx="0" cy="0"/>
        </a:xfrm>
      </p:grpSpPr>
      <p:grpSp>
        <p:nvGrpSpPr>
          <p:cNvPr id="10" name="组合 9">
            <a:extLst>
              <a:ext uri="{FF2B5EF4-FFF2-40B4-BE49-F238E27FC236}">
                <a16:creationId xmlns:a16="http://schemas.microsoft.com/office/drawing/2014/main" id="{FD029EB3-6982-9B66-084A-4A056423671D}"/>
              </a:ext>
            </a:extLst>
          </p:cNvPr>
          <p:cNvGrpSpPr/>
          <p:nvPr/>
        </p:nvGrpSpPr>
        <p:grpSpPr>
          <a:xfrm>
            <a:off x="49794" y="96334"/>
            <a:ext cx="12142207" cy="727169"/>
            <a:chOff x="-6488" y="56362"/>
            <a:chExt cx="8832187" cy="596763"/>
          </a:xfrm>
        </p:grpSpPr>
        <p:sp>
          <p:nvSpPr>
            <p:cNvPr id="11" name="矩形 10">
              <a:extLst>
                <a:ext uri="{FF2B5EF4-FFF2-40B4-BE49-F238E27FC236}">
                  <a16:creationId xmlns:a16="http://schemas.microsoft.com/office/drawing/2014/main" id="{A99E15A7-6713-3ACC-7465-FD8CE519CF59}"/>
                </a:ext>
              </a:extLst>
            </p:cNvPr>
            <p:cNvSpPr/>
            <p:nvPr/>
          </p:nvSpPr>
          <p:spPr>
            <a:xfrm>
              <a:off x="651757" y="56362"/>
              <a:ext cx="2297287" cy="5809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r>
                <a:rPr lang="en-CN" altLang="zh-CN" sz="4000" b="1" dirty="0">
                  <a:solidFill>
                    <a:srgbClr val="C00000"/>
                  </a:solidFill>
                  <a:latin typeface="华文楷体" panose="02010600040101010101" pitchFamily="2" charset="-122"/>
                  <a:ea typeface="华文楷体" panose="02010600040101010101" pitchFamily="2" charset="-122"/>
                </a:rPr>
                <a:t>Further</a:t>
              </a:r>
              <a:r>
                <a:rPr lang="zh-CN" altLang="en-US" sz="4000" b="1" dirty="0">
                  <a:solidFill>
                    <a:srgbClr val="C00000"/>
                  </a:solidFill>
                  <a:latin typeface="华文楷体" panose="02010600040101010101" pitchFamily="2" charset="-122"/>
                  <a:ea typeface="华文楷体" panose="02010600040101010101" pitchFamily="2" charset="-122"/>
                </a:rPr>
                <a:t> </a:t>
              </a:r>
              <a:r>
                <a:rPr lang="en-US" altLang="zh-CN" sz="4000" b="1" dirty="0">
                  <a:solidFill>
                    <a:srgbClr val="C00000"/>
                  </a:solidFill>
                  <a:latin typeface="华文楷体" panose="02010600040101010101" pitchFamily="2" charset="-122"/>
                  <a:ea typeface="华文楷体" panose="02010600040101010101" pitchFamily="2" charset="-122"/>
                </a:rPr>
                <a:t>Study</a:t>
              </a:r>
            </a:p>
          </p:txBody>
        </p:sp>
        <p:cxnSp>
          <p:nvCxnSpPr>
            <p:cNvPr id="13" name="直接连接符 12">
              <a:extLst>
                <a:ext uri="{FF2B5EF4-FFF2-40B4-BE49-F238E27FC236}">
                  <a16:creationId xmlns:a16="http://schemas.microsoft.com/office/drawing/2014/main" id="{2065E3F6-C6DD-90BE-A3D7-88388F5DBE7F}"/>
                </a:ext>
              </a:extLst>
            </p:cNvPr>
            <p:cNvCxnSpPr>
              <a:cxnSpLocks/>
            </p:cNvCxnSpPr>
            <p:nvPr/>
          </p:nvCxnSpPr>
          <p:spPr>
            <a:xfrm>
              <a:off x="574757" y="653125"/>
              <a:ext cx="8250942" cy="0"/>
            </a:xfrm>
            <a:prstGeom prst="line">
              <a:avLst/>
            </a:prstGeom>
            <a:ln w="12700" cap="rnd">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8259A03A-17B5-3269-4C9E-3B81BADC5624}"/>
                </a:ext>
              </a:extLst>
            </p:cNvPr>
            <p:cNvSpPr/>
            <p:nvPr/>
          </p:nvSpPr>
          <p:spPr>
            <a:xfrm>
              <a:off x="-6488" y="142486"/>
              <a:ext cx="332509"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9703EC48-2A5B-4A77-49CE-1B832F95A229}"/>
                </a:ext>
              </a:extLst>
            </p:cNvPr>
            <p:cNvSpPr/>
            <p:nvPr/>
          </p:nvSpPr>
          <p:spPr>
            <a:xfrm>
              <a:off x="367416" y="142486"/>
              <a:ext cx="130866"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TextBox 1">
            <a:extLst>
              <a:ext uri="{FF2B5EF4-FFF2-40B4-BE49-F238E27FC236}">
                <a16:creationId xmlns:a16="http://schemas.microsoft.com/office/drawing/2014/main" id="{AC2BD6DC-7157-16B0-A667-E0223F711F44}"/>
              </a:ext>
            </a:extLst>
          </p:cNvPr>
          <p:cNvSpPr txBox="1"/>
          <p:nvPr/>
        </p:nvSpPr>
        <p:spPr>
          <a:xfrm>
            <a:off x="164055" y="952500"/>
            <a:ext cx="8230138" cy="461665"/>
          </a:xfrm>
          <a:prstGeom prst="rect">
            <a:avLst/>
          </a:prstGeom>
          <a:noFill/>
        </p:spPr>
        <p:txBody>
          <a:bodyPr wrap="none" rtlCol="0">
            <a:spAutoFit/>
          </a:bodyPr>
          <a:lstStyle/>
          <a:p>
            <a:r>
              <a:rPr lang="en-CN" sz="2400" dirty="0">
                <a:latin typeface="Kaiti TC" panose="02010600040101010101" pitchFamily="2" charset="-120"/>
                <a:ea typeface="Kaiti TC" panose="02010600040101010101" pitchFamily="2" charset="-120"/>
              </a:rPr>
              <a:t>Want</a:t>
            </a:r>
            <a:r>
              <a:rPr lang="zh-CN" altLang="en-US" sz="2400" dirty="0">
                <a:latin typeface="Kaiti TC" panose="02010600040101010101" pitchFamily="2" charset="-120"/>
                <a:ea typeface="Kaiti TC" panose="02010600040101010101" pitchFamily="2" charset="-120"/>
              </a:rPr>
              <a:t> </a:t>
            </a:r>
            <a:r>
              <a:rPr lang="en-US" altLang="zh-CN" sz="2400" dirty="0">
                <a:latin typeface="Kaiti TC" panose="02010600040101010101" pitchFamily="2" charset="-120"/>
                <a:ea typeface="Kaiti TC" panose="02010600040101010101" pitchFamily="2" charset="-120"/>
              </a:rPr>
              <a:t>to investigate whether release from PI also exists in LLM</a:t>
            </a:r>
            <a:endParaRPr lang="en-CN" sz="2400" dirty="0">
              <a:latin typeface="Kaiti TC" panose="02010600040101010101" pitchFamily="2" charset="-120"/>
              <a:ea typeface="Kaiti TC" panose="02010600040101010101" pitchFamily="2" charset="-120"/>
            </a:endParaRPr>
          </a:p>
        </p:txBody>
      </p:sp>
      <p:pic>
        <p:nvPicPr>
          <p:cNvPr id="5" name="Picture 4">
            <a:extLst>
              <a:ext uri="{FF2B5EF4-FFF2-40B4-BE49-F238E27FC236}">
                <a16:creationId xmlns:a16="http://schemas.microsoft.com/office/drawing/2014/main" id="{358C90FA-5266-5125-CFD5-8D279F7BC1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29417" y="1414165"/>
            <a:ext cx="4445000" cy="5130800"/>
          </a:xfrm>
          <a:prstGeom prst="rect">
            <a:avLst/>
          </a:prstGeom>
        </p:spPr>
      </p:pic>
      <p:sp>
        <p:nvSpPr>
          <p:cNvPr id="6" name="TextBox 5">
            <a:extLst>
              <a:ext uri="{FF2B5EF4-FFF2-40B4-BE49-F238E27FC236}">
                <a16:creationId xmlns:a16="http://schemas.microsoft.com/office/drawing/2014/main" id="{20F267DD-EF46-1199-B145-5CA21BF38001}"/>
              </a:ext>
            </a:extLst>
          </p:cNvPr>
          <p:cNvSpPr txBox="1"/>
          <p:nvPr/>
        </p:nvSpPr>
        <p:spPr>
          <a:xfrm>
            <a:off x="9462583" y="6175633"/>
            <a:ext cx="2299860" cy="369332"/>
          </a:xfrm>
          <a:prstGeom prst="rect">
            <a:avLst/>
          </a:prstGeom>
          <a:noFill/>
        </p:spPr>
        <p:txBody>
          <a:bodyPr wrap="none" rtlCol="0">
            <a:spAutoFit/>
          </a:bodyPr>
          <a:lstStyle/>
          <a:p>
            <a:r>
              <a:rPr lang="en-US" dirty="0"/>
              <a:t>(Mewhort et al., 2018)</a:t>
            </a:r>
            <a:endParaRPr lang="en-CN" dirty="0"/>
          </a:p>
        </p:txBody>
      </p:sp>
    </p:spTree>
    <p:extLst>
      <p:ext uri="{BB962C8B-B14F-4D97-AF65-F5344CB8AC3E}">
        <p14:creationId xmlns:p14="http://schemas.microsoft.com/office/powerpoint/2010/main" val="26253537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AC2BE-A3BC-092E-F6CD-D5275459EAF9}"/>
            </a:ext>
          </a:extLst>
        </p:cNvPr>
        <p:cNvGrpSpPr/>
        <p:nvPr/>
      </p:nvGrpSpPr>
      <p:grpSpPr>
        <a:xfrm>
          <a:off x="0" y="0"/>
          <a:ext cx="0" cy="0"/>
          <a:chOff x="0" y="0"/>
          <a:chExt cx="0" cy="0"/>
        </a:xfrm>
      </p:grpSpPr>
      <p:grpSp>
        <p:nvGrpSpPr>
          <p:cNvPr id="10" name="组合 9">
            <a:extLst>
              <a:ext uri="{FF2B5EF4-FFF2-40B4-BE49-F238E27FC236}">
                <a16:creationId xmlns:a16="http://schemas.microsoft.com/office/drawing/2014/main" id="{2D0B75B6-2F7C-21F3-0D54-8526E5C98556}"/>
              </a:ext>
            </a:extLst>
          </p:cNvPr>
          <p:cNvGrpSpPr/>
          <p:nvPr/>
        </p:nvGrpSpPr>
        <p:grpSpPr>
          <a:xfrm>
            <a:off x="49794" y="96334"/>
            <a:ext cx="12142207" cy="727169"/>
            <a:chOff x="-6488" y="56362"/>
            <a:chExt cx="8832187" cy="596763"/>
          </a:xfrm>
        </p:grpSpPr>
        <p:sp>
          <p:nvSpPr>
            <p:cNvPr id="11" name="矩形 10">
              <a:extLst>
                <a:ext uri="{FF2B5EF4-FFF2-40B4-BE49-F238E27FC236}">
                  <a16:creationId xmlns:a16="http://schemas.microsoft.com/office/drawing/2014/main" id="{1D016BF7-F4FF-D353-0EFF-DABEC0249F68}"/>
                </a:ext>
              </a:extLst>
            </p:cNvPr>
            <p:cNvSpPr/>
            <p:nvPr/>
          </p:nvSpPr>
          <p:spPr>
            <a:xfrm>
              <a:off x="651757" y="56362"/>
              <a:ext cx="2297287" cy="5809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r>
                <a:rPr lang="en-CN" altLang="zh-CN" sz="4000" b="1" dirty="0">
                  <a:solidFill>
                    <a:srgbClr val="C00000"/>
                  </a:solidFill>
                  <a:latin typeface="华文楷体" panose="02010600040101010101" pitchFamily="2" charset="-122"/>
                  <a:ea typeface="华文楷体" panose="02010600040101010101" pitchFamily="2" charset="-122"/>
                </a:rPr>
                <a:t>Further</a:t>
              </a:r>
              <a:r>
                <a:rPr lang="zh-CN" altLang="en-US" sz="4000" b="1" dirty="0">
                  <a:solidFill>
                    <a:srgbClr val="C00000"/>
                  </a:solidFill>
                  <a:latin typeface="华文楷体" panose="02010600040101010101" pitchFamily="2" charset="-122"/>
                  <a:ea typeface="华文楷体" panose="02010600040101010101" pitchFamily="2" charset="-122"/>
                </a:rPr>
                <a:t> </a:t>
              </a:r>
              <a:r>
                <a:rPr lang="en-US" altLang="zh-CN" sz="4000" b="1" dirty="0">
                  <a:solidFill>
                    <a:srgbClr val="C00000"/>
                  </a:solidFill>
                  <a:latin typeface="华文楷体" panose="02010600040101010101" pitchFamily="2" charset="-122"/>
                  <a:ea typeface="华文楷体" panose="02010600040101010101" pitchFamily="2" charset="-122"/>
                </a:rPr>
                <a:t>Study</a:t>
              </a:r>
            </a:p>
          </p:txBody>
        </p:sp>
        <p:cxnSp>
          <p:nvCxnSpPr>
            <p:cNvPr id="13" name="直接连接符 12">
              <a:extLst>
                <a:ext uri="{FF2B5EF4-FFF2-40B4-BE49-F238E27FC236}">
                  <a16:creationId xmlns:a16="http://schemas.microsoft.com/office/drawing/2014/main" id="{02A8D87D-CC2A-0269-7536-2A27E8839F0A}"/>
                </a:ext>
              </a:extLst>
            </p:cNvPr>
            <p:cNvCxnSpPr>
              <a:cxnSpLocks/>
            </p:cNvCxnSpPr>
            <p:nvPr/>
          </p:nvCxnSpPr>
          <p:spPr>
            <a:xfrm>
              <a:off x="574757" y="653125"/>
              <a:ext cx="8250942" cy="0"/>
            </a:xfrm>
            <a:prstGeom prst="line">
              <a:avLst/>
            </a:prstGeom>
            <a:ln w="12700" cap="rnd">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7EEC1DB6-D586-C7E2-3CC0-04A70E5AC51E}"/>
                </a:ext>
              </a:extLst>
            </p:cNvPr>
            <p:cNvSpPr/>
            <p:nvPr/>
          </p:nvSpPr>
          <p:spPr>
            <a:xfrm>
              <a:off x="-6488" y="142486"/>
              <a:ext cx="332509"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F609122D-1966-7F4D-7BC1-869268BC80B9}"/>
                </a:ext>
              </a:extLst>
            </p:cNvPr>
            <p:cNvSpPr/>
            <p:nvPr/>
          </p:nvSpPr>
          <p:spPr>
            <a:xfrm>
              <a:off x="367416" y="142486"/>
              <a:ext cx="130866"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TextBox 1">
            <a:extLst>
              <a:ext uri="{FF2B5EF4-FFF2-40B4-BE49-F238E27FC236}">
                <a16:creationId xmlns:a16="http://schemas.microsoft.com/office/drawing/2014/main" id="{AA188943-4AC8-D14B-E1E0-1A2C4D9E9CA5}"/>
              </a:ext>
            </a:extLst>
          </p:cNvPr>
          <p:cNvSpPr txBox="1"/>
          <p:nvPr/>
        </p:nvSpPr>
        <p:spPr>
          <a:xfrm>
            <a:off x="164055" y="952500"/>
            <a:ext cx="6463629" cy="461665"/>
          </a:xfrm>
          <a:prstGeom prst="rect">
            <a:avLst/>
          </a:prstGeom>
          <a:noFill/>
        </p:spPr>
        <p:txBody>
          <a:bodyPr wrap="none" rtlCol="0">
            <a:spAutoFit/>
          </a:bodyPr>
          <a:lstStyle/>
          <a:p>
            <a:r>
              <a:rPr lang="en-CN" sz="2400" dirty="0">
                <a:latin typeface="Kaiti TC" panose="02010600040101010101" pitchFamily="2" charset="-120"/>
                <a:ea typeface="Kaiti TC" panose="02010600040101010101" pitchFamily="2" charset="-120"/>
              </a:rPr>
              <a:t>Feasible mechanism behind release from PI(RPI) </a:t>
            </a:r>
          </a:p>
        </p:txBody>
      </p:sp>
      <p:sp>
        <p:nvSpPr>
          <p:cNvPr id="6" name="TextBox 5">
            <a:extLst>
              <a:ext uri="{FF2B5EF4-FFF2-40B4-BE49-F238E27FC236}">
                <a16:creationId xmlns:a16="http://schemas.microsoft.com/office/drawing/2014/main" id="{3320C67E-ECA1-85A7-974E-86D4A64F2456}"/>
              </a:ext>
            </a:extLst>
          </p:cNvPr>
          <p:cNvSpPr txBox="1"/>
          <p:nvPr/>
        </p:nvSpPr>
        <p:spPr>
          <a:xfrm>
            <a:off x="9462583" y="6175633"/>
            <a:ext cx="2299860" cy="369332"/>
          </a:xfrm>
          <a:prstGeom prst="rect">
            <a:avLst/>
          </a:prstGeom>
          <a:noFill/>
        </p:spPr>
        <p:txBody>
          <a:bodyPr wrap="none" rtlCol="0">
            <a:spAutoFit/>
          </a:bodyPr>
          <a:lstStyle/>
          <a:p>
            <a:r>
              <a:rPr lang="en-US" dirty="0"/>
              <a:t>(Mewhort et al., 2018)</a:t>
            </a:r>
            <a:endParaRPr lang="en-CN" dirty="0"/>
          </a:p>
        </p:txBody>
      </p:sp>
      <p:pic>
        <p:nvPicPr>
          <p:cNvPr id="4" name="Picture 3">
            <a:extLst>
              <a:ext uri="{FF2B5EF4-FFF2-40B4-BE49-F238E27FC236}">
                <a16:creationId xmlns:a16="http://schemas.microsoft.com/office/drawing/2014/main" id="{72F0F199-0FA4-FEF4-12C7-3312890849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0957" y="1505061"/>
            <a:ext cx="7772400" cy="2400300"/>
          </a:xfrm>
          <a:prstGeom prst="rect">
            <a:avLst/>
          </a:prstGeom>
        </p:spPr>
      </p:pic>
      <p:sp>
        <p:nvSpPr>
          <p:cNvPr id="7" name="TextBox 6">
            <a:extLst>
              <a:ext uri="{FF2B5EF4-FFF2-40B4-BE49-F238E27FC236}">
                <a16:creationId xmlns:a16="http://schemas.microsoft.com/office/drawing/2014/main" id="{7C220843-E04B-8380-B1ED-8B4444901D00}"/>
              </a:ext>
            </a:extLst>
          </p:cNvPr>
          <p:cNvSpPr txBox="1"/>
          <p:nvPr/>
        </p:nvSpPr>
        <p:spPr>
          <a:xfrm>
            <a:off x="7072817" y="1014055"/>
            <a:ext cx="2541080" cy="400110"/>
          </a:xfrm>
          <a:prstGeom prst="rect">
            <a:avLst/>
          </a:prstGeom>
          <a:noFill/>
        </p:spPr>
        <p:txBody>
          <a:bodyPr wrap="none" rtlCol="0">
            <a:spAutoFit/>
          </a:bodyPr>
          <a:lstStyle/>
          <a:p>
            <a:r>
              <a:rPr lang="en-CN" sz="2000" dirty="0">
                <a:latin typeface="Kaiti TC" panose="02010600040101010101" pitchFamily="2" charset="-120"/>
                <a:ea typeface="Kaiti TC" panose="02010600040101010101" pitchFamily="2" charset="-120"/>
              </a:rPr>
              <a:t>BEAGLE</a:t>
            </a:r>
            <a:r>
              <a:rPr lang="zh-CN" altLang="en-US" sz="2000" dirty="0">
                <a:latin typeface="Kaiti TC" panose="02010600040101010101" pitchFamily="2" charset="-120"/>
                <a:ea typeface="Kaiti TC" panose="02010600040101010101" pitchFamily="2" charset="-120"/>
              </a:rPr>
              <a:t> </a:t>
            </a:r>
            <a:r>
              <a:rPr lang="en-US" altLang="zh-CN" sz="2000" dirty="0">
                <a:latin typeface="Kaiti TC" panose="02010600040101010101" pitchFamily="2" charset="-120"/>
                <a:ea typeface="Kaiti TC" panose="02010600040101010101" pitchFamily="2" charset="-120"/>
              </a:rPr>
              <a:t>word vector</a:t>
            </a:r>
            <a:endParaRPr lang="en-CN" sz="2000" dirty="0">
              <a:latin typeface="Kaiti TC" panose="02010600040101010101" pitchFamily="2" charset="-120"/>
              <a:ea typeface="Kaiti TC" panose="02010600040101010101" pitchFamily="2" charset="-120"/>
            </a:endParaRPr>
          </a:p>
        </p:txBody>
      </p:sp>
      <p:pic>
        <p:nvPicPr>
          <p:cNvPr id="9" name="Picture 8">
            <a:extLst>
              <a:ext uri="{FF2B5EF4-FFF2-40B4-BE49-F238E27FC236}">
                <a16:creationId xmlns:a16="http://schemas.microsoft.com/office/drawing/2014/main" id="{1BCC7C96-C9EB-1B64-19F8-DD21D3F3CA6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3780" y="4521500"/>
            <a:ext cx="7772400" cy="1384000"/>
          </a:xfrm>
          <a:prstGeom prst="rect">
            <a:avLst/>
          </a:prstGeom>
        </p:spPr>
      </p:pic>
      <p:sp>
        <p:nvSpPr>
          <p:cNvPr id="12" name="TextBox 11">
            <a:extLst>
              <a:ext uri="{FF2B5EF4-FFF2-40B4-BE49-F238E27FC236}">
                <a16:creationId xmlns:a16="http://schemas.microsoft.com/office/drawing/2014/main" id="{8053A5DC-AFE9-6112-C871-818A4CB5DAB1}"/>
              </a:ext>
            </a:extLst>
          </p:cNvPr>
          <p:cNvSpPr txBox="1"/>
          <p:nvPr/>
        </p:nvSpPr>
        <p:spPr>
          <a:xfrm>
            <a:off x="8835679" y="2520545"/>
            <a:ext cx="2392001" cy="461665"/>
          </a:xfrm>
          <a:prstGeom prst="rect">
            <a:avLst/>
          </a:prstGeom>
          <a:noFill/>
        </p:spPr>
        <p:txBody>
          <a:bodyPr wrap="none" rtlCol="0">
            <a:spAutoFit/>
          </a:bodyPr>
          <a:lstStyle/>
          <a:p>
            <a:r>
              <a:rPr lang="en-US" sz="2400" dirty="0">
                <a:latin typeface="Kaiti TC" panose="02010600040101010101" pitchFamily="2" charset="-120"/>
                <a:ea typeface="Kaiti TC" panose="02010600040101010101" pitchFamily="2" charset="-120"/>
              </a:rPr>
              <a:t>I</a:t>
            </a:r>
            <a:r>
              <a:rPr lang="en-CN" sz="2400" dirty="0">
                <a:latin typeface="Kaiti TC" panose="02010600040101010101" pitchFamily="2" charset="-120"/>
                <a:ea typeface="Kaiti TC" panose="02010600040101010101" pitchFamily="2" charset="-120"/>
              </a:rPr>
              <a:t>tem</a:t>
            </a:r>
            <a:r>
              <a:rPr lang="zh-CN" altLang="en-US" sz="2400" dirty="0">
                <a:latin typeface="Kaiti TC" panose="02010600040101010101" pitchFamily="2" charset="-120"/>
                <a:ea typeface="Kaiti TC" panose="02010600040101010101" pitchFamily="2" charset="-120"/>
              </a:rPr>
              <a:t> </a:t>
            </a:r>
            <a:r>
              <a:rPr lang="en-US" altLang="zh-CN" sz="2400" dirty="0">
                <a:latin typeface="Kaiti TC" panose="02010600040101010101" pitchFamily="2" charset="-120"/>
                <a:ea typeface="Kaiti TC" panose="02010600040101010101" pitchFamily="2" charset="-120"/>
              </a:rPr>
              <a:t>information</a:t>
            </a:r>
            <a:endParaRPr lang="en-CN" sz="2400" dirty="0">
              <a:latin typeface="Kaiti TC" panose="02010600040101010101" pitchFamily="2" charset="-120"/>
              <a:ea typeface="Kaiti TC" panose="02010600040101010101" pitchFamily="2" charset="-120"/>
            </a:endParaRPr>
          </a:p>
        </p:txBody>
      </p:sp>
      <p:sp>
        <p:nvSpPr>
          <p:cNvPr id="16" name="TextBox 15">
            <a:extLst>
              <a:ext uri="{FF2B5EF4-FFF2-40B4-BE49-F238E27FC236}">
                <a16:creationId xmlns:a16="http://schemas.microsoft.com/office/drawing/2014/main" id="{6DF5CE3B-6392-8D79-B1C1-DDD34B829184}"/>
              </a:ext>
            </a:extLst>
          </p:cNvPr>
          <p:cNvSpPr txBox="1"/>
          <p:nvPr/>
        </p:nvSpPr>
        <p:spPr>
          <a:xfrm>
            <a:off x="8778292" y="5028834"/>
            <a:ext cx="2568332" cy="461665"/>
          </a:xfrm>
          <a:prstGeom prst="rect">
            <a:avLst/>
          </a:prstGeom>
          <a:noFill/>
        </p:spPr>
        <p:txBody>
          <a:bodyPr wrap="none" rtlCol="0">
            <a:spAutoFit/>
          </a:bodyPr>
          <a:lstStyle/>
          <a:p>
            <a:r>
              <a:rPr lang="en-CN" sz="2400" dirty="0">
                <a:latin typeface="Kaiti TC" panose="02010600040101010101" pitchFamily="2" charset="-120"/>
                <a:ea typeface="Kaiti TC" panose="02010600040101010101" pitchFamily="2" charset="-120"/>
              </a:rPr>
              <a:t>Order information</a:t>
            </a:r>
          </a:p>
        </p:txBody>
      </p:sp>
    </p:spTree>
    <p:extLst>
      <p:ext uri="{BB962C8B-B14F-4D97-AF65-F5344CB8AC3E}">
        <p14:creationId xmlns:p14="http://schemas.microsoft.com/office/powerpoint/2010/main" val="2226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2F7FD-9F08-90E7-8EBF-BB9E9F7A9016}"/>
            </a:ext>
          </a:extLst>
        </p:cNvPr>
        <p:cNvGrpSpPr/>
        <p:nvPr/>
      </p:nvGrpSpPr>
      <p:grpSpPr>
        <a:xfrm>
          <a:off x="0" y="0"/>
          <a:ext cx="0" cy="0"/>
          <a:chOff x="0" y="0"/>
          <a:chExt cx="0" cy="0"/>
        </a:xfrm>
      </p:grpSpPr>
      <p:grpSp>
        <p:nvGrpSpPr>
          <p:cNvPr id="10" name="组合 9">
            <a:extLst>
              <a:ext uri="{FF2B5EF4-FFF2-40B4-BE49-F238E27FC236}">
                <a16:creationId xmlns:a16="http://schemas.microsoft.com/office/drawing/2014/main" id="{4EB9F821-611A-95CF-D328-14F0034B2AE1}"/>
              </a:ext>
            </a:extLst>
          </p:cNvPr>
          <p:cNvGrpSpPr/>
          <p:nvPr/>
        </p:nvGrpSpPr>
        <p:grpSpPr>
          <a:xfrm>
            <a:off x="49794" y="96334"/>
            <a:ext cx="12142207" cy="727169"/>
            <a:chOff x="-6488" y="56362"/>
            <a:chExt cx="8832187" cy="596763"/>
          </a:xfrm>
        </p:grpSpPr>
        <p:sp>
          <p:nvSpPr>
            <p:cNvPr id="11" name="矩形 10">
              <a:extLst>
                <a:ext uri="{FF2B5EF4-FFF2-40B4-BE49-F238E27FC236}">
                  <a16:creationId xmlns:a16="http://schemas.microsoft.com/office/drawing/2014/main" id="{B1D8CF8C-EED1-240A-6856-41B1B34583F6}"/>
                </a:ext>
              </a:extLst>
            </p:cNvPr>
            <p:cNvSpPr/>
            <p:nvPr/>
          </p:nvSpPr>
          <p:spPr>
            <a:xfrm>
              <a:off x="651757" y="56362"/>
              <a:ext cx="2297287" cy="5809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r>
                <a:rPr lang="en-CN" altLang="zh-CN" sz="4000" b="1" dirty="0">
                  <a:solidFill>
                    <a:srgbClr val="C00000"/>
                  </a:solidFill>
                  <a:latin typeface="华文楷体" panose="02010600040101010101" pitchFamily="2" charset="-122"/>
                  <a:ea typeface="华文楷体" panose="02010600040101010101" pitchFamily="2" charset="-122"/>
                </a:rPr>
                <a:t>Further</a:t>
              </a:r>
              <a:r>
                <a:rPr lang="zh-CN" altLang="en-US" sz="4000" b="1" dirty="0">
                  <a:solidFill>
                    <a:srgbClr val="C00000"/>
                  </a:solidFill>
                  <a:latin typeface="华文楷体" panose="02010600040101010101" pitchFamily="2" charset="-122"/>
                  <a:ea typeface="华文楷体" panose="02010600040101010101" pitchFamily="2" charset="-122"/>
                </a:rPr>
                <a:t> </a:t>
              </a:r>
              <a:r>
                <a:rPr lang="en-US" altLang="zh-CN" sz="4000" b="1" dirty="0">
                  <a:solidFill>
                    <a:srgbClr val="C00000"/>
                  </a:solidFill>
                  <a:latin typeface="华文楷体" panose="02010600040101010101" pitchFamily="2" charset="-122"/>
                  <a:ea typeface="华文楷体" panose="02010600040101010101" pitchFamily="2" charset="-122"/>
                </a:rPr>
                <a:t>Study</a:t>
              </a:r>
            </a:p>
          </p:txBody>
        </p:sp>
        <p:cxnSp>
          <p:nvCxnSpPr>
            <p:cNvPr id="13" name="直接连接符 12">
              <a:extLst>
                <a:ext uri="{FF2B5EF4-FFF2-40B4-BE49-F238E27FC236}">
                  <a16:creationId xmlns:a16="http://schemas.microsoft.com/office/drawing/2014/main" id="{E598E934-F117-ACED-2ADD-1865ADF478F0}"/>
                </a:ext>
              </a:extLst>
            </p:cNvPr>
            <p:cNvCxnSpPr>
              <a:cxnSpLocks/>
            </p:cNvCxnSpPr>
            <p:nvPr/>
          </p:nvCxnSpPr>
          <p:spPr>
            <a:xfrm>
              <a:off x="574757" y="653125"/>
              <a:ext cx="8250942" cy="0"/>
            </a:xfrm>
            <a:prstGeom prst="line">
              <a:avLst/>
            </a:prstGeom>
            <a:ln w="12700" cap="rnd">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6B900B0C-7BB4-CAF1-7C52-F169E659D12F}"/>
                </a:ext>
              </a:extLst>
            </p:cNvPr>
            <p:cNvSpPr/>
            <p:nvPr/>
          </p:nvSpPr>
          <p:spPr>
            <a:xfrm>
              <a:off x="-6488" y="142486"/>
              <a:ext cx="332509"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7A678403-640C-36B3-1E9B-8A23B2FA1CCA}"/>
                </a:ext>
              </a:extLst>
            </p:cNvPr>
            <p:cNvSpPr/>
            <p:nvPr/>
          </p:nvSpPr>
          <p:spPr>
            <a:xfrm>
              <a:off x="367416" y="142486"/>
              <a:ext cx="130866"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TextBox 5">
            <a:extLst>
              <a:ext uri="{FF2B5EF4-FFF2-40B4-BE49-F238E27FC236}">
                <a16:creationId xmlns:a16="http://schemas.microsoft.com/office/drawing/2014/main" id="{83095932-E0C6-3EF5-4E6C-699A4F8BFA51}"/>
              </a:ext>
            </a:extLst>
          </p:cNvPr>
          <p:cNvSpPr txBox="1"/>
          <p:nvPr/>
        </p:nvSpPr>
        <p:spPr>
          <a:xfrm>
            <a:off x="9462583" y="6175633"/>
            <a:ext cx="2299860" cy="369332"/>
          </a:xfrm>
          <a:prstGeom prst="rect">
            <a:avLst/>
          </a:prstGeom>
          <a:noFill/>
        </p:spPr>
        <p:txBody>
          <a:bodyPr wrap="none" rtlCol="0">
            <a:spAutoFit/>
          </a:bodyPr>
          <a:lstStyle/>
          <a:p>
            <a:r>
              <a:rPr lang="en-US" dirty="0"/>
              <a:t>(Mewhort et al., 2018)</a:t>
            </a:r>
            <a:endParaRPr lang="en-CN" dirty="0"/>
          </a:p>
        </p:txBody>
      </p:sp>
      <p:pic>
        <p:nvPicPr>
          <p:cNvPr id="4" name="Picture 3">
            <a:extLst>
              <a:ext uri="{FF2B5EF4-FFF2-40B4-BE49-F238E27FC236}">
                <a16:creationId xmlns:a16="http://schemas.microsoft.com/office/drawing/2014/main" id="{FD3A99D8-7C61-CE63-ECB0-A72E347D3A1C}"/>
              </a:ext>
            </a:extLst>
          </p:cNvPr>
          <p:cNvPicPr>
            <a:picLocks noChangeAspect="1"/>
          </p:cNvPicPr>
          <p:nvPr/>
        </p:nvPicPr>
        <p:blipFill>
          <a:blip r:embed="rId3">
            <a:extLst>
              <a:ext uri="{28A0092B-C50C-407E-A947-70E740481C1C}">
                <a14:useLocalDpi xmlns:a14="http://schemas.microsoft.com/office/drawing/2010/main" val="0"/>
              </a:ext>
            </a:extLst>
          </a:blip>
          <a:srcRect l="1" r="1521" b="57222"/>
          <a:stretch>
            <a:fillRect/>
          </a:stretch>
        </p:blipFill>
        <p:spPr>
          <a:xfrm>
            <a:off x="336065" y="1416515"/>
            <a:ext cx="5759935" cy="4516377"/>
          </a:xfrm>
          <a:prstGeom prst="rect">
            <a:avLst/>
          </a:prstGeom>
        </p:spPr>
      </p:pic>
      <p:pic>
        <p:nvPicPr>
          <p:cNvPr id="8" name="Picture 7">
            <a:extLst>
              <a:ext uri="{FF2B5EF4-FFF2-40B4-BE49-F238E27FC236}">
                <a16:creationId xmlns:a16="http://schemas.microsoft.com/office/drawing/2014/main" id="{6A5829F7-AA5E-3397-E8F4-E0B4B8363539}"/>
              </a:ext>
            </a:extLst>
          </p:cNvPr>
          <p:cNvPicPr>
            <a:picLocks noChangeAspect="1"/>
          </p:cNvPicPr>
          <p:nvPr/>
        </p:nvPicPr>
        <p:blipFill>
          <a:blip r:embed="rId3">
            <a:extLst>
              <a:ext uri="{28A0092B-C50C-407E-A947-70E740481C1C}">
                <a14:useLocalDpi xmlns:a14="http://schemas.microsoft.com/office/drawing/2010/main" val="0"/>
              </a:ext>
            </a:extLst>
          </a:blip>
          <a:srcRect t="42222" r="-1812" b="13148"/>
          <a:stretch>
            <a:fillRect/>
          </a:stretch>
        </p:blipFill>
        <p:spPr>
          <a:xfrm>
            <a:off x="6520436" y="1416514"/>
            <a:ext cx="5707796" cy="4516351"/>
          </a:xfrm>
          <a:prstGeom prst="rect">
            <a:avLst/>
          </a:prstGeom>
        </p:spPr>
      </p:pic>
    </p:spTree>
    <p:extLst>
      <p:ext uri="{BB962C8B-B14F-4D97-AF65-F5344CB8AC3E}">
        <p14:creationId xmlns:p14="http://schemas.microsoft.com/office/powerpoint/2010/main" val="27855074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342EC-B214-8D96-BFA4-0B50817E65CD}"/>
            </a:ext>
          </a:extLst>
        </p:cNvPr>
        <p:cNvGrpSpPr/>
        <p:nvPr/>
      </p:nvGrpSpPr>
      <p:grpSpPr>
        <a:xfrm>
          <a:off x="0" y="0"/>
          <a:ext cx="0" cy="0"/>
          <a:chOff x="0" y="0"/>
          <a:chExt cx="0" cy="0"/>
        </a:xfrm>
      </p:grpSpPr>
      <p:grpSp>
        <p:nvGrpSpPr>
          <p:cNvPr id="10" name="组合 9">
            <a:extLst>
              <a:ext uri="{FF2B5EF4-FFF2-40B4-BE49-F238E27FC236}">
                <a16:creationId xmlns:a16="http://schemas.microsoft.com/office/drawing/2014/main" id="{F3609EC4-8494-0797-7495-0CC84D20E5A7}"/>
              </a:ext>
            </a:extLst>
          </p:cNvPr>
          <p:cNvGrpSpPr/>
          <p:nvPr/>
        </p:nvGrpSpPr>
        <p:grpSpPr>
          <a:xfrm>
            <a:off x="49794" y="96334"/>
            <a:ext cx="12142207" cy="727169"/>
            <a:chOff x="-6488" y="56362"/>
            <a:chExt cx="8832187" cy="596763"/>
          </a:xfrm>
        </p:grpSpPr>
        <p:sp>
          <p:nvSpPr>
            <p:cNvPr id="11" name="矩形 10">
              <a:extLst>
                <a:ext uri="{FF2B5EF4-FFF2-40B4-BE49-F238E27FC236}">
                  <a16:creationId xmlns:a16="http://schemas.microsoft.com/office/drawing/2014/main" id="{36A184A8-2F5A-AD31-1398-6EAE60E1768A}"/>
                </a:ext>
              </a:extLst>
            </p:cNvPr>
            <p:cNvSpPr/>
            <p:nvPr/>
          </p:nvSpPr>
          <p:spPr>
            <a:xfrm>
              <a:off x="651757" y="56362"/>
              <a:ext cx="2297287" cy="5809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r>
                <a:rPr lang="en-CN" altLang="zh-CN" sz="4000" b="1" dirty="0">
                  <a:solidFill>
                    <a:srgbClr val="C00000"/>
                  </a:solidFill>
                  <a:latin typeface="华文楷体" panose="02010600040101010101" pitchFamily="2" charset="-122"/>
                  <a:ea typeface="华文楷体" panose="02010600040101010101" pitchFamily="2" charset="-122"/>
                </a:rPr>
                <a:t>Further</a:t>
              </a:r>
              <a:r>
                <a:rPr lang="zh-CN" altLang="en-US" sz="4000" b="1" dirty="0">
                  <a:solidFill>
                    <a:srgbClr val="C00000"/>
                  </a:solidFill>
                  <a:latin typeface="华文楷体" panose="02010600040101010101" pitchFamily="2" charset="-122"/>
                  <a:ea typeface="华文楷体" panose="02010600040101010101" pitchFamily="2" charset="-122"/>
                </a:rPr>
                <a:t> </a:t>
              </a:r>
              <a:r>
                <a:rPr lang="en-US" altLang="zh-CN" sz="4000" b="1" dirty="0">
                  <a:solidFill>
                    <a:srgbClr val="C00000"/>
                  </a:solidFill>
                  <a:latin typeface="华文楷体" panose="02010600040101010101" pitchFamily="2" charset="-122"/>
                  <a:ea typeface="华文楷体" panose="02010600040101010101" pitchFamily="2" charset="-122"/>
                </a:rPr>
                <a:t>Study</a:t>
              </a:r>
            </a:p>
          </p:txBody>
        </p:sp>
        <p:cxnSp>
          <p:nvCxnSpPr>
            <p:cNvPr id="13" name="直接连接符 12">
              <a:extLst>
                <a:ext uri="{FF2B5EF4-FFF2-40B4-BE49-F238E27FC236}">
                  <a16:creationId xmlns:a16="http://schemas.microsoft.com/office/drawing/2014/main" id="{23FAC5A2-185C-F05F-D8BF-AD1DDB6070A9}"/>
                </a:ext>
              </a:extLst>
            </p:cNvPr>
            <p:cNvCxnSpPr>
              <a:cxnSpLocks/>
            </p:cNvCxnSpPr>
            <p:nvPr/>
          </p:nvCxnSpPr>
          <p:spPr>
            <a:xfrm>
              <a:off x="574757" y="653125"/>
              <a:ext cx="8250942" cy="0"/>
            </a:xfrm>
            <a:prstGeom prst="line">
              <a:avLst/>
            </a:prstGeom>
            <a:ln w="12700" cap="rnd">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D8714FE0-4DA7-AEF4-795E-52BD8405A3C9}"/>
                </a:ext>
              </a:extLst>
            </p:cNvPr>
            <p:cNvSpPr/>
            <p:nvPr/>
          </p:nvSpPr>
          <p:spPr>
            <a:xfrm>
              <a:off x="-6488" y="142486"/>
              <a:ext cx="332509"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A0B0C72E-BD3D-2247-8554-AEA323C73BFC}"/>
                </a:ext>
              </a:extLst>
            </p:cNvPr>
            <p:cNvSpPr/>
            <p:nvPr/>
          </p:nvSpPr>
          <p:spPr>
            <a:xfrm>
              <a:off x="367416" y="142486"/>
              <a:ext cx="130866"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TextBox 5">
            <a:extLst>
              <a:ext uri="{FF2B5EF4-FFF2-40B4-BE49-F238E27FC236}">
                <a16:creationId xmlns:a16="http://schemas.microsoft.com/office/drawing/2014/main" id="{9C34D283-B407-870F-24A0-52BFC6A87E35}"/>
              </a:ext>
            </a:extLst>
          </p:cNvPr>
          <p:cNvSpPr txBox="1"/>
          <p:nvPr/>
        </p:nvSpPr>
        <p:spPr>
          <a:xfrm>
            <a:off x="9462583" y="6175633"/>
            <a:ext cx="2299860" cy="369332"/>
          </a:xfrm>
          <a:prstGeom prst="rect">
            <a:avLst/>
          </a:prstGeom>
          <a:noFill/>
        </p:spPr>
        <p:txBody>
          <a:bodyPr wrap="none" rtlCol="0">
            <a:spAutoFit/>
          </a:bodyPr>
          <a:lstStyle/>
          <a:p>
            <a:r>
              <a:rPr lang="en-US" dirty="0"/>
              <a:t>(Mewhort et al., 2018)</a:t>
            </a:r>
            <a:endParaRPr lang="en-CN" dirty="0"/>
          </a:p>
        </p:txBody>
      </p:sp>
      <p:sp>
        <p:nvSpPr>
          <p:cNvPr id="2" name="TextBox 1">
            <a:extLst>
              <a:ext uri="{FF2B5EF4-FFF2-40B4-BE49-F238E27FC236}">
                <a16:creationId xmlns:a16="http://schemas.microsoft.com/office/drawing/2014/main" id="{B78923D5-A071-1AED-3E42-DBB26E0907D0}"/>
              </a:ext>
            </a:extLst>
          </p:cNvPr>
          <p:cNvSpPr txBox="1"/>
          <p:nvPr/>
        </p:nvSpPr>
        <p:spPr>
          <a:xfrm>
            <a:off x="278355" y="1003300"/>
            <a:ext cx="5352747" cy="461665"/>
          </a:xfrm>
          <a:prstGeom prst="rect">
            <a:avLst/>
          </a:prstGeom>
          <a:noFill/>
        </p:spPr>
        <p:txBody>
          <a:bodyPr wrap="none" rtlCol="0">
            <a:spAutoFit/>
          </a:bodyPr>
          <a:lstStyle/>
          <a:p>
            <a:r>
              <a:rPr lang="en-CN" sz="2400" dirty="0">
                <a:latin typeface="Kaiti TC" panose="02010600040101010101" pitchFamily="2" charset="-120"/>
                <a:ea typeface="Kaiti TC" panose="02010600040101010101" pitchFamily="2" charset="-120"/>
              </a:rPr>
              <a:t>A toy model: holographic memory model</a:t>
            </a:r>
          </a:p>
        </p:txBody>
      </p:sp>
      <p:pic>
        <p:nvPicPr>
          <p:cNvPr id="5" name="Picture 4">
            <a:extLst>
              <a:ext uri="{FF2B5EF4-FFF2-40B4-BE49-F238E27FC236}">
                <a16:creationId xmlns:a16="http://schemas.microsoft.com/office/drawing/2014/main" id="{714708C7-D61E-242F-C22A-3ACCAE987D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8355" y="1579519"/>
            <a:ext cx="7521991" cy="3449682"/>
          </a:xfrm>
          <a:prstGeom prst="rect">
            <a:avLst/>
          </a:prstGeom>
        </p:spPr>
      </p:pic>
      <p:pic>
        <p:nvPicPr>
          <p:cNvPr id="9" name="Picture 8">
            <a:extLst>
              <a:ext uri="{FF2B5EF4-FFF2-40B4-BE49-F238E27FC236}">
                <a16:creationId xmlns:a16="http://schemas.microsoft.com/office/drawing/2014/main" id="{17FA4FC1-4B9B-9368-D4C7-0AF221C446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9557" y="5100513"/>
            <a:ext cx="6351045" cy="1508373"/>
          </a:xfrm>
          <a:prstGeom prst="rect">
            <a:avLst/>
          </a:prstGeom>
        </p:spPr>
      </p:pic>
    </p:spTree>
    <p:extLst>
      <p:ext uri="{BB962C8B-B14F-4D97-AF65-F5344CB8AC3E}">
        <p14:creationId xmlns:p14="http://schemas.microsoft.com/office/powerpoint/2010/main" val="1737364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98CDF-2BD4-7FD2-E87C-DAFDE7049844}"/>
            </a:ext>
          </a:extLst>
        </p:cNvPr>
        <p:cNvGrpSpPr/>
        <p:nvPr/>
      </p:nvGrpSpPr>
      <p:grpSpPr>
        <a:xfrm>
          <a:off x="0" y="0"/>
          <a:ext cx="0" cy="0"/>
          <a:chOff x="0" y="0"/>
          <a:chExt cx="0" cy="0"/>
        </a:xfrm>
      </p:grpSpPr>
      <p:grpSp>
        <p:nvGrpSpPr>
          <p:cNvPr id="10" name="组合 9">
            <a:extLst>
              <a:ext uri="{FF2B5EF4-FFF2-40B4-BE49-F238E27FC236}">
                <a16:creationId xmlns:a16="http://schemas.microsoft.com/office/drawing/2014/main" id="{F774E125-8BB5-8CAB-89EE-4893971FF952}"/>
              </a:ext>
            </a:extLst>
          </p:cNvPr>
          <p:cNvGrpSpPr/>
          <p:nvPr/>
        </p:nvGrpSpPr>
        <p:grpSpPr>
          <a:xfrm>
            <a:off x="49794" y="96334"/>
            <a:ext cx="12142207" cy="727169"/>
            <a:chOff x="-6488" y="56362"/>
            <a:chExt cx="8832187" cy="596763"/>
          </a:xfrm>
        </p:grpSpPr>
        <p:sp>
          <p:nvSpPr>
            <p:cNvPr id="11" name="矩形 10">
              <a:extLst>
                <a:ext uri="{FF2B5EF4-FFF2-40B4-BE49-F238E27FC236}">
                  <a16:creationId xmlns:a16="http://schemas.microsoft.com/office/drawing/2014/main" id="{24D22362-C7D2-B1F8-5032-270FBB2F7DD5}"/>
                </a:ext>
              </a:extLst>
            </p:cNvPr>
            <p:cNvSpPr/>
            <p:nvPr/>
          </p:nvSpPr>
          <p:spPr>
            <a:xfrm>
              <a:off x="651757" y="56362"/>
              <a:ext cx="2297287" cy="5809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r>
                <a:rPr lang="en-CN" altLang="zh-CN" sz="4000" b="1" dirty="0">
                  <a:solidFill>
                    <a:srgbClr val="C00000"/>
                  </a:solidFill>
                  <a:latin typeface="华文楷体" panose="02010600040101010101" pitchFamily="2" charset="-122"/>
                  <a:ea typeface="华文楷体" panose="02010600040101010101" pitchFamily="2" charset="-122"/>
                </a:rPr>
                <a:t>Further</a:t>
              </a:r>
              <a:r>
                <a:rPr lang="zh-CN" altLang="en-US" sz="4000" b="1" dirty="0">
                  <a:solidFill>
                    <a:srgbClr val="C00000"/>
                  </a:solidFill>
                  <a:latin typeface="华文楷体" panose="02010600040101010101" pitchFamily="2" charset="-122"/>
                  <a:ea typeface="华文楷体" panose="02010600040101010101" pitchFamily="2" charset="-122"/>
                </a:rPr>
                <a:t> </a:t>
              </a:r>
              <a:r>
                <a:rPr lang="en-US" altLang="zh-CN" sz="4000" b="1" dirty="0">
                  <a:solidFill>
                    <a:srgbClr val="C00000"/>
                  </a:solidFill>
                  <a:latin typeface="华文楷体" panose="02010600040101010101" pitchFamily="2" charset="-122"/>
                  <a:ea typeface="华文楷体" panose="02010600040101010101" pitchFamily="2" charset="-122"/>
                </a:rPr>
                <a:t>Study</a:t>
              </a:r>
            </a:p>
          </p:txBody>
        </p:sp>
        <p:cxnSp>
          <p:nvCxnSpPr>
            <p:cNvPr id="13" name="直接连接符 12">
              <a:extLst>
                <a:ext uri="{FF2B5EF4-FFF2-40B4-BE49-F238E27FC236}">
                  <a16:creationId xmlns:a16="http://schemas.microsoft.com/office/drawing/2014/main" id="{B6A52B92-79CA-7433-DFB6-2B7D07985AC7}"/>
                </a:ext>
              </a:extLst>
            </p:cNvPr>
            <p:cNvCxnSpPr>
              <a:cxnSpLocks/>
            </p:cNvCxnSpPr>
            <p:nvPr/>
          </p:nvCxnSpPr>
          <p:spPr>
            <a:xfrm>
              <a:off x="574757" y="653125"/>
              <a:ext cx="8250942" cy="0"/>
            </a:xfrm>
            <a:prstGeom prst="line">
              <a:avLst/>
            </a:prstGeom>
            <a:ln w="12700" cap="rnd">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7BBB204E-153A-1C48-B984-14C6A9E79271}"/>
                </a:ext>
              </a:extLst>
            </p:cNvPr>
            <p:cNvSpPr/>
            <p:nvPr/>
          </p:nvSpPr>
          <p:spPr>
            <a:xfrm>
              <a:off x="-6488" y="142486"/>
              <a:ext cx="332509"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76061740-46FC-C032-82E3-0C7BE28B5740}"/>
                </a:ext>
              </a:extLst>
            </p:cNvPr>
            <p:cNvSpPr/>
            <p:nvPr/>
          </p:nvSpPr>
          <p:spPr>
            <a:xfrm>
              <a:off x="367416" y="142486"/>
              <a:ext cx="130866"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TextBox 5">
            <a:extLst>
              <a:ext uri="{FF2B5EF4-FFF2-40B4-BE49-F238E27FC236}">
                <a16:creationId xmlns:a16="http://schemas.microsoft.com/office/drawing/2014/main" id="{5C2BE771-D447-B6A5-6528-32821016F89C}"/>
              </a:ext>
            </a:extLst>
          </p:cNvPr>
          <p:cNvSpPr txBox="1"/>
          <p:nvPr/>
        </p:nvSpPr>
        <p:spPr>
          <a:xfrm>
            <a:off x="9462583" y="6175633"/>
            <a:ext cx="2299860" cy="369332"/>
          </a:xfrm>
          <a:prstGeom prst="rect">
            <a:avLst/>
          </a:prstGeom>
          <a:noFill/>
        </p:spPr>
        <p:txBody>
          <a:bodyPr wrap="none" rtlCol="0">
            <a:spAutoFit/>
          </a:bodyPr>
          <a:lstStyle/>
          <a:p>
            <a:r>
              <a:rPr lang="en-US" dirty="0"/>
              <a:t>(Mewhort et al., 2018)</a:t>
            </a:r>
            <a:endParaRPr lang="en-CN" dirty="0"/>
          </a:p>
        </p:txBody>
      </p:sp>
      <p:pic>
        <p:nvPicPr>
          <p:cNvPr id="8" name="Picture 7">
            <a:extLst>
              <a:ext uri="{FF2B5EF4-FFF2-40B4-BE49-F238E27FC236}">
                <a16:creationId xmlns:a16="http://schemas.microsoft.com/office/drawing/2014/main" id="{B4E76956-EDF7-E11F-AA92-9B066D5666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794" y="1281701"/>
            <a:ext cx="7756998" cy="4636493"/>
          </a:xfrm>
          <a:prstGeom prst="rect">
            <a:avLst/>
          </a:prstGeom>
        </p:spPr>
      </p:pic>
      <p:pic>
        <p:nvPicPr>
          <p:cNvPr id="12" name="Picture 11">
            <a:extLst>
              <a:ext uri="{FF2B5EF4-FFF2-40B4-BE49-F238E27FC236}">
                <a16:creationId xmlns:a16="http://schemas.microsoft.com/office/drawing/2014/main" id="{E8DBAC31-4195-7F93-29A1-820F95026CA6}"/>
              </a:ext>
            </a:extLst>
          </p:cNvPr>
          <p:cNvPicPr>
            <a:picLocks noChangeAspect="1"/>
          </p:cNvPicPr>
          <p:nvPr/>
        </p:nvPicPr>
        <p:blipFill>
          <a:blip r:embed="rId4">
            <a:extLst>
              <a:ext uri="{28A0092B-C50C-407E-A947-70E740481C1C}">
                <a14:useLocalDpi xmlns:a14="http://schemas.microsoft.com/office/drawing/2010/main" val="0"/>
              </a:ext>
            </a:extLst>
          </a:blip>
          <a:srcRect l="50527" t="2084"/>
          <a:stretch>
            <a:fillRect/>
          </a:stretch>
        </p:blipFill>
        <p:spPr>
          <a:xfrm>
            <a:off x="8342739" y="1638300"/>
            <a:ext cx="3125361" cy="3967712"/>
          </a:xfrm>
          <a:prstGeom prst="rect">
            <a:avLst/>
          </a:prstGeom>
        </p:spPr>
      </p:pic>
    </p:spTree>
    <p:extLst>
      <p:ext uri="{BB962C8B-B14F-4D97-AF65-F5344CB8AC3E}">
        <p14:creationId xmlns:p14="http://schemas.microsoft.com/office/powerpoint/2010/main" val="26109093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7DDF0-C44B-D65D-C866-5038FF7D598A}"/>
            </a:ext>
          </a:extLst>
        </p:cNvPr>
        <p:cNvGrpSpPr/>
        <p:nvPr/>
      </p:nvGrpSpPr>
      <p:grpSpPr>
        <a:xfrm>
          <a:off x="0" y="0"/>
          <a:ext cx="0" cy="0"/>
          <a:chOff x="0" y="0"/>
          <a:chExt cx="0" cy="0"/>
        </a:xfrm>
      </p:grpSpPr>
      <p:grpSp>
        <p:nvGrpSpPr>
          <p:cNvPr id="10" name="组合 9">
            <a:extLst>
              <a:ext uri="{FF2B5EF4-FFF2-40B4-BE49-F238E27FC236}">
                <a16:creationId xmlns:a16="http://schemas.microsoft.com/office/drawing/2014/main" id="{4D182F29-BD10-9DD7-B073-ADE08ABD73C7}"/>
              </a:ext>
            </a:extLst>
          </p:cNvPr>
          <p:cNvGrpSpPr/>
          <p:nvPr/>
        </p:nvGrpSpPr>
        <p:grpSpPr>
          <a:xfrm>
            <a:off x="49794" y="96334"/>
            <a:ext cx="12142207" cy="727169"/>
            <a:chOff x="-6488" y="56362"/>
            <a:chExt cx="8832187" cy="596763"/>
          </a:xfrm>
        </p:grpSpPr>
        <p:sp>
          <p:nvSpPr>
            <p:cNvPr id="11" name="矩形 10">
              <a:extLst>
                <a:ext uri="{FF2B5EF4-FFF2-40B4-BE49-F238E27FC236}">
                  <a16:creationId xmlns:a16="http://schemas.microsoft.com/office/drawing/2014/main" id="{E14468CB-C4D2-7678-6068-9BA542A1F3D6}"/>
                </a:ext>
              </a:extLst>
            </p:cNvPr>
            <p:cNvSpPr/>
            <p:nvPr/>
          </p:nvSpPr>
          <p:spPr>
            <a:xfrm>
              <a:off x="651757" y="56362"/>
              <a:ext cx="2297287" cy="5809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r>
                <a:rPr lang="en-CN" altLang="zh-CN" sz="4000" b="1" dirty="0">
                  <a:solidFill>
                    <a:srgbClr val="C00000"/>
                  </a:solidFill>
                  <a:latin typeface="华文楷体" panose="02010600040101010101" pitchFamily="2" charset="-122"/>
                  <a:ea typeface="华文楷体" panose="02010600040101010101" pitchFamily="2" charset="-122"/>
                </a:rPr>
                <a:t>Further</a:t>
              </a:r>
              <a:r>
                <a:rPr lang="zh-CN" altLang="en-US" sz="4000" b="1" dirty="0">
                  <a:solidFill>
                    <a:srgbClr val="C00000"/>
                  </a:solidFill>
                  <a:latin typeface="华文楷体" panose="02010600040101010101" pitchFamily="2" charset="-122"/>
                  <a:ea typeface="华文楷体" panose="02010600040101010101" pitchFamily="2" charset="-122"/>
                </a:rPr>
                <a:t> </a:t>
              </a:r>
              <a:r>
                <a:rPr lang="en-US" altLang="zh-CN" sz="4000" b="1" dirty="0">
                  <a:solidFill>
                    <a:srgbClr val="C00000"/>
                  </a:solidFill>
                  <a:latin typeface="华文楷体" panose="02010600040101010101" pitchFamily="2" charset="-122"/>
                  <a:ea typeface="华文楷体" panose="02010600040101010101" pitchFamily="2" charset="-122"/>
                </a:rPr>
                <a:t>Study</a:t>
              </a:r>
            </a:p>
          </p:txBody>
        </p:sp>
        <p:cxnSp>
          <p:nvCxnSpPr>
            <p:cNvPr id="13" name="直接连接符 12">
              <a:extLst>
                <a:ext uri="{FF2B5EF4-FFF2-40B4-BE49-F238E27FC236}">
                  <a16:creationId xmlns:a16="http://schemas.microsoft.com/office/drawing/2014/main" id="{435797A0-EB32-09B9-F362-E2A52E7D921B}"/>
                </a:ext>
              </a:extLst>
            </p:cNvPr>
            <p:cNvCxnSpPr>
              <a:cxnSpLocks/>
            </p:cNvCxnSpPr>
            <p:nvPr/>
          </p:nvCxnSpPr>
          <p:spPr>
            <a:xfrm>
              <a:off x="574757" y="653125"/>
              <a:ext cx="8250942" cy="0"/>
            </a:xfrm>
            <a:prstGeom prst="line">
              <a:avLst/>
            </a:prstGeom>
            <a:ln w="12700" cap="rnd">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7E685B0D-64DC-7DD4-36AA-F1D6DC15AF33}"/>
                </a:ext>
              </a:extLst>
            </p:cNvPr>
            <p:cNvSpPr/>
            <p:nvPr/>
          </p:nvSpPr>
          <p:spPr>
            <a:xfrm>
              <a:off x="-6488" y="142486"/>
              <a:ext cx="332509"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4D1BFF86-8A38-C609-ED56-42FBEBFB6995}"/>
                </a:ext>
              </a:extLst>
            </p:cNvPr>
            <p:cNvSpPr/>
            <p:nvPr/>
          </p:nvSpPr>
          <p:spPr>
            <a:xfrm>
              <a:off x="367416" y="142486"/>
              <a:ext cx="130866"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TextBox 1">
            <a:extLst>
              <a:ext uri="{FF2B5EF4-FFF2-40B4-BE49-F238E27FC236}">
                <a16:creationId xmlns:a16="http://schemas.microsoft.com/office/drawing/2014/main" id="{82DF939F-4FC4-2CB5-5ED6-16D829259CF9}"/>
              </a:ext>
            </a:extLst>
          </p:cNvPr>
          <p:cNvSpPr txBox="1"/>
          <p:nvPr/>
        </p:nvSpPr>
        <p:spPr>
          <a:xfrm>
            <a:off x="563825" y="1346200"/>
            <a:ext cx="9093200" cy="4524315"/>
          </a:xfrm>
          <a:prstGeom prst="rect">
            <a:avLst/>
          </a:prstGeom>
          <a:noFill/>
        </p:spPr>
        <p:txBody>
          <a:bodyPr wrap="square" rtlCol="0">
            <a:spAutoFit/>
          </a:bodyPr>
          <a:lstStyle/>
          <a:p>
            <a:pPr marL="285750" indent="-285750">
              <a:buFont typeface="Wingdings" pitchFamily="2" charset="2"/>
              <a:buChar char="Ø"/>
            </a:pPr>
            <a:r>
              <a:rPr lang="en-CN" sz="2400" dirty="0">
                <a:latin typeface="Kaiti TC" panose="02010600040101010101" pitchFamily="2" charset="-120"/>
                <a:ea typeface="Kaiti TC" panose="02010600040101010101" pitchFamily="2" charset="-120"/>
              </a:rPr>
              <a:t>If we aim to study the RPI phenomenon in LLMs, what prompt design strategies should be employed, and what metrics need to be measured?</a:t>
            </a:r>
          </a:p>
          <a:p>
            <a:pPr marL="285750" indent="-285750">
              <a:buFont typeface="Wingdings" pitchFamily="2" charset="2"/>
              <a:buChar char="Ø"/>
            </a:pPr>
            <a:endParaRPr lang="en-CN" sz="2400" dirty="0">
              <a:latin typeface="Kaiti TC" panose="02010600040101010101" pitchFamily="2" charset="-120"/>
              <a:ea typeface="Kaiti TC" panose="02010600040101010101" pitchFamily="2" charset="-120"/>
            </a:endParaRPr>
          </a:p>
          <a:p>
            <a:pPr marL="285750" indent="-285750">
              <a:buFont typeface="Wingdings" pitchFamily="2" charset="2"/>
              <a:buChar char="Ø"/>
            </a:pPr>
            <a:r>
              <a:rPr lang="en-CN" sz="2400" dirty="0">
                <a:latin typeface="Kaiti TC" panose="02010600040101010101" pitchFamily="2" charset="-120"/>
                <a:ea typeface="Kaiti TC" panose="02010600040101010101" pitchFamily="2" charset="-120"/>
              </a:rPr>
              <a:t>If some phenomenon is observed in LLM, could we design a toy model to illustrate it also? Or could we track the inner state of such model to elucidate the basic mechanism?</a:t>
            </a:r>
          </a:p>
          <a:p>
            <a:pPr marL="285750" indent="-285750">
              <a:buFont typeface="Wingdings" pitchFamily="2" charset="2"/>
              <a:buChar char="Ø"/>
            </a:pPr>
            <a:endParaRPr lang="en-CN" sz="2400" dirty="0">
              <a:latin typeface="Kaiti TC" panose="02010600040101010101" pitchFamily="2" charset="-120"/>
              <a:ea typeface="Kaiti TC" panose="02010600040101010101" pitchFamily="2" charset="-120"/>
            </a:endParaRPr>
          </a:p>
          <a:p>
            <a:pPr marL="285750" indent="-285750">
              <a:buFont typeface="Wingdings" pitchFamily="2" charset="2"/>
              <a:buChar char="Ø"/>
            </a:pPr>
            <a:r>
              <a:rPr lang="en-CN" sz="2400" dirty="0">
                <a:latin typeface="Kaiti TC" panose="02010600040101010101" pitchFamily="2" charset="-120"/>
                <a:ea typeface="Kaiti TC" panose="02010600040101010101" pitchFamily="2" charset="-120"/>
              </a:rPr>
              <a:t>If we understand the underlying principles, can we redesign certain architectures to mitigate this limitation? Furthermore, in doing so, could we draw inspiration from specific mechanisms within the human brain?</a:t>
            </a:r>
          </a:p>
        </p:txBody>
      </p:sp>
    </p:spTree>
    <p:extLst>
      <p:ext uri="{BB962C8B-B14F-4D97-AF65-F5344CB8AC3E}">
        <p14:creationId xmlns:p14="http://schemas.microsoft.com/office/powerpoint/2010/main" val="29345361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3090E-6047-CF4B-5556-B4A2A668C383}"/>
            </a:ext>
          </a:extLst>
        </p:cNvPr>
        <p:cNvGrpSpPr/>
        <p:nvPr/>
      </p:nvGrpSpPr>
      <p:grpSpPr>
        <a:xfrm>
          <a:off x="0" y="0"/>
          <a:ext cx="0" cy="0"/>
          <a:chOff x="0" y="0"/>
          <a:chExt cx="0" cy="0"/>
        </a:xfrm>
      </p:grpSpPr>
      <p:grpSp>
        <p:nvGrpSpPr>
          <p:cNvPr id="10" name="组合 9">
            <a:extLst>
              <a:ext uri="{FF2B5EF4-FFF2-40B4-BE49-F238E27FC236}">
                <a16:creationId xmlns:a16="http://schemas.microsoft.com/office/drawing/2014/main" id="{D02E23AA-12FA-F67E-E01E-7E46E6F753CB}"/>
              </a:ext>
            </a:extLst>
          </p:cNvPr>
          <p:cNvGrpSpPr/>
          <p:nvPr/>
        </p:nvGrpSpPr>
        <p:grpSpPr>
          <a:xfrm>
            <a:off x="49794" y="96334"/>
            <a:ext cx="12142207" cy="727169"/>
            <a:chOff x="-6488" y="56362"/>
            <a:chExt cx="8832187" cy="596763"/>
          </a:xfrm>
        </p:grpSpPr>
        <p:sp>
          <p:nvSpPr>
            <p:cNvPr id="11" name="矩形 10">
              <a:extLst>
                <a:ext uri="{FF2B5EF4-FFF2-40B4-BE49-F238E27FC236}">
                  <a16:creationId xmlns:a16="http://schemas.microsoft.com/office/drawing/2014/main" id="{C4D3E0C3-F038-66D5-F8D3-9958D5807E7B}"/>
                </a:ext>
              </a:extLst>
            </p:cNvPr>
            <p:cNvSpPr/>
            <p:nvPr/>
          </p:nvSpPr>
          <p:spPr>
            <a:xfrm>
              <a:off x="651757" y="56362"/>
              <a:ext cx="2297287" cy="5809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r>
                <a:rPr lang="en-US" altLang="zh-CN" sz="4000" b="1" dirty="0">
                  <a:solidFill>
                    <a:srgbClr val="C00000"/>
                  </a:solidFill>
                  <a:latin typeface="华文楷体" panose="02010600040101010101" pitchFamily="2" charset="-122"/>
                  <a:ea typeface="华文楷体" panose="02010600040101010101" pitchFamily="2" charset="-122"/>
                </a:rPr>
                <a:t>Further Study</a:t>
              </a:r>
            </a:p>
          </p:txBody>
        </p:sp>
        <p:cxnSp>
          <p:nvCxnSpPr>
            <p:cNvPr id="13" name="直接连接符 12">
              <a:extLst>
                <a:ext uri="{FF2B5EF4-FFF2-40B4-BE49-F238E27FC236}">
                  <a16:creationId xmlns:a16="http://schemas.microsoft.com/office/drawing/2014/main" id="{E493E520-D995-B35F-7B52-0AF32A0FDDC5}"/>
                </a:ext>
              </a:extLst>
            </p:cNvPr>
            <p:cNvCxnSpPr>
              <a:cxnSpLocks/>
            </p:cNvCxnSpPr>
            <p:nvPr/>
          </p:nvCxnSpPr>
          <p:spPr>
            <a:xfrm>
              <a:off x="574757" y="653125"/>
              <a:ext cx="8250942" cy="0"/>
            </a:xfrm>
            <a:prstGeom prst="line">
              <a:avLst/>
            </a:prstGeom>
            <a:ln w="12700" cap="rnd">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A90D2C1B-8CD4-5C52-A823-BAAA5137BF60}"/>
                </a:ext>
              </a:extLst>
            </p:cNvPr>
            <p:cNvSpPr/>
            <p:nvPr/>
          </p:nvSpPr>
          <p:spPr>
            <a:xfrm>
              <a:off x="-6488" y="142486"/>
              <a:ext cx="332509"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DBDAC529-D209-F4A5-3ED7-C281D27CCA1C}"/>
                </a:ext>
              </a:extLst>
            </p:cNvPr>
            <p:cNvSpPr/>
            <p:nvPr/>
          </p:nvSpPr>
          <p:spPr>
            <a:xfrm>
              <a:off x="367416" y="142486"/>
              <a:ext cx="130866"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文本框 7">
            <a:extLst>
              <a:ext uri="{FF2B5EF4-FFF2-40B4-BE49-F238E27FC236}">
                <a16:creationId xmlns:a16="http://schemas.microsoft.com/office/drawing/2014/main" id="{F56F14BD-3D99-FBBA-05D6-9416563808A7}"/>
              </a:ext>
            </a:extLst>
          </p:cNvPr>
          <p:cNvSpPr txBox="1"/>
          <p:nvPr/>
        </p:nvSpPr>
        <p:spPr>
          <a:xfrm>
            <a:off x="505428" y="1083671"/>
            <a:ext cx="11181144" cy="830997"/>
          </a:xfrm>
          <a:prstGeom prst="rect">
            <a:avLst/>
          </a:prstGeom>
          <a:noFill/>
        </p:spPr>
        <p:txBody>
          <a:bodyPr wrap="square" rtlCol="0">
            <a:spAutoFit/>
          </a:bodyPr>
          <a:lstStyle/>
          <a:p>
            <a:r>
              <a:rPr lang="en-US" altLang="zh-CN" sz="2400" b="1" dirty="0">
                <a:ea typeface="Kaiti TC" panose="02010600040101010101" pitchFamily="2" charset="-120"/>
              </a:rPr>
              <a:t>Unexpected result:</a:t>
            </a:r>
          </a:p>
          <a:p>
            <a:r>
              <a:rPr lang="en-US" altLang="zh-CN" sz="2400" dirty="0">
                <a:ea typeface="Kaiti TC" panose="02010600040101010101" pitchFamily="2" charset="-120"/>
              </a:rPr>
              <a:t>The semantic change seems to have no influence on the retrieval accuracy.</a:t>
            </a:r>
          </a:p>
        </p:txBody>
      </p:sp>
      <p:pic>
        <p:nvPicPr>
          <p:cNvPr id="3" name="内容占位符 3">
            <a:extLst>
              <a:ext uri="{FF2B5EF4-FFF2-40B4-BE49-F238E27FC236}">
                <a16:creationId xmlns:a16="http://schemas.microsoft.com/office/drawing/2014/main" id="{87590712-54E6-D207-C30D-0437300DE83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48871" y="1914668"/>
            <a:ext cx="3143546" cy="2161188"/>
          </a:xfrm>
          <a:prstGeom prst="rect">
            <a:avLst/>
          </a:prstGeom>
        </p:spPr>
      </p:pic>
      <p:pic>
        <p:nvPicPr>
          <p:cNvPr id="5" name="图片 4">
            <a:extLst>
              <a:ext uri="{FF2B5EF4-FFF2-40B4-BE49-F238E27FC236}">
                <a16:creationId xmlns:a16="http://schemas.microsoft.com/office/drawing/2014/main" id="{A9D77C91-028B-D5D0-6E6D-EA9F7DD0915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34493" y="1864562"/>
            <a:ext cx="3289309" cy="2261399"/>
          </a:xfrm>
          <a:prstGeom prst="rect">
            <a:avLst/>
          </a:prstGeom>
        </p:spPr>
      </p:pic>
      <p:pic>
        <p:nvPicPr>
          <p:cNvPr id="7" name="图片 6">
            <a:extLst>
              <a:ext uri="{FF2B5EF4-FFF2-40B4-BE49-F238E27FC236}">
                <a16:creationId xmlns:a16="http://schemas.microsoft.com/office/drawing/2014/main" id="{62DE09E5-F917-6BC6-E148-98F6F51B510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3735" y="4201349"/>
            <a:ext cx="3307513" cy="2273915"/>
          </a:xfrm>
          <a:prstGeom prst="rect">
            <a:avLst/>
          </a:prstGeom>
        </p:spPr>
      </p:pic>
      <p:pic>
        <p:nvPicPr>
          <p:cNvPr id="9" name="图片 8">
            <a:extLst>
              <a:ext uri="{FF2B5EF4-FFF2-40B4-BE49-F238E27FC236}">
                <a16:creationId xmlns:a16="http://schemas.microsoft.com/office/drawing/2014/main" id="{7C52649C-0254-7042-F5B1-743F606F6D1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334492" y="4201349"/>
            <a:ext cx="3289309" cy="2261399"/>
          </a:xfrm>
          <a:prstGeom prst="rect">
            <a:avLst/>
          </a:prstGeom>
        </p:spPr>
      </p:pic>
      <p:sp>
        <p:nvSpPr>
          <p:cNvPr id="12" name="灯片编号占位符 3">
            <a:extLst>
              <a:ext uri="{FF2B5EF4-FFF2-40B4-BE49-F238E27FC236}">
                <a16:creationId xmlns:a16="http://schemas.microsoft.com/office/drawing/2014/main" id="{B3C451FF-E597-B019-0020-C0E9B2B3E2F5}"/>
              </a:ext>
            </a:extLst>
          </p:cNvPr>
          <p:cNvSpPr txBox="1">
            <a:spLocks/>
          </p:cNvSpPr>
          <p:nvPr/>
        </p:nvSpPr>
        <p:spPr>
          <a:xfrm>
            <a:off x="8887543" y="6369677"/>
            <a:ext cx="2079370" cy="105587"/>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DD3DB80-B894-403A-B48E-6FDC1A72010E}" type="slidenum">
              <a:rPr lang="zh-CN" altLang="en-US" smtClean="0"/>
              <a:pPr/>
              <a:t>31</a:t>
            </a:fld>
            <a:endParaRPr lang="zh-CN" altLang="en-US"/>
          </a:p>
        </p:txBody>
      </p:sp>
      <p:sp>
        <p:nvSpPr>
          <p:cNvPr id="18" name="文本框 17">
            <a:extLst>
              <a:ext uri="{FF2B5EF4-FFF2-40B4-BE49-F238E27FC236}">
                <a16:creationId xmlns:a16="http://schemas.microsoft.com/office/drawing/2014/main" id="{791790A3-1D4F-E4A5-EA21-FE17EF0627B2}"/>
              </a:ext>
            </a:extLst>
          </p:cNvPr>
          <p:cNvSpPr txBox="1"/>
          <p:nvPr/>
        </p:nvSpPr>
        <p:spPr>
          <a:xfrm>
            <a:off x="8035776" y="3429000"/>
            <a:ext cx="3433824" cy="1569660"/>
          </a:xfrm>
          <a:prstGeom prst="rect">
            <a:avLst/>
          </a:prstGeom>
          <a:noFill/>
        </p:spPr>
        <p:txBody>
          <a:bodyPr wrap="square" rtlCol="0">
            <a:spAutoFit/>
          </a:bodyPr>
          <a:lstStyle/>
          <a:p>
            <a:r>
              <a:rPr lang="en-US" altLang="zh-CN" sz="2400" dirty="0">
                <a:ea typeface="Kaiti TC" panose="02010600040101010101" pitchFamily="2" charset="-120"/>
              </a:rPr>
              <a:t>No obvious difference between two sets.</a:t>
            </a:r>
          </a:p>
          <a:p>
            <a:r>
              <a:rPr lang="en-US" altLang="zh-CN" sz="2400" dirty="0">
                <a:ea typeface="Kaiti TC" panose="02010600040101010101" pitchFamily="2" charset="-120"/>
              </a:rPr>
              <a:t>No consistent result in all models.</a:t>
            </a:r>
          </a:p>
        </p:txBody>
      </p:sp>
    </p:spTree>
    <p:extLst>
      <p:ext uri="{BB962C8B-B14F-4D97-AF65-F5344CB8AC3E}">
        <p14:creationId xmlns:p14="http://schemas.microsoft.com/office/powerpoint/2010/main" val="28188230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36553-5FB0-0D49-98C9-936EAE2AD5E1}"/>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CDBD4457-8652-25D8-8137-A02B0472C271}"/>
              </a:ext>
            </a:extLst>
          </p:cNvPr>
          <p:cNvSpPr txBox="1"/>
          <p:nvPr/>
        </p:nvSpPr>
        <p:spPr>
          <a:xfrm>
            <a:off x="2044700" y="2084059"/>
            <a:ext cx="8102600" cy="1794337"/>
          </a:xfrm>
          <a:prstGeom prst="rect">
            <a:avLst/>
          </a:prstGeom>
          <a:noFill/>
        </p:spPr>
        <p:txBody>
          <a:bodyPr wrap="square">
            <a:spAutoFit/>
          </a:bodyPr>
          <a:lstStyle/>
          <a:p>
            <a:pPr algn="ctr">
              <a:lnSpc>
                <a:spcPct val="150000"/>
              </a:lnSpc>
            </a:pPr>
            <a:r>
              <a:rPr kumimoji="1" lang="en-US" altLang="zh-CN" sz="4000" b="1" dirty="0">
                <a:solidFill>
                  <a:srgbClr val="C00000"/>
                </a:solidFill>
                <a:latin typeface="华文楷体" panose="02010600040101010101" pitchFamily="2" charset="-122"/>
                <a:ea typeface="华文楷体" panose="02010600040101010101" pitchFamily="2" charset="-122"/>
              </a:rPr>
              <a:t>Serial Dependence: Proceed from Psychology</a:t>
            </a:r>
          </a:p>
        </p:txBody>
      </p:sp>
    </p:spTree>
    <p:extLst>
      <p:ext uri="{BB962C8B-B14F-4D97-AF65-F5344CB8AC3E}">
        <p14:creationId xmlns:p14="http://schemas.microsoft.com/office/powerpoint/2010/main" val="21686970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49794" y="127702"/>
            <a:ext cx="12142206" cy="695801"/>
            <a:chOff x="-6488" y="82104"/>
            <a:chExt cx="8832187" cy="571021"/>
          </a:xfrm>
        </p:grpSpPr>
        <p:sp>
          <p:nvSpPr>
            <p:cNvPr id="11" name="矩形 10"/>
            <p:cNvSpPr/>
            <p:nvPr/>
          </p:nvSpPr>
          <p:spPr>
            <a:xfrm>
              <a:off x="651757" y="82104"/>
              <a:ext cx="3432351" cy="5294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l"/>
              <a:r>
                <a:rPr kumimoji="1" lang="en-US" altLang="zh-CN" sz="3600" b="1" dirty="0">
                  <a:solidFill>
                    <a:srgbClr val="C00000"/>
                  </a:solidFill>
                  <a:latin typeface="华文楷体" panose="02010600040101010101" pitchFamily="2" charset="-122"/>
                  <a:ea typeface="华文楷体" panose="02010600040101010101" pitchFamily="2" charset="-122"/>
                </a:rPr>
                <a:t>Visual perceptual stability</a:t>
              </a:r>
            </a:p>
          </p:txBody>
        </p:sp>
        <p:cxnSp>
          <p:nvCxnSpPr>
            <p:cNvPr id="13" name="直接连接符 12"/>
            <p:cNvCxnSpPr/>
            <p:nvPr/>
          </p:nvCxnSpPr>
          <p:spPr>
            <a:xfrm>
              <a:off x="574757" y="653125"/>
              <a:ext cx="8250942" cy="0"/>
            </a:xfrm>
            <a:prstGeom prst="line">
              <a:avLst/>
            </a:prstGeom>
            <a:ln w="12700" cap="rnd">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6488" y="142486"/>
              <a:ext cx="332509"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367416" y="142486"/>
              <a:ext cx="130866"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 name="图片 1"/>
          <p:cNvPicPr>
            <a:picLocks noChangeAspect="1"/>
          </p:cNvPicPr>
          <p:nvPr/>
        </p:nvPicPr>
        <p:blipFill>
          <a:blip r:embed="rId3"/>
          <a:stretch>
            <a:fillRect/>
          </a:stretch>
        </p:blipFill>
        <p:spPr>
          <a:xfrm>
            <a:off x="743735" y="2682735"/>
            <a:ext cx="4825365" cy="3020060"/>
          </a:xfrm>
          <a:prstGeom prst="rect">
            <a:avLst/>
          </a:prstGeom>
        </p:spPr>
      </p:pic>
      <p:sp>
        <p:nvSpPr>
          <p:cNvPr id="6" name="文本框 5"/>
          <p:cNvSpPr txBox="1"/>
          <p:nvPr/>
        </p:nvSpPr>
        <p:spPr>
          <a:xfrm>
            <a:off x="352873" y="1015931"/>
            <a:ext cx="11343129" cy="1600438"/>
          </a:xfrm>
          <a:prstGeom prst="rect">
            <a:avLst/>
          </a:prstGeom>
          <a:noFill/>
        </p:spPr>
        <p:txBody>
          <a:bodyPr wrap="square">
            <a:spAutoFit/>
          </a:bodyPr>
          <a:lstStyle/>
          <a:p>
            <a:pPr marL="342900" indent="-342900" algn="just">
              <a:spcBef>
                <a:spcPts val="600"/>
              </a:spcBef>
              <a:buFont typeface="Arial" panose="020B0604020202020204" pitchFamily="34" charset="0"/>
              <a:buChar char="•"/>
            </a:pPr>
            <a:r>
              <a:rPr lang="en-US" altLang="zh-CN" sz="2200" b="0" i="0" u="none" strike="noStrike" baseline="0" dirty="0">
                <a:ea typeface="华文楷体" panose="02010600040101010101" pitchFamily="2" charset="-122"/>
              </a:rPr>
              <a:t>The visual world casts dynamic images on the retina. </a:t>
            </a:r>
          </a:p>
          <a:p>
            <a:pPr marL="342900" indent="-342900" algn="just">
              <a:spcBef>
                <a:spcPts val="600"/>
              </a:spcBef>
              <a:buFont typeface="Arial" panose="020B0604020202020204" pitchFamily="34" charset="0"/>
              <a:buChar char="•"/>
            </a:pPr>
            <a:r>
              <a:rPr lang="en-US" altLang="zh-CN" sz="2200" b="0" i="0" u="none" strike="noStrike" baseline="0" dirty="0">
                <a:ea typeface="华文楷体" panose="02010600040101010101" pitchFamily="2" charset="-122"/>
              </a:rPr>
              <a:t>From moment to moment, internal and external noise fluctuates across changes in lighting, occlusion, and viewpoint in the environment. </a:t>
            </a:r>
          </a:p>
          <a:p>
            <a:pPr marL="342900" indent="-342900" algn="just">
              <a:spcBef>
                <a:spcPts val="600"/>
              </a:spcBef>
              <a:buFont typeface="Arial" panose="020B0604020202020204" pitchFamily="34" charset="0"/>
              <a:buChar char="•"/>
            </a:pPr>
            <a:r>
              <a:rPr lang="en-US" altLang="zh-CN" sz="2200" b="0" i="0" u="none" strike="noStrike" baseline="0" dirty="0">
                <a:ea typeface="华文楷体" panose="02010600040101010101" pitchFamily="2" charset="-122"/>
              </a:rPr>
              <a:t>Yet we perceive coherence and stability in the world.</a:t>
            </a:r>
            <a:endParaRPr lang="zh-CN" altLang="en-US" sz="2200" dirty="0">
              <a:ea typeface="华文楷体" panose="02010600040101010101" pitchFamily="2" charset="-122"/>
            </a:endParaRPr>
          </a:p>
        </p:txBody>
      </p:sp>
      <p:sp>
        <p:nvSpPr>
          <p:cNvPr id="4" name="文本框 3"/>
          <p:cNvSpPr txBox="1"/>
          <p:nvPr/>
        </p:nvSpPr>
        <p:spPr>
          <a:xfrm>
            <a:off x="139176" y="5612317"/>
            <a:ext cx="11913645" cy="822661"/>
          </a:xfrm>
          <a:prstGeom prst="rect">
            <a:avLst/>
          </a:prstGeom>
          <a:noFill/>
        </p:spPr>
        <p:txBody>
          <a:bodyPr wrap="square">
            <a:spAutoFit/>
          </a:bodyPr>
          <a:lstStyle/>
          <a:p>
            <a:pPr algn="l">
              <a:lnSpc>
                <a:spcPct val="110000"/>
              </a:lnSpc>
              <a:spcBef>
                <a:spcPts val="600"/>
              </a:spcBef>
            </a:pPr>
            <a:r>
              <a:rPr lang="en-US" altLang="zh-CN" sz="2200" b="1" i="0" u="none" strike="noStrike" baseline="0" dirty="0">
                <a:solidFill>
                  <a:srgbClr val="C00000"/>
                </a:solidFill>
                <a:ea typeface="华文楷体" panose="02010600040101010101" pitchFamily="2" charset="-122"/>
              </a:rPr>
              <a:t>Serial dependence </a:t>
            </a:r>
            <a:r>
              <a:rPr lang="en-US" altLang="zh-CN" sz="2200" b="0" i="0" u="none" strike="noStrike" baseline="0" dirty="0">
                <a:ea typeface="华文楷体" panose="02010600040101010101" pitchFamily="2" charset="-122"/>
              </a:rPr>
              <a:t>is an intrinsic mechanism through which our visual system exploits temporal correlations and contextual redundancies by merging similar stimuli that slightly changing over time. </a:t>
            </a:r>
          </a:p>
        </p:txBody>
      </p:sp>
      <p:pic>
        <p:nvPicPr>
          <p:cNvPr id="5" name="图片 4"/>
          <p:cNvPicPr>
            <a:picLocks noChangeAspect="1"/>
          </p:cNvPicPr>
          <p:nvPr/>
        </p:nvPicPr>
        <p:blipFill>
          <a:blip r:embed="rId4"/>
          <a:srcRect t="-1" r="51899" b="17271"/>
          <a:stretch>
            <a:fillRect/>
          </a:stretch>
        </p:blipFill>
        <p:spPr>
          <a:xfrm>
            <a:off x="6816526" y="2466267"/>
            <a:ext cx="3989296" cy="3020060"/>
          </a:xfrm>
          <a:prstGeom prst="rect">
            <a:avLst/>
          </a:prstGeom>
        </p:spPr>
      </p:pic>
      <p:sp>
        <p:nvSpPr>
          <p:cNvPr id="8" name="文本框 7"/>
          <p:cNvSpPr txBox="1"/>
          <p:nvPr/>
        </p:nvSpPr>
        <p:spPr>
          <a:xfrm>
            <a:off x="8707120" y="6374765"/>
            <a:ext cx="3562985" cy="275590"/>
          </a:xfrm>
          <a:prstGeom prst="rect">
            <a:avLst/>
          </a:prstGeom>
          <a:noFill/>
        </p:spPr>
        <p:txBody>
          <a:bodyPr wrap="square">
            <a:spAutoFit/>
          </a:bodyPr>
          <a:lstStyle/>
          <a:p>
            <a:r>
              <a:rPr lang="en-US" altLang="zh-CN" sz="1200" dirty="0">
                <a:latin typeface="+mj-lt"/>
              </a:rPr>
              <a:t>Pascucci </a:t>
            </a:r>
            <a:r>
              <a:rPr lang="en-US" altLang="zh-CN" sz="1200" i="1" dirty="0">
                <a:latin typeface="+mj-lt"/>
              </a:rPr>
              <a:t>et al.</a:t>
            </a:r>
            <a:r>
              <a:rPr lang="en-US" altLang="zh-CN" sz="1200" dirty="0">
                <a:latin typeface="+mj-lt"/>
              </a:rPr>
              <a:t>, </a:t>
            </a:r>
            <a:r>
              <a:rPr lang="en-US" altLang="zh-CN" sz="1200" dirty="0">
                <a:latin typeface="+mj-lt"/>
                <a:sym typeface="+mn-ea"/>
              </a:rPr>
              <a:t>Journal of Vision,</a:t>
            </a:r>
            <a:r>
              <a:rPr lang="en-US" altLang="zh-CN" sz="1200" dirty="0">
                <a:latin typeface="+mj-lt"/>
              </a:rPr>
              <a:t> 2023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94E02-2603-2FB9-085B-75BC48835DAA}"/>
            </a:ext>
          </a:extLst>
        </p:cNvPr>
        <p:cNvGrpSpPr/>
        <p:nvPr/>
      </p:nvGrpSpPr>
      <p:grpSpPr>
        <a:xfrm>
          <a:off x="0" y="0"/>
          <a:ext cx="0" cy="0"/>
          <a:chOff x="0" y="0"/>
          <a:chExt cx="0" cy="0"/>
        </a:xfrm>
      </p:grpSpPr>
      <p:grpSp>
        <p:nvGrpSpPr>
          <p:cNvPr id="10" name="组合 9">
            <a:extLst>
              <a:ext uri="{FF2B5EF4-FFF2-40B4-BE49-F238E27FC236}">
                <a16:creationId xmlns:a16="http://schemas.microsoft.com/office/drawing/2014/main" id="{C4C6B315-3CB1-3D00-447D-3A11B23FDC5E}"/>
              </a:ext>
            </a:extLst>
          </p:cNvPr>
          <p:cNvGrpSpPr/>
          <p:nvPr/>
        </p:nvGrpSpPr>
        <p:grpSpPr>
          <a:xfrm>
            <a:off x="49794" y="96334"/>
            <a:ext cx="12142207" cy="727169"/>
            <a:chOff x="-6488" y="56362"/>
            <a:chExt cx="8832187" cy="596763"/>
          </a:xfrm>
        </p:grpSpPr>
        <p:sp>
          <p:nvSpPr>
            <p:cNvPr id="11" name="矩形 10">
              <a:extLst>
                <a:ext uri="{FF2B5EF4-FFF2-40B4-BE49-F238E27FC236}">
                  <a16:creationId xmlns:a16="http://schemas.microsoft.com/office/drawing/2014/main" id="{D153CAB6-3749-CD1D-F1A0-8B5E3B513CA1}"/>
                </a:ext>
              </a:extLst>
            </p:cNvPr>
            <p:cNvSpPr/>
            <p:nvPr/>
          </p:nvSpPr>
          <p:spPr>
            <a:xfrm>
              <a:off x="651757" y="56362"/>
              <a:ext cx="4878849" cy="5809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r>
                <a:rPr lang="en-US" altLang="zh-CN" sz="4000" b="1" dirty="0">
                  <a:solidFill>
                    <a:srgbClr val="C00000"/>
                  </a:solidFill>
                  <a:latin typeface="华文楷体" panose="02010600040101010101" pitchFamily="2" charset="-122"/>
                  <a:ea typeface="华文楷体" panose="02010600040101010101" pitchFamily="2" charset="-122"/>
                </a:rPr>
                <a:t>Serial Dependence in Perception</a:t>
              </a:r>
            </a:p>
          </p:txBody>
        </p:sp>
        <p:cxnSp>
          <p:nvCxnSpPr>
            <p:cNvPr id="13" name="直接连接符 12">
              <a:extLst>
                <a:ext uri="{FF2B5EF4-FFF2-40B4-BE49-F238E27FC236}">
                  <a16:creationId xmlns:a16="http://schemas.microsoft.com/office/drawing/2014/main" id="{589D7803-9C8B-3F46-FD5D-3A40EDDA51B3}"/>
                </a:ext>
              </a:extLst>
            </p:cNvPr>
            <p:cNvCxnSpPr>
              <a:cxnSpLocks/>
            </p:cNvCxnSpPr>
            <p:nvPr/>
          </p:nvCxnSpPr>
          <p:spPr>
            <a:xfrm>
              <a:off x="574757" y="653125"/>
              <a:ext cx="8250942" cy="0"/>
            </a:xfrm>
            <a:prstGeom prst="line">
              <a:avLst/>
            </a:prstGeom>
            <a:ln w="12700" cap="rnd">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62458746-5B95-E371-D313-86F1A8544820}"/>
                </a:ext>
              </a:extLst>
            </p:cNvPr>
            <p:cNvSpPr/>
            <p:nvPr/>
          </p:nvSpPr>
          <p:spPr>
            <a:xfrm>
              <a:off x="-6488" y="142486"/>
              <a:ext cx="332509"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8A3DCBF6-5294-174A-7463-704980FB362A}"/>
                </a:ext>
              </a:extLst>
            </p:cNvPr>
            <p:cNvSpPr/>
            <p:nvPr/>
          </p:nvSpPr>
          <p:spPr>
            <a:xfrm>
              <a:off x="367416" y="142486"/>
              <a:ext cx="130866"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 name="图片 1">
            <a:extLst>
              <a:ext uri="{FF2B5EF4-FFF2-40B4-BE49-F238E27FC236}">
                <a16:creationId xmlns:a16="http://schemas.microsoft.com/office/drawing/2014/main" id="{4D0960C6-E9F2-FDC2-F378-0B89BAA3AECB}"/>
              </a:ext>
            </a:extLst>
          </p:cNvPr>
          <p:cNvPicPr>
            <a:picLocks noChangeAspect="1"/>
          </p:cNvPicPr>
          <p:nvPr/>
        </p:nvPicPr>
        <p:blipFill>
          <a:blip r:embed="rId3"/>
          <a:stretch>
            <a:fillRect/>
          </a:stretch>
        </p:blipFill>
        <p:spPr>
          <a:xfrm>
            <a:off x="2358390" y="1941830"/>
            <a:ext cx="2608580" cy="1711325"/>
          </a:xfrm>
          <a:prstGeom prst="rect">
            <a:avLst/>
          </a:prstGeom>
        </p:spPr>
      </p:pic>
      <p:pic>
        <p:nvPicPr>
          <p:cNvPr id="3" name="图片 2">
            <a:extLst>
              <a:ext uri="{FF2B5EF4-FFF2-40B4-BE49-F238E27FC236}">
                <a16:creationId xmlns:a16="http://schemas.microsoft.com/office/drawing/2014/main" id="{DF2A8FDE-CDFE-E7E5-AD9F-86AF4299DD2D}"/>
              </a:ext>
            </a:extLst>
          </p:cNvPr>
          <p:cNvPicPr>
            <a:picLocks noChangeAspect="1"/>
          </p:cNvPicPr>
          <p:nvPr/>
        </p:nvPicPr>
        <p:blipFill>
          <a:blip r:embed="rId4"/>
          <a:stretch>
            <a:fillRect/>
          </a:stretch>
        </p:blipFill>
        <p:spPr>
          <a:xfrm>
            <a:off x="2925445" y="4963477"/>
            <a:ext cx="1473835" cy="1570990"/>
          </a:xfrm>
          <a:prstGeom prst="rect">
            <a:avLst/>
          </a:prstGeom>
        </p:spPr>
      </p:pic>
      <p:sp>
        <p:nvSpPr>
          <p:cNvPr id="4" name="文本框 3">
            <a:extLst>
              <a:ext uri="{FF2B5EF4-FFF2-40B4-BE49-F238E27FC236}">
                <a16:creationId xmlns:a16="http://schemas.microsoft.com/office/drawing/2014/main" id="{1B28A0E9-2549-B762-4DFA-B37C38B008B5}"/>
              </a:ext>
            </a:extLst>
          </p:cNvPr>
          <p:cNvSpPr txBox="1"/>
          <p:nvPr/>
        </p:nvSpPr>
        <p:spPr>
          <a:xfrm>
            <a:off x="223284" y="2941791"/>
            <a:ext cx="1608083" cy="461665"/>
          </a:xfrm>
          <a:prstGeom prst="rect">
            <a:avLst/>
          </a:prstGeom>
          <a:noFill/>
        </p:spPr>
        <p:txBody>
          <a:bodyPr wrap="square">
            <a:spAutoFit/>
          </a:bodyPr>
          <a:lstStyle/>
          <a:p>
            <a:pPr algn="ctr"/>
            <a:r>
              <a:rPr lang="en-US" altLang="zh-CN" sz="2400" dirty="0"/>
              <a:t>perception</a:t>
            </a:r>
            <a:endParaRPr lang="zh-CN" altLang="en-US" sz="2400" dirty="0"/>
          </a:p>
        </p:txBody>
      </p:sp>
      <p:sp>
        <p:nvSpPr>
          <p:cNvPr id="5" name="文本框 4">
            <a:extLst>
              <a:ext uri="{FF2B5EF4-FFF2-40B4-BE49-F238E27FC236}">
                <a16:creationId xmlns:a16="http://schemas.microsoft.com/office/drawing/2014/main" id="{64C9BD8A-83A7-0BB9-7731-4F72E29D1B7D}"/>
              </a:ext>
            </a:extLst>
          </p:cNvPr>
          <p:cNvSpPr txBox="1"/>
          <p:nvPr/>
        </p:nvSpPr>
        <p:spPr>
          <a:xfrm>
            <a:off x="1982444" y="1487991"/>
            <a:ext cx="3304539" cy="461665"/>
          </a:xfrm>
          <a:prstGeom prst="rect">
            <a:avLst/>
          </a:prstGeom>
          <a:noFill/>
        </p:spPr>
        <p:txBody>
          <a:bodyPr wrap="square">
            <a:spAutoFit/>
          </a:bodyPr>
          <a:lstStyle/>
          <a:p>
            <a:r>
              <a:rPr lang="zh-CN" altLang="en-US" sz="2400" dirty="0"/>
              <a:t>immediate sensory input </a:t>
            </a:r>
          </a:p>
        </p:txBody>
      </p:sp>
      <p:sp>
        <p:nvSpPr>
          <p:cNvPr id="6" name="文本框 5">
            <a:extLst>
              <a:ext uri="{FF2B5EF4-FFF2-40B4-BE49-F238E27FC236}">
                <a16:creationId xmlns:a16="http://schemas.microsoft.com/office/drawing/2014/main" id="{9A16A293-4BF4-9617-E696-A9898364C300}"/>
              </a:ext>
            </a:extLst>
          </p:cNvPr>
          <p:cNvSpPr txBox="1"/>
          <p:nvPr/>
        </p:nvSpPr>
        <p:spPr>
          <a:xfrm>
            <a:off x="2078237" y="4106227"/>
            <a:ext cx="3125561" cy="830997"/>
          </a:xfrm>
          <a:prstGeom prst="rect">
            <a:avLst/>
          </a:prstGeom>
          <a:noFill/>
        </p:spPr>
        <p:txBody>
          <a:bodyPr wrap="square">
            <a:spAutoFit/>
          </a:bodyPr>
          <a:lstStyle/>
          <a:p>
            <a:pPr algn="ctr"/>
            <a:r>
              <a:rPr lang="zh-CN" altLang="en-US" sz="2400" dirty="0"/>
              <a:t>contextual information over space and time</a:t>
            </a:r>
          </a:p>
        </p:txBody>
      </p:sp>
      <p:sp>
        <p:nvSpPr>
          <p:cNvPr id="7" name="左大括号 6">
            <a:extLst>
              <a:ext uri="{FF2B5EF4-FFF2-40B4-BE49-F238E27FC236}">
                <a16:creationId xmlns:a16="http://schemas.microsoft.com/office/drawing/2014/main" id="{C6A950A2-7D4C-D80C-B3EB-CE23E60CF1B4}"/>
              </a:ext>
            </a:extLst>
          </p:cNvPr>
          <p:cNvSpPr/>
          <p:nvPr/>
        </p:nvSpPr>
        <p:spPr>
          <a:xfrm>
            <a:off x="1852930" y="1839595"/>
            <a:ext cx="95885" cy="2614295"/>
          </a:xfrm>
          <a:prstGeom prst="leftBrace">
            <a:avLst>
              <a:gd name="adj1" fmla="val 36129"/>
              <a:gd name="adj2" fmla="val 50326"/>
            </a:avLst>
          </a:prstGeom>
          <a:ln w="285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箭头: 下 7">
            <a:extLst>
              <a:ext uri="{FF2B5EF4-FFF2-40B4-BE49-F238E27FC236}">
                <a16:creationId xmlns:a16="http://schemas.microsoft.com/office/drawing/2014/main" id="{C3C91F2F-C340-87C1-5BDE-6FD950AF827F}"/>
              </a:ext>
            </a:extLst>
          </p:cNvPr>
          <p:cNvSpPr/>
          <p:nvPr/>
        </p:nvSpPr>
        <p:spPr>
          <a:xfrm flipV="1">
            <a:off x="6376670" y="2627630"/>
            <a:ext cx="379730" cy="1114425"/>
          </a:xfrm>
          <a:prstGeom prst="down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95E28E84-2EA4-A075-7BD7-EF6C440D2E42}"/>
              </a:ext>
            </a:extLst>
          </p:cNvPr>
          <p:cNvSpPr txBox="1"/>
          <p:nvPr/>
        </p:nvSpPr>
        <p:spPr>
          <a:xfrm>
            <a:off x="8166100" y="3720465"/>
            <a:ext cx="3246120" cy="1661993"/>
          </a:xfrm>
          <a:prstGeom prst="rect">
            <a:avLst/>
          </a:prstGeom>
          <a:noFill/>
        </p:spPr>
        <p:txBody>
          <a:bodyPr wrap="square">
            <a:spAutoFit/>
          </a:bodyPr>
          <a:lstStyle/>
          <a:p>
            <a:pPr algn="l"/>
            <a:r>
              <a:rPr lang="zh-CN" altLang="en-US" sz="2400" dirty="0"/>
              <a:t>optimizing strategy</a:t>
            </a:r>
            <a:r>
              <a:rPr lang="en-US" altLang="zh-CN" sz="2400" dirty="0"/>
              <a:t>: </a:t>
            </a:r>
          </a:p>
          <a:p>
            <a:pPr algn="l"/>
            <a:r>
              <a:rPr lang="en-US" altLang="zh-CN" dirty="0">
                <a:sym typeface="+mn-ea"/>
              </a:rPr>
              <a:t>increase signal-to-noise ratios</a:t>
            </a:r>
            <a:endParaRPr lang="zh-CN" altLang="en-US" dirty="0"/>
          </a:p>
          <a:p>
            <a:pPr algn="l"/>
            <a:endParaRPr lang="en-US" altLang="zh-CN" sz="1800" dirty="0">
              <a:latin typeface="+mj-lt"/>
            </a:endParaRPr>
          </a:p>
          <a:p>
            <a:pPr algn="l"/>
            <a:r>
              <a:rPr lang="en-US" altLang="zh-CN" sz="2400" dirty="0"/>
              <a:t>side effect: </a:t>
            </a:r>
          </a:p>
          <a:p>
            <a:pPr algn="l"/>
            <a:r>
              <a:rPr lang="en-US" altLang="zh-CN" sz="1800" dirty="0">
                <a:latin typeface="+mj-lt"/>
              </a:rPr>
              <a:t>bias responses</a:t>
            </a:r>
          </a:p>
        </p:txBody>
      </p:sp>
      <p:sp>
        <p:nvSpPr>
          <p:cNvPr id="12" name="矩形 11">
            <a:extLst>
              <a:ext uri="{FF2B5EF4-FFF2-40B4-BE49-F238E27FC236}">
                <a16:creationId xmlns:a16="http://schemas.microsoft.com/office/drawing/2014/main" id="{CC4672A2-15D3-C6CC-1D19-1AD78081DCEA}"/>
              </a:ext>
            </a:extLst>
          </p:cNvPr>
          <p:cNvSpPr/>
          <p:nvPr/>
        </p:nvSpPr>
        <p:spPr>
          <a:xfrm>
            <a:off x="7845878" y="2991786"/>
            <a:ext cx="2157479" cy="420077"/>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serial dependence</a:t>
            </a:r>
          </a:p>
        </p:txBody>
      </p:sp>
      <p:sp>
        <p:nvSpPr>
          <p:cNvPr id="16" name="文本框 15">
            <a:extLst>
              <a:ext uri="{FF2B5EF4-FFF2-40B4-BE49-F238E27FC236}">
                <a16:creationId xmlns:a16="http://schemas.microsoft.com/office/drawing/2014/main" id="{E0C89A7F-436C-A5D9-8651-88F7B745EC0A}"/>
              </a:ext>
            </a:extLst>
          </p:cNvPr>
          <p:cNvSpPr txBox="1"/>
          <p:nvPr/>
        </p:nvSpPr>
        <p:spPr>
          <a:xfrm>
            <a:off x="5405117" y="4474428"/>
            <a:ext cx="2559712" cy="307777"/>
          </a:xfrm>
          <a:prstGeom prst="rect">
            <a:avLst/>
          </a:prstGeom>
          <a:noFill/>
        </p:spPr>
        <p:txBody>
          <a:bodyPr wrap="square">
            <a:spAutoFit/>
          </a:bodyPr>
          <a:lstStyle/>
          <a:p>
            <a:pPr algn="ctr"/>
            <a:r>
              <a:rPr lang="en-US" altLang="zh-CN" sz="1400" dirty="0">
                <a:latin typeface="+mj-lt"/>
              </a:rPr>
              <a:t>a coherent model</a:t>
            </a:r>
            <a:endParaRPr lang="zh-CN" altLang="en-US" sz="1400" dirty="0"/>
          </a:p>
        </p:txBody>
      </p:sp>
      <p:sp>
        <p:nvSpPr>
          <p:cNvPr id="17" name="文本框 16">
            <a:extLst>
              <a:ext uri="{FF2B5EF4-FFF2-40B4-BE49-F238E27FC236}">
                <a16:creationId xmlns:a16="http://schemas.microsoft.com/office/drawing/2014/main" id="{DAF55A21-A579-7A43-71A8-BCDE56603143}"/>
              </a:ext>
            </a:extLst>
          </p:cNvPr>
          <p:cNvSpPr txBox="1"/>
          <p:nvPr/>
        </p:nvSpPr>
        <p:spPr>
          <a:xfrm>
            <a:off x="5376769" y="1839392"/>
            <a:ext cx="2358595" cy="523220"/>
          </a:xfrm>
          <a:prstGeom prst="rect">
            <a:avLst/>
          </a:prstGeom>
          <a:noFill/>
        </p:spPr>
        <p:txBody>
          <a:bodyPr wrap="square">
            <a:spAutoFit/>
          </a:bodyPr>
          <a:lstStyle/>
          <a:p>
            <a:pPr algn="ctr"/>
            <a:r>
              <a:rPr lang="en-US" altLang="zh-CN" sz="1400" dirty="0">
                <a:latin typeface="+mj-lt"/>
              </a:rPr>
              <a:t>sensory input mapped onto the model</a:t>
            </a:r>
            <a:endParaRPr lang="zh-CN" altLang="en-US" sz="1400" dirty="0"/>
          </a:p>
        </p:txBody>
      </p:sp>
      <p:sp>
        <p:nvSpPr>
          <p:cNvPr id="18" name="文本框 17">
            <a:extLst>
              <a:ext uri="{FF2B5EF4-FFF2-40B4-BE49-F238E27FC236}">
                <a16:creationId xmlns:a16="http://schemas.microsoft.com/office/drawing/2014/main" id="{32D178E4-B25A-FE89-43F1-CD1C075F9B47}"/>
              </a:ext>
            </a:extLst>
          </p:cNvPr>
          <p:cNvSpPr txBox="1"/>
          <p:nvPr/>
        </p:nvSpPr>
        <p:spPr>
          <a:xfrm>
            <a:off x="5286983" y="1527738"/>
            <a:ext cx="2559712" cy="368300"/>
          </a:xfrm>
          <a:prstGeom prst="rect">
            <a:avLst/>
          </a:prstGeom>
          <a:noFill/>
        </p:spPr>
        <p:txBody>
          <a:bodyPr wrap="square">
            <a:spAutoFit/>
          </a:bodyPr>
          <a:lstStyle/>
          <a:p>
            <a:pPr algn="ctr"/>
            <a:r>
              <a:rPr lang="en-US" altLang="zh-CN" dirty="0">
                <a:solidFill>
                  <a:srgbClr val="C00000"/>
                </a:solidFill>
                <a:latin typeface="+mj-lt"/>
              </a:rPr>
              <a:t>current perception</a:t>
            </a:r>
            <a:endParaRPr lang="zh-CN" altLang="en-US" sz="1400" dirty="0">
              <a:solidFill>
                <a:srgbClr val="C00000"/>
              </a:solidFill>
              <a:latin typeface="+mj-lt"/>
            </a:endParaRPr>
          </a:p>
        </p:txBody>
      </p:sp>
      <p:sp>
        <p:nvSpPr>
          <p:cNvPr id="19" name="文本框 18">
            <a:extLst>
              <a:ext uri="{FF2B5EF4-FFF2-40B4-BE49-F238E27FC236}">
                <a16:creationId xmlns:a16="http://schemas.microsoft.com/office/drawing/2014/main" id="{3DB0BAE8-EBDF-6DFC-01D4-1F38A7422437}"/>
              </a:ext>
            </a:extLst>
          </p:cNvPr>
          <p:cNvSpPr txBox="1"/>
          <p:nvPr/>
        </p:nvSpPr>
        <p:spPr>
          <a:xfrm>
            <a:off x="5405117" y="4106128"/>
            <a:ext cx="2559712" cy="368300"/>
          </a:xfrm>
          <a:prstGeom prst="rect">
            <a:avLst/>
          </a:prstGeom>
          <a:noFill/>
        </p:spPr>
        <p:txBody>
          <a:bodyPr wrap="square">
            <a:spAutoFit/>
          </a:bodyPr>
          <a:lstStyle/>
          <a:p>
            <a:pPr algn="ctr"/>
            <a:r>
              <a:rPr lang="en-US" altLang="zh-CN" dirty="0">
                <a:solidFill>
                  <a:srgbClr val="C00000"/>
                </a:solidFill>
                <a:latin typeface="+mj-lt"/>
              </a:rPr>
              <a:t>past perception</a:t>
            </a:r>
            <a:endParaRPr lang="zh-CN" altLang="en-US" sz="1400" dirty="0">
              <a:solidFill>
                <a:srgbClr val="C00000"/>
              </a:solidFill>
              <a:latin typeface="+mj-lt"/>
            </a:endParaRPr>
          </a:p>
        </p:txBody>
      </p:sp>
      <p:sp>
        <p:nvSpPr>
          <p:cNvPr id="20" name="文本框 19">
            <a:extLst>
              <a:ext uri="{FF2B5EF4-FFF2-40B4-BE49-F238E27FC236}">
                <a16:creationId xmlns:a16="http://schemas.microsoft.com/office/drawing/2014/main" id="{51D5CF92-BD87-2FD5-0134-631B8F047F04}"/>
              </a:ext>
            </a:extLst>
          </p:cNvPr>
          <p:cNvSpPr txBox="1"/>
          <p:nvPr/>
        </p:nvSpPr>
        <p:spPr>
          <a:xfrm>
            <a:off x="7686040" y="3787775"/>
            <a:ext cx="480060" cy="695325"/>
          </a:xfrm>
          <a:prstGeom prst="rect">
            <a:avLst/>
          </a:prstGeom>
          <a:noFill/>
        </p:spPr>
        <p:txBody>
          <a:bodyPr wrap="square" rtlCol="0" anchor="t">
            <a:noAutofit/>
          </a:bodyPr>
          <a:lstStyle/>
          <a:p>
            <a:r>
              <a:rPr lang="zh-CN" altLang="en-US" sz="3200" dirty="0">
                <a:latin typeface="+mj-lt"/>
                <a:sym typeface="Wingdings" panose="05000000000000000000" charset="0"/>
              </a:rPr>
              <a:t></a:t>
            </a:r>
          </a:p>
        </p:txBody>
      </p:sp>
      <p:sp>
        <p:nvSpPr>
          <p:cNvPr id="21" name="文本框 20">
            <a:extLst>
              <a:ext uri="{FF2B5EF4-FFF2-40B4-BE49-F238E27FC236}">
                <a16:creationId xmlns:a16="http://schemas.microsoft.com/office/drawing/2014/main" id="{02976F60-BB58-C944-0DB2-03BAA3A84C5B}"/>
              </a:ext>
            </a:extLst>
          </p:cNvPr>
          <p:cNvSpPr txBox="1"/>
          <p:nvPr/>
        </p:nvSpPr>
        <p:spPr>
          <a:xfrm>
            <a:off x="7686040" y="4615815"/>
            <a:ext cx="480060" cy="695325"/>
          </a:xfrm>
          <a:prstGeom prst="rect">
            <a:avLst/>
          </a:prstGeom>
          <a:noFill/>
        </p:spPr>
        <p:txBody>
          <a:bodyPr wrap="square" rtlCol="0" anchor="t">
            <a:noAutofit/>
          </a:bodyPr>
          <a:lstStyle/>
          <a:p>
            <a:r>
              <a:rPr lang="zh-CN" altLang="en-US" sz="3200" dirty="0">
                <a:latin typeface="+mj-lt"/>
                <a:sym typeface="Wingdings" panose="05000000000000000000" charset="0"/>
              </a:rPr>
              <a:t></a:t>
            </a:r>
          </a:p>
        </p:txBody>
      </p:sp>
    </p:spTree>
    <p:extLst>
      <p:ext uri="{BB962C8B-B14F-4D97-AF65-F5344CB8AC3E}">
        <p14:creationId xmlns:p14="http://schemas.microsoft.com/office/powerpoint/2010/main" val="11031616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49794" y="127702"/>
            <a:ext cx="12142206" cy="695801"/>
            <a:chOff x="-6488" y="82104"/>
            <a:chExt cx="8832187" cy="571021"/>
          </a:xfrm>
        </p:grpSpPr>
        <p:sp>
          <p:nvSpPr>
            <p:cNvPr id="11" name="矩形 10"/>
            <p:cNvSpPr/>
            <p:nvPr/>
          </p:nvSpPr>
          <p:spPr>
            <a:xfrm>
              <a:off x="651757" y="82104"/>
              <a:ext cx="6375091" cy="5294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l"/>
              <a:r>
                <a:rPr kumimoji="1" lang="en-US" altLang="zh-CN" sz="3600" b="1" dirty="0">
                  <a:solidFill>
                    <a:srgbClr val="C00000"/>
                  </a:solidFill>
                  <a:latin typeface="华文楷体" panose="02010600040101010101" pitchFamily="2" charset="-122"/>
                  <a:ea typeface="华文楷体" panose="02010600040101010101" pitchFamily="2" charset="-122"/>
                </a:rPr>
                <a:t>Positive serial dependencies across visual stimuli</a:t>
              </a:r>
            </a:p>
          </p:txBody>
        </p:sp>
        <p:cxnSp>
          <p:nvCxnSpPr>
            <p:cNvPr id="13" name="直接连接符 12"/>
            <p:cNvCxnSpPr/>
            <p:nvPr/>
          </p:nvCxnSpPr>
          <p:spPr>
            <a:xfrm>
              <a:off x="574757" y="653125"/>
              <a:ext cx="8250942" cy="0"/>
            </a:xfrm>
            <a:prstGeom prst="line">
              <a:avLst/>
            </a:prstGeom>
            <a:ln w="12700" cap="rnd">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6488" y="142486"/>
              <a:ext cx="332509"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367416" y="142486"/>
              <a:ext cx="130866"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文本框 5"/>
          <p:cNvSpPr txBox="1"/>
          <p:nvPr/>
        </p:nvSpPr>
        <p:spPr>
          <a:xfrm>
            <a:off x="353060" y="1016000"/>
            <a:ext cx="6440646" cy="5401479"/>
          </a:xfrm>
          <a:prstGeom prst="rect">
            <a:avLst/>
          </a:prstGeom>
          <a:noFill/>
        </p:spPr>
        <p:txBody>
          <a:bodyPr wrap="square">
            <a:spAutoFit/>
          </a:bodyPr>
          <a:lstStyle/>
          <a:p>
            <a:pPr marL="285750" indent="-285750">
              <a:spcBef>
                <a:spcPts val="600"/>
              </a:spcBef>
              <a:buFont typeface="Arial" panose="020B0604020202020204" pitchFamily="34" charset="0"/>
              <a:buChar char="•"/>
            </a:pPr>
            <a:r>
              <a:rPr lang="en-US" altLang="zh-CN" sz="2200" dirty="0">
                <a:ea typeface="华文楷体" panose="02010600040101010101" pitchFamily="2" charset="-122"/>
                <a:sym typeface="+mn-ea"/>
              </a:rPr>
              <a:t>The term </a:t>
            </a:r>
            <a:r>
              <a:rPr lang="en-US" altLang="zh-CN" sz="2200" b="1" dirty="0">
                <a:solidFill>
                  <a:srgbClr val="C00000"/>
                </a:solidFill>
                <a:ea typeface="华文楷体" panose="02010600040101010101" pitchFamily="2" charset="-122"/>
                <a:sym typeface="+mn-ea"/>
              </a:rPr>
              <a:t>serial dependence</a:t>
            </a:r>
            <a:r>
              <a:rPr lang="en-US" altLang="zh-CN" sz="2200" dirty="0">
                <a:ea typeface="华文楷体" panose="02010600040101010101" pitchFamily="2" charset="-122"/>
                <a:sym typeface="+mn-ea"/>
              </a:rPr>
              <a:t> has been used to describe, typically, a positive bias to judge present stimuli as more similar to recent stimuli than they are (i.e., a form of assimilation). </a:t>
            </a:r>
            <a:endParaRPr lang="en-US" altLang="zh-CN" sz="2200" dirty="0">
              <a:ea typeface="华文楷体" panose="02010600040101010101" pitchFamily="2" charset="-122"/>
            </a:endParaRPr>
          </a:p>
          <a:p>
            <a:pPr marL="285750" indent="-285750">
              <a:spcBef>
                <a:spcPts val="600"/>
              </a:spcBef>
              <a:buFont typeface="Arial" panose="020B0604020202020204" pitchFamily="34" charset="0"/>
              <a:buChar char="•"/>
            </a:pPr>
            <a:r>
              <a:rPr lang="en-US" altLang="zh-CN" sz="2200" dirty="0">
                <a:ea typeface="华文楷体" panose="02010600040101010101" pitchFamily="2" charset="-122"/>
                <a:sym typeface="+mn-ea"/>
              </a:rPr>
              <a:t>In particular, serial dependence involves a systematic bias in perceptual decisions during psychophysical tasks, which are attracted toward aspects of the stimulus presented one or a few trials before. </a:t>
            </a:r>
            <a:endParaRPr lang="en-US" altLang="zh-CN" sz="2200" dirty="0">
              <a:ea typeface="华文楷体" panose="02010600040101010101" pitchFamily="2" charset="-122"/>
            </a:endParaRPr>
          </a:p>
          <a:p>
            <a:pPr marL="285750" indent="-285750">
              <a:spcBef>
                <a:spcPts val="600"/>
              </a:spcBef>
              <a:buFont typeface="Arial" panose="020B0604020202020204" pitchFamily="34" charset="0"/>
              <a:buChar char="•"/>
            </a:pPr>
            <a:r>
              <a:rPr lang="en-US" altLang="zh-CN" sz="2200" dirty="0">
                <a:ea typeface="华文楷体" panose="02010600040101010101" pitchFamily="2" charset="-122"/>
                <a:sym typeface="+mn-ea"/>
              </a:rPr>
              <a:t>For instance, the decision about the orientation of a visual stimulus is biased toward the orientation of the stimulus seen before.</a:t>
            </a:r>
            <a:endParaRPr lang="zh-CN" altLang="en-US" sz="2200" dirty="0">
              <a:ea typeface="华文楷体" panose="02010600040101010101" pitchFamily="2" charset="-122"/>
            </a:endParaRPr>
          </a:p>
          <a:p>
            <a:pPr marL="285750" indent="-285750">
              <a:spcBef>
                <a:spcPts val="600"/>
              </a:spcBef>
              <a:buFont typeface="Arial" panose="020B0604020202020204" pitchFamily="34" charset="0"/>
              <a:buChar char="•"/>
            </a:pPr>
            <a:r>
              <a:rPr lang="en-US" altLang="zh-CN" sz="2200" dirty="0">
                <a:ea typeface="华文楷体" panose="02010600040101010101" pitchFamily="2" charset="-122"/>
                <a:sym typeface="+mn-ea"/>
              </a:rPr>
              <a:t>Serial dependence has been investigated with a variety of paradigms, involving different types of stimuli, responses, and analysis.</a:t>
            </a:r>
            <a:endParaRPr lang="zh-CN" altLang="en-US" sz="2200" dirty="0">
              <a:ea typeface="华文楷体" panose="02010600040101010101" pitchFamily="2" charset="-122"/>
            </a:endParaRPr>
          </a:p>
        </p:txBody>
      </p:sp>
      <p:sp>
        <p:nvSpPr>
          <p:cNvPr id="8" name="文本框 7"/>
          <p:cNvSpPr txBox="1"/>
          <p:nvPr/>
        </p:nvSpPr>
        <p:spPr>
          <a:xfrm>
            <a:off x="7018020" y="6304280"/>
            <a:ext cx="4500880" cy="275590"/>
          </a:xfrm>
          <a:prstGeom prst="rect">
            <a:avLst/>
          </a:prstGeom>
          <a:noFill/>
        </p:spPr>
        <p:txBody>
          <a:bodyPr wrap="square">
            <a:spAutoFit/>
          </a:bodyPr>
          <a:lstStyle/>
          <a:p>
            <a:r>
              <a:rPr lang="en-US" altLang="zh-CN" sz="1200" dirty="0">
                <a:latin typeface="+mj-lt"/>
                <a:sym typeface="+mn-ea"/>
              </a:rPr>
              <a:t>Manassi, Murai, &amp; Whitney,</a:t>
            </a:r>
            <a:r>
              <a:rPr lang="zh-CN" altLang="en-US" sz="1200" dirty="0">
                <a:latin typeface="+mj-lt"/>
                <a:sym typeface="+mn-ea"/>
              </a:rPr>
              <a:t> </a:t>
            </a:r>
            <a:r>
              <a:rPr lang="en-US" altLang="zh-CN" sz="1200" dirty="0">
                <a:latin typeface="+mj-lt"/>
                <a:sym typeface="+mn-ea"/>
              </a:rPr>
              <a:t>Journal of Vision, 2023</a:t>
            </a:r>
          </a:p>
        </p:txBody>
      </p:sp>
      <p:pic>
        <p:nvPicPr>
          <p:cNvPr id="7" name="图片 6"/>
          <p:cNvPicPr>
            <a:picLocks noChangeAspect="1"/>
          </p:cNvPicPr>
          <p:nvPr/>
        </p:nvPicPr>
        <p:blipFill>
          <a:blip r:embed="rId3"/>
          <a:stretch>
            <a:fillRect/>
          </a:stretch>
        </p:blipFill>
        <p:spPr>
          <a:xfrm>
            <a:off x="7102475" y="874395"/>
            <a:ext cx="4126865" cy="532828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49794" y="127702"/>
            <a:ext cx="12142206" cy="695800"/>
            <a:chOff x="-6488" y="82105"/>
            <a:chExt cx="8832187" cy="571020"/>
          </a:xfrm>
        </p:grpSpPr>
        <p:sp>
          <p:nvSpPr>
            <p:cNvPr id="11" name="矩形 10"/>
            <p:cNvSpPr/>
            <p:nvPr/>
          </p:nvSpPr>
          <p:spPr>
            <a:xfrm>
              <a:off x="651757" y="82105"/>
              <a:ext cx="6250379" cy="5294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l"/>
              <a:r>
                <a:rPr kumimoji="1" lang="en-US" altLang="zh-CN" sz="3600" b="1" dirty="0">
                  <a:solidFill>
                    <a:srgbClr val="C00000"/>
                  </a:solidFill>
                  <a:latin typeface="华文楷体" panose="02010600040101010101" pitchFamily="2" charset="-122"/>
                  <a:ea typeface="华文楷体" panose="02010600040101010101" pitchFamily="2" charset="-122"/>
                </a:rPr>
                <a:t>Serial dependence paradigms: Adjustment tasks</a:t>
              </a:r>
            </a:p>
          </p:txBody>
        </p:sp>
        <p:cxnSp>
          <p:nvCxnSpPr>
            <p:cNvPr id="13" name="直接连接符 12"/>
            <p:cNvCxnSpPr/>
            <p:nvPr/>
          </p:nvCxnSpPr>
          <p:spPr>
            <a:xfrm>
              <a:off x="574757" y="653125"/>
              <a:ext cx="8250942" cy="0"/>
            </a:xfrm>
            <a:prstGeom prst="line">
              <a:avLst/>
            </a:prstGeom>
            <a:ln w="12700" cap="rnd">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6488" y="142486"/>
              <a:ext cx="332509"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367416" y="142486"/>
              <a:ext cx="130866"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 name="文本框 4"/>
          <p:cNvSpPr txBox="1"/>
          <p:nvPr/>
        </p:nvSpPr>
        <p:spPr>
          <a:xfrm>
            <a:off x="7973060" y="6210300"/>
            <a:ext cx="4051300" cy="303530"/>
          </a:xfrm>
          <a:prstGeom prst="rect">
            <a:avLst/>
          </a:prstGeom>
          <a:noFill/>
        </p:spPr>
        <p:txBody>
          <a:bodyPr wrap="square">
            <a:noAutofit/>
          </a:bodyPr>
          <a:lstStyle/>
          <a:p>
            <a:r>
              <a:rPr lang="en-US" altLang="zh-CN" sz="1200" dirty="0">
                <a:latin typeface="+mj-lt"/>
              </a:rPr>
              <a:t>Fischer &amp; Whitney, Nature Neuroscience, 2014</a:t>
            </a:r>
          </a:p>
          <a:p>
            <a:endParaRPr lang="en-US" altLang="zh-CN" sz="1200" dirty="0">
              <a:latin typeface="+mj-lt"/>
            </a:endParaRPr>
          </a:p>
        </p:txBody>
      </p:sp>
      <p:pic>
        <p:nvPicPr>
          <p:cNvPr id="2" name="图片 1"/>
          <p:cNvPicPr>
            <a:picLocks noChangeAspect="1"/>
          </p:cNvPicPr>
          <p:nvPr/>
        </p:nvPicPr>
        <p:blipFill>
          <a:blip r:embed="rId3"/>
          <a:stretch>
            <a:fillRect/>
          </a:stretch>
        </p:blipFill>
        <p:spPr>
          <a:xfrm>
            <a:off x="8055589" y="2096727"/>
            <a:ext cx="1559842" cy="1461600"/>
          </a:xfrm>
          <a:prstGeom prst="rect">
            <a:avLst/>
          </a:prstGeom>
        </p:spPr>
      </p:pic>
      <p:grpSp>
        <p:nvGrpSpPr>
          <p:cNvPr id="3" name="组合 2"/>
          <p:cNvGrpSpPr/>
          <p:nvPr/>
        </p:nvGrpSpPr>
        <p:grpSpPr>
          <a:xfrm>
            <a:off x="5092207" y="2096727"/>
            <a:ext cx="1559842" cy="1461970"/>
            <a:chOff x="5522102" y="1604602"/>
            <a:chExt cx="1559842" cy="1461970"/>
          </a:xfrm>
        </p:grpSpPr>
        <p:pic>
          <p:nvPicPr>
            <p:cNvPr id="4" name="图片 3"/>
            <p:cNvPicPr>
              <a:picLocks noChangeAspect="1"/>
            </p:cNvPicPr>
            <p:nvPr/>
          </p:nvPicPr>
          <p:blipFill>
            <a:blip r:embed="rId3"/>
            <a:stretch>
              <a:fillRect/>
            </a:stretch>
          </p:blipFill>
          <p:spPr>
            <a:xfrm>
              <a:off x="5522102" y="1604602"/>
              <a:ext cx="1559842" cy="1461970"/>
            </a:xfrm>
            <a:prstGeom prst="rect">
              <a:avLst/>
            </a:prstGeom>
          </p:spPr>
        </p:pic>
        <p:pic>
          <p:nvPicPr>
            <p:cNvPr id="18" name="图片 17"/>
            <p:cNvPicPr>
              <a:picLocks noChangeAspect="1"/>
            </p:cNvPicPr>
            <p:nvPr/>
          </p:nvPicPr>
          <p:blipFill>
            <a:blip r:embed="rId4"/>
            <a:stretch>
              <a:fillRect/>
            </a:stretch>
          </p:blipFill>
          <p:spPr>
            <a:xfrm rot="1776377">
              <a:off x="5766216" y="1890398"/>
              <a:ext cx="1071613" cy="961704"/>
            </a:xfrm>
            <a:prstGeom prst="rect">
              <a:avLst/>
            </a:prstGeom>
          </p:spPr>
        </p:pic>
      </p:grpSp>
      <p:sp>
        <p:nvSpPr>
          <p:cNvPr id="20" name="文本框 19"/>
          <p:cNvSpPr txBox="1"/>
          <p:nvPr/>
        </p:nvSpPr>
        <p:spPr>
          <a:xfrm>
            <a:off x="5339955" y="3558697"/>
            <a:ext cx="1664267" cy="338554"/>
          </a:xfrm>
          <a:prstGeom prst="rect">
            <a:avLst/>
          </a:prstGeom>
          <a:noFill/>
        </p:spPr>
        <p:txBody>
          <a:bodyPr wrap="square">
            <a:spAutoFit/>
          </a:bodyPr>
          <a:lstStyle/>
          <a:p>
            <a:r>
              <a:rPr lang="en-US" altLang="zh-CN" sz="1600" dirty="0">
                <a:latin typeface="+mj-lt"/>
              </a:rPr>
              <a:t>Trial N-1</a:t>
            </a:r>
          </a:p>
        </p:txBody>
      </p:sp>
      <p:sp>
        <p:nvSpPr>
          <p:cNvPr id="23" name="文本框 22"/>
          <p:cNvSpPr txBox="1"/>
          <p:nvPr/>
        </p:nvSpPr>
        <p:spPr>
          <a:xfrm>
            <a:off x="8439197" y="3547735"/>
            <a:ext cx="1115902" cy="338554"/>
          </a:xfrm>
          <a:prstGeom prst="rect">
            <a:avLst/>
          </a:prstGeom>
          <a:noFill/>
        </p:spPr>
        <p:txBody>
          <a:bodyPr wrap="square">
            <a:spAutoFit/>
          </a:bodyPr>
          <a:lstStyle/>
          <a:p>
            <a:r>
              <a:rPr lang="en-US" altLang="zh-CN" sz="1600" dirty="0">
                <a:latin typeface="+mj-lt"/>
              </a:rPr>
              <a:t>Trial N</a:t>
            </a:r>
            <a:endParaRPr lang="zh-CN" altLang="en-US" sz="1600" dirty="0">
              <a:latin typeface="+mj-lt"/>
            </a:endParaRPr>
          </a:p>
        </p:txBody>
      </p:sp>
      <p:sp>
        <p:nvSpPr>
          <p:cNvPr id="26" name="文本框 25"/>
          <p:cNvSpPr txBox="1"/>
          <p:nvPr/>
        </p:nvSpPr>
        <p:spPr>
          <a:xfrm>
            <a:off x="7130010" y="2694098"/>
            <a:ext cx="593496" cy="338554"/>
          </a:xfrm>
          <a:prstGeom prst="rect">
            <a:avLst/>
          </a:prstGeom>
          <a:noFill/>
        </p:spPr>
        <p:txBody>
          <a:bodyPr wrap="square">
            <a:spAutoFit/>
          </a:bodyPr>
          <a:lstStyle/>
          <a:p>
            <a:r>
              <a:rPr lang="en-US" altLang="zh-CN" sz="1600" dirty="0">
                <a:latin typeface="+mj-lt"/>
              </a:rPr>
              <a:t>……</a:t>
            </a:r>
          </a:p>
        </p:txBody>
      </p:sp>
      <p:sp>
        <p:nvSpPr>
          <p:cNvPr id="27" name="文本框 26"/>
          <p:cNvSpPr txBox="1"/>
          <p:nvPr/>
        </p:nvSpPr>
        <p:spPr>
          <a:xfrm>
            <a:off x="10226345" y="3542621"/>
            <a:ext cx="1115902" cy="338554"/>
          </a:xfrm>
          <a:prstGeom prst="rect">
            <a:avLst/>
          </a:prstGeom>
          <a:noFill/>
        </p:spPr>
        <p:txBody>
          <a:bodyPr wrap="square">
            <a:spAutoFit/>
          </a:bodyPr>
          <a:lstStyle/>
          <a:p>
            <a:r>
              <a:rPr lang="en-US" altLang="zh-CN" sz="1600" dirty="0">
                <a:latin typeface="+mj-lt"/>
              </a:rPr>
              <a:t>Response</a:t>
            </a:r>
            <a:endParaRPr lang="zh-CN" altLang="en-US" sz="1600" dirty="0">
              <a:latin typeface="+mj-lt"/>
            </a:endParaRPr>
          </a:p>
        </p:txBody>
      </p:sp>
      <p:grpSp>
        <p:nvGrpSpPr>
          <p:cNvPr id="28" name="组合 27"/>
          <p:cNvGrpSpPr/>
          <p:nvPr/>
        </p:nvGrpSpPr>
        <p:grpSpPr>
          <a:xfrm>
            <a:off x="9972914" y="2096727"/>
            <a:ext cx="1559842" cy="1461970"/>
            <a:chOff x="10402809" y="1604602"/>
            <a:chExt cx="1559842" cy="1461970"/>
          </a:xfrm>
        </p:grpSpPr>
        <p:pic>
          <p:nvPicPr>
            <p:cNvPr id="29" name="图片 28"/>
            <p:cNvPicPr>
              <a:picLocks noChangeAspect="1"/>
            </p:cNvPicPr>
            <p:nvPr/>
          </p:nvPicPr>
          <p:blipFill>
            <a:blip r:embed="rId3"/>
            <a:stretch>
              <a:fillRect/>
            </a:stretch>
          </p:blipFill>
          <p:spPr>
            <a:xfrm>
              <a:off x="10402809" y="1604602"/>
              <a:ext cx="1559842" cy="1461970"/>
            </a:xfrm>
            <a:prstGeom prst="rect">
              <a:avLst/>
            </a:prstGeom>
          </p:spPr>
        </p:pic>
        <p:pic>
          <p:nvPicPr>
            <p:cNvPr id="30" name="图片 29"/>
            <p:cNvPicPr>
              <a:picLocks noChangeAspect="1"/>
            </p:cNvPicPr>
            <p:nvPr/>
          </p:nvPicPr>
          <p:blipFill>
            <a:blip r:embed="rId5"/>
            <a:stretch>
              <a:fillRect/>
            </a:stretch>
          </p:blipFill>
          <p:spPr>
            <a:xfrm>
              <a:off x="10474668" y="1735213"/>
              <a:ext cx="1416124" cy="1177261"/>
            </a:xfrm>
            <a:prstGeom prst="rect">
              <a:avLst/>
            </a:prstGeom>
          </p:spPr>
        </p:pic>
      </p:grpSp>
      <p:grpSp>
        <p:nvGrpSpPr>
          <p:cNvPr id="32" name="组合 31"/>
          <p:cNvGrpSpPr/>
          <p:nvPr/>
        </p:nvGrpSpPr>
        <p:grpSpPr>
          <a:xfrm>
            <a:off x="4885373" y="4064635"/>
            <a:ext cx="2499677" cy="2291715"/>
            <a:chOff x="7654388" y="3528717"/>
            <a:chExt cx="3062184" cy="2807336"/>
          </a:xfrm>
        </p:grpSpPr>
        <p:pic>
          <p:nvPicPr>
            <p:cNvPr id="33" name="图片 32"/>
            <p:cNvPicPr>
              <a:picLocks noChangeAspect="1"/>
            </p:cNvPicPr>
            <p:nvPr/>
          </p:nvPicPr>
          <p:blipFill>
            <a:blip r:embed="rId6"/>
            <a:stretch>
              <a:fillRect/>
            </a:stretch>
          </p:blipFill>
          <p:spPr>
            <a:xfrm>
              <a:off x="8001655" y="3528717"/>
              <a:ext cx="2714917" cy="2468107"/>
            </a:xfrm>
            <a:prstGeom prst="rect">
              <a:avLst/>
            </a:prstGeom>
          </p:spPr>
        </p:pic>
        <mc:AlternateContent xmlns:mc="http://schemas.openxmlformats.org/markup-compatibility/2006" xmlns:a14="http://schemas.microsoft.com/office/drawing/2010/main">
          <mc:Choice Requires="a14">
            <p:sp>
              <p:nvSpPr>
                <p:cNvPr id="34" name="文本框 33"/>
                <p:cNvSpPr txBox="1"/>
                <p:nvPr/>
              </p:nvSpPr>
              <p:spPr>
                <a:xfrm>
                  <a:off x="8869071" y="5996901"/>
                  <a:ext cx="1421214" cy="339152"/>
                </a:xfrm>
                <a:prstGeom prst="rect">
                  <a:avLst/>
                </a:prstGeom>
                <a:noFill/>
              </p:spPr>
              <p:txBody>
                <a:bodyPr wrap="square" lIns="0" tIns="0" rIns="0" bIns="0" rtlCol="0">
                  <a:spAutoFit/>
                </a:bodyPr>
                <a:lstStyle/>
                <a:p>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𝜃</m:t>
                          </m:r>
                        </m:e>
                        <m:sub>
                          <m:r>
                            <m:rPr>
                              <m:sty m:val="p"/>
                            </m:rPr>
                            <a:rPr lang="en-US" altLang="zh-CN" i="1">
                              <a:latin typeface="Cambria Math" panose="02040503050406030204" pitchFamily="18" charset="0"/>
                            </a:rPr>
                            <m:t>N</m:t>
                          </m:r>
                          <m:r>
                            <a:rPr lang="en-US" altLang="zh-CN" i="1" smtClean="0">
                              <a:latin typeface="Cambria Math" panose="02040503050406030204" pitchFamily="18" charset="0"/>
                            </a:rPr>
                            <m:t>−</m:t>
                          </m:r>
                          <m:r>
                            <a:rPr lang="en-US" altLang="zh-CN" b="0" i="1" smtClean="0">
                              <a:latin typeface="Cambria Math" panose="02040503050406030204" pitchFamily="18" charset="0"/>
                            </a:rPr>
                            <m:t>1</m:t>
                          </m:r>
                        </m:sub>
                      </m:sSub>
                      <m:r>
                        <a:rPr lang="en-US" altLang="zh-CN" b="0" i="0"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𝜃</m:t>
                          </m:r>
                        </m:e>
                        <m:sub>
                          <m:r>
                            <a:rPr lang="en-US" altLang="zh-CN" b="0" i="1" smtClean="0">
                              <a:latin typeface="Cambria Math" panose="02040503050406030204" pitchFamily="18" charset="0"/>
                            </a:rPr>
                            <m:t>𝑁</m:t>
                          </m:r>
                        </m:sub>
                      </m:sSub>
                    </m:oMath>
                  </a14:m>
                  <a:r>
                    <a:rPr lang="en-US" altLang="zh-CN" dirty="0"/>
                    <a:t> </a:t>
                  </a:r>
                  <a:endParaRPr lang="zh-CN" altLang="en-US" dirty="0"/>
                </a:p>
              </p:txBody>
            </p:sp>
          </mc:Choice>
          <mc:Fallback xmlns="">
            <p:sp>
              <p:nvSpPr>
                <p:cNvPr id="34" name="文本框 33"/>
                <p:cNvSpPr txBox="1">
                  <a:spLocks noRot="1" noChangeAspect="1" noMove="1" noResize="1" noEditPoints="1" noAdjustHandles="1" noChangeArrowheads="1" noChangeShapeType="1" noTextEdit="1"/>
                </p:cNvSpPr>
                <p:nvPr/>
              </p:nvSpPr>
              <p:spPr>
                <a:xfrm>
                  <a:off x="8869071" y="5996901"/>
                  <a:ext cx="1421214" cy="339152"/>
                </a:xfrm>
                <a:prstGeom prst="rect">
                  <a:avLst/>
                </a:prstGeom>
                <a:blipFill rotWithShape="1">
                  <a:blip r:embed="rId7"/>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文本框 34"/>
                <p:cNvSpPr txBox="1"/>
                <p:nvPr/>
              </p:nvSpPr>
              <p:spPr>
                <a:xfrm rot="16200000">
                  <a:off x="6957032" y="4469158"/>
                  <a:ext cx="1741653" cy="346941"/>
                </a:xfrm>
                <a:prstGeom prst="rect">
                  <a:avLst/>
                </a:prstGeom>
                <a:noFill/>
              </p:spPr>
              <p:txBody>
                <a:bodyPr wrap="square" lIns="0" tIns="0" rIns="0" bIns="0" rtlCol="0">
                  <a:spAutoFit/>
                </a:bodyPr>
                <a:lstStyle/>
                <a:p>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𝜃</m:t>
                          </m:r>
                        </m:e>
                        <m:sub>
                          <m:r>
                            <a:rPr lang="en-US" altLang="zh-CN" b="0" i="1" smtClean="0">
                              <a:latin typeface="Cambria Math" panose="02040503050406030204" pitchFamily="18" charset="0"/>
                            </a:rPr>
                            <m:t>𝑟𝑒𝑠𝑝𝑜𝑛𝑠𝑒</m:t>
                          </m:r>
                        </m:sub>
                      </m:sSub>
                      <m:r>
                        <a:rPr lang="en-US" altLang="zh-CN" b="0" i="0"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𝜃</m:t>
                          </m:r>
                        </m:e>
                        <m:sub>
                          <m:r>
                            <a:rPr lang="en-US" altLang="zh-CN" b="0" i="1" smtClean="0">
                              <a:latin typeface="Cambria Math" panose="02040503050406030204" pitchFamily="18" charset="0"/>
                            </a:rPr>
                            <m:t>𝑁</m:t>
                          </m:r>
                        </m:sub>
                      </m:sSub>
                    </m:oMath>
                  </a14:m>
                  <a:r>
                    <a:rPr lang="en-US" altLang="zh-CN" dirty="0"/>
                    <a:t> </a:t>
                  </a:r>
                  <a:endParaRPr lang="zh-CN" altLang="en-US" dirty="0"/>
                </a:p>
              </p:txBody>
            </p:sp>
          </mc:Choice>
          <mc:Fallback xmlns="">
            <p:sp>
              <p:nvSpPr>
                <p:cNvPr id="35" name="文本框 34"/>
                <p:cNvSpPr txBox="1">
                  <a:spLocks noRot="1" noChangeAspect="1" noMove="1" noResize="1" noEditPoints="1" noAdjustHandles="1" noChangeArrowheads="1" noChangeShapeType="1" noTextEdit="1"/>
                </p:cNvSpPr>
                <p:nvPr/>
              </p:nvSpPr>
              <p:spPr>
                <a:xfrm rot="16200000">
                  <a:off x="6957032" y="4469158"/>
                  <a:ext cx="1741653" cy="346941"/>
                </a:xfrm>
                <a:prstGeom prst="rect">
                  <a:avLst/>
                </a:prstGeom>
                <a:blipFill rotWithShape="1">
                  <a:blip r:embed="rId8"/>
                </a:blipFill>
              </p:spPr>
              <p:txBody>
                <a:bodyPr/>
                <a:lstStyle/>
                <a:p>
                  <a:r>
                    <a:rPr lang="zh-CN" altLang="en-US">
                      <a:noFill/>
                    </a:rPr>
                    <a:t> </a:t>
                  </a:r>
                </a:p>
              </p:txBody>
            </p:sp>
          </mc:Fallback>
        </mc:AlternateContent>
      </p:grpSp>
      <p:pic>
        <p:nvPicPr>
          <p:cNvPr id="37" name="图片 36"/>
          <p:cNvPicPr>
            <a:picLocks noChangeAspect="1"/>
          </p:cNvPicPr>
          <p:nvPr/>
        </p:nvPicPr>
        <p:blipFill>
          <a:blip r:embed="rId9"/>
          <a:stretch>
            <a:fillRect/>
          </a:stretch>
        </p:blipFill>
        <p:spPr>
          <a:xfrm>
            <a:off x="17780" y="2182495"/>
            <a:ext cx="4858385" cy="3933825"/>
          </a:xfrm>
          <a:prstGeom prst="rect">
            <a:avLst/>
          </a:prstGeom>
        </p:spPr>
      </p:pic>
      <p:cxnSp>
        <p:nvCxnSpPr>
          <p:cNvPr id="41" name="直接连接符 40"/>
          <p:cNvCxnSpPr/>
          <p:nvPr/>
        </p:nvCxnSpPr>
        <p:spPr>
          <a:xfrm>
            <a:off x="10557510" y="2546985"/>
            <a:ext cx="403225" cy="573405"/>
          </a:xfrm>
          <a:prstGeom prst="line">
            <a:avLst/>
          </a:prstGeom>
          <a:ln w="19050">
            <a:solidFill>
              <a:schemeClr val="bg1"/>
            </a:solidFill>
            <a:prstDash val="sysDot"/>
          </a:ln>
        </p:spPr>
        <p:style>
          <a:lnRef idx="2">
            <a:schemeClr val="accent1"/>
          </a:lnRef>
          <a:fillRef idx="0">
            <a:srgbClr val="FFFFFF"/>
          </a:fillRef>
          <a:effectRef idx="0">
            <a:srgbClr val="FFFFFF"/>
          </a:effectRef>
          <a:fontRef idx="minor">
            <a:schemeClr val="tx1"/>
          </a:fontRef>
        </p:style>
      </p:cxnSp>
      <p:cxnSp>
        <p:nvCxnSpPr>
          <p:cNvPr id="42" name="直接连接符 41"/>
          <p:cNvCxnSpPr/>
          <p:nvPr/>
        </p:nvCxnSpPr>
        <p:spPr>
          <a:xfrm>
            <a:off x="10667365" y="2489200"/>
            <a:ext cx="172085" cy="692150"/>
          </a:xfrm>
          <a:prstGeom prst="line">
            <a:avLst/>
          </a:prstGeom>
          <a:ln w="19050" cap="flat" cmpd="sng" algn="ctr">
            <a:solidFill>
              <a:schemeClr val="bg1"/>
            </a:solidFill>
            <a:prstDash val="solid"/>
            <a:miter lim="800000"/>
          </a:ln>
        </p:spPr>
        <p:style>
          <a:lnRef idx="0">
            <a:schemeClr val="accent1"/>
          </a:lnRef>
          <a:fillRef idx="0">
            <a:srgbClr val="FFFFFF"/>
          </a:fillRef>
          <a:effectRef idx="0">
            <a:srgbClr val="FFFFFF"/>
          </a:effectRef>
          <a:fontRef idx="minor">
            <a:schemeClr val="tx1"/>
          </a:fontRef>
        </p:style>
      </p:cxnSp>
      <p:sp>
        <p:nvSpPr>
          <p:cNvPr id="44" name="圆角右箭头 43"/>
          <p:cNvSpPr/>
          <p:nvPr/>
        </p:nvSpPr>
        <p:spPr>
          <a:xfrm rot="840000">
            <a:off x="10534015" y="2429510"/>
            <a:ext cx="139065" cy="135255"/>
          </a:xfrm>
          <a:prstGeom prst="bentArrow">
            <a:avLst>
              <a:gd name="adj1" fmla="val 13448"/>
              <a:gd name="adj2" fmla="val 23931"/>
              <a:gd name="adj3" fmla="val 25000"/>
              <a:gd name="adj4" fmla="val 78030"/>
            </a:avLst>
          </a:prstGeom>
          <a:solidFill>
            <a:srgbClr val="A4111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rgbClr val="A41111"/>
              </a:solidFill>
            </a:endParaRPr>
          </a:p>
        </p:txBody>
      </p:sp>
      <p:sp>
        <p:nvSpPr>
          <p:cNvPr id="45" name="文本框 44"/>
          <p:cNvSpPr txBox="1"/>
          <p:nvPr/>
        </p:nvSpPr>
        <p:spPr>
          <a:xfrm>
            <a:off x="10045065" y="2180590"/>
            <a:ext cx="1093470" cy="185420"/>
          </a:xfrm>
          <a:prstGeom prst="rect">
            <a:avLst/>
          </a:prstGeom>
          <a:noFill/>
        </p:spPr>
        <p:txBody>
          <a:bodyPr wrap="square">
            <a:noAutofit/>
          </a:bodyPr>
          <a:lstStyle/>
          <a:p>
            <a:r>
              <a:rPr lang="en-US" altLang="zh-CN" sz="1600" dirty="0">
                <a:solidFill>
                  <a:srgbClr val="A41111"/>
                </a:solidFill>
                <a:latin typeface="+mj-lt"/>
              </a:rPr>
              <a:t>attraction</a:t>
            </a:r>
          </a:p>
        </p:txBody>
      </p:sp>
      <p:sp>
        <p:nvSpPr>
          <p:cNvPr id="7" name="文本框 6"/>
          <p:cNvSpPr txBox="1"/>
          <p:nvPr/>
        </p:nvSpPr>
        <p:spPr>
          <a:xfrm>
            <a:off x="898442" y="2076308"/>
            <a:ext cx="2746154" cy="338554"/>
          </a:xfrm>
          <a:prstGeom prst="rect">
            <a:avLst/>
          </a:prstGeom>
          <a:noFill/>
        </p:spPr>
        <p:txBody>
          <a:bodyPr wrap="square">
            <a:spAutoFit/>
          </a:bodyPr>
          <a:lstStyle/>
          <a:p>
            <a:r>
              <a:rPr lang="en-US" altLang="zh-CN" sz="1600" dirty="0">
                <a:latin typeface="+mj-lt"/>
              </a:rPr>
              <a:t>orientation of Gabor stimuli</a:t>
            </a:r>
            <a:endParaRPr lang="zh-CN" altLang="en-US" sz="1600" dirty="0">
              <a:latin typeface="+mj-lt"/>
            </a:endParaRPr>
          </a:p>
        </p:txBody>
      </p:sp>
      <p:sp>
        <p:nvSpPr>
          <p:cNvPr id="12" name="文本框 11"/>
          <p:cNvSpPr txBox="1"/>
          <p:nvPr/>
        </p:nvSpPr>
        <p:spPr>
          <a:xfrm>
            <a:off x="366395" y="916940"/>
            <a:ext cx="11375390" cy="1014730"/>
          </a:xfrm>
          <a:prstGeom prst="rect">
            <a:avLst/>
          </a:prstGeom>
          <a:noFill/>
        </p:spPr>
        <p:txBody>
          <a:bodyPr wrap="square">
            <a:spAutoFit/>
          </a:bodyPr>
          <a:lstStyle/>
          <a:p>
            <a:pPr marL="285750" indent="-285750">
              <a:spcBef>
                <a:spcPts val="600"/>
              </a:spcBef>
              <a:buFont typeface="Arial" panose="020B0604020202020204" pitchFamily="34" charset="0"/>
              <a:buChar char="•"/>
            </a:pPr>
            <a:r>
              <a:rPr lang="en-US" altLang="zh-CN" sz="2000" dirty="0">
                <a:ea typeface="华文楷体" panose="02010600040101010101" pitchFamily="2" charset="-122"/>
              </a:rPr>
              <a:t>In the method of adjustment, a brief stimulus is followed by a response tool that resembles one of the stimulus’ features (e.g., the orientation, size). Participants adjust the tool to match their perception of the feature. This method is also known as a “delayed reproduction task” or simply “reproduction task.”</a:t>
            </a:r>
          </a:p>
        </p:txBody>
      </p:sp>
      <p:sp>
        <p:nvSpPr>
          <p:cNvPr id="8" name="文本框 7"/>
          <p:cNvSpPr txBox="1"/>
          <p:nvPr/>
        </p:nvSpPr>
        <p:spPr>
          <a:xfrm>
            <a:off x="7517765" y="4170680"/>
            <a:ext cx="4576604" cy="1938992"/>
          </a:xfrm>
          <a:prstGeom prst="rect">
            <a:avLst/>
          </a:prstGeom>
          <a:noFill/>
        </p:spPr>
        <p:txBody>
          <a:bodyPr wrap="square">
            <a:spAutoFit/>
          </a:bodyPr>
          <a:lstStyle/>
          <a:p>
            <a:pPr marL="285750" indent="-285750">
              <a:spcBef>
                <a:spcPts val="600"/>
              </a:spcBef>
              <a:buFont typeface="Arial" panose="020B0604020202020204" pitchFamily="34" charset="0"/>
              <a:buChar char="•"/>
            </a:pPr>
            <a:r>
              <a:rPr lang="en-US" altLang="zh-CN" sz="2000" dirty="0">
                <a:ea typeface="华文楷体" panose="02010600040101010101" pitchFamily="2" charset="-122"/>
              </a:rPr>
              <a:t>On average, adjustment errors (reported minus true orientation) were positively related to the difference in orientation (Δ) between the previous and the present stimulus, showing a bias toward the previous orientation.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3" grpId="0"/>
      <p:bldP spid="26" grpId="0"/>
      <p:bldP spid="27" grpId="0"/>
      <p:bldP spid="44" grpId="0" bldLvl="0" animBg="1"/>
      <p:bldP spid="45" grpId="0"/>
      <p:bldP spid="8" grpId="0"/>
      <p:bldP spid="8" grpId="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49794" y="127117"/>
            <a:ext cx="12142206" cy="696385"/>
            <a:chOff x="-6488" y="81625"/>
            <a:chExt cx="8832187" cy="571500"/>
          </a:xfrm>
        </p:grpSpPr>
        <p:sp>
          <p:nvSpPr>
            <p:cNvPr id="11" name="矩形 10"/>
            <p:cNvSpPr/>
            <p:nvPr/>
          </p:nvSpPr>
          <p:spPr>
            <a:xfrm>
              <a:off x="651757" y="81625"/>
              <a:ext cx="6507776" cy="53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l"/>
              <a:r>
                <a:rPr kumimoji="1" lang="en-US" altLang="zh-CN" sz="3600" b="1" dirty="0">
                  <a:solidFill>
                    <a:srgbClr val="C00000"/>
                  </a:solidFill>
                  <a:latin typeface="华文楷体" panose="02010600040101010101" pitchFamily="2" charset="-122"/>
                  <a:ea typeface="华文楷体" panose="02010600040101010101" pitchFamily="2" charset="-122"/>
                </a:rPr>
                <a:t>Serial dependence paradigms: Forced-choice task</a:t>
              </a:r>
            </a:p>
          </p:txBody>
        </p:sp>
        <p:cxnSp>
          <p:nvCxnSpPr>
            <p:cNvPr id="13" name="直接连接符 12"/>
            <p:cNvCxnSpPr/>
            <p:nvPr/>
          </p:nvCxnSpPr>
          <p:spPr>
            <a:xfrm>
              <a:off x="574757" y="653125"/>
              <a:ext cx="8250942" cy="0"/>
            </a:xfrm>
            <a:prstGeom prst="line">
              <a:avLst/>
            </a:prstGeom>
            <a:ln w="12700" cap="rnd">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6488" y="142486"/>
              <a:ext cx="332509"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367416" y="142486"/>
              <a:ext cx="130866"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7" name="图片 16"/>
          <p:cNvPicPr>
            <a:picLocks noChangeAspect="1"/>
          </p:cNvPicPr>
          <p:nvPr/>
        </p:nvPicPr>
        <p:blipFill>
          <a:blip r:embed="rId3"/>
          <a:stretch>
            <a:fillRect/>
          </a:stretch>
        </p:blipFill>
        <p:spPr>
          <a:xfrm>
            <a:off x="5257800" y="1557655"/>
            <a:ext cx="6631940" cy="1679575"/>
          </a:xfrm>
          <a:prstGeom prst="rect">
            <a:avLst/>
          </a:prstGeom>
        </p:spPr>
      </p:pic>
      <p:sp>
        <p:nvSpPr>
          <p:cNvPr id="24" name="文本框 23"/>
          <p:cNvSpPr txBox="1"/>
          <p:nvPr/>
        </p:nvSpPr>
        <p:spPr>
          <a:xfrm>
            <a:off x="8814286" y="1230076"/>
            <a:ext cx="2988085" cy="460375"/>
          </a:xfrm>
          <a:prstGeom prst="rect">
            <a:avLst/>
          </a:prstGeom>
          <a:noFill/>
        </p:spPr>
        <p:txBody>
          <a:bodyPr wrap="square">
            <a:spAutoFit/>
          </a:bodyPr>
          <a:lstStyle/>
          <a:p>
            <a:pPr algn="r"/>
            <a:r>
              <a:rPr lang="en-US" altLang="zh-CN" sz="1200" dirty="0"/>
              <a:t>two-alternative forced-choice (2AFC) task</a:t>
            </a:r>
          </a:p>
          <a:p>
            <a:pPr algn="r"/>
            <a:r>
              <a:rPr lang="en-US" altLang="zh-CN" sz="1200" dirty="0"/>
              <a:t>point of subjective equality (PSE)</a:t>
            </a:r>
          </a:p>
        </p:txBody>
      </p:sp>
      <p:pic>
        <p:nvPicPr>
          <p:cNvPr id="32" name="图片 31"/>
          <p:cNvPicPr>
            <a:picLocks noChangeAspect="1"/>
          </p:cNvPicPr>
          <p:nvPr/>
        </p:nvPicPr>
        <p:blipFill>
          <a:blip r:embed="rId4"/>
          <a:stretch>
            <a:fillRect/>
          </a:stretch>
        </p:blipFill>
        <p:spPr>
          <a:xfrm>
            <a:off x="9012555" y="3830320"/>
            <a:ext cx="2304415" cy="1993900"/>
          </a:xfrm>
          <a:prstGeom prst="rect">
            <a:avLst/>
          </a:prstGeom>
        </p:spPr>
      </p:pic>
      <p:grpSp>
        <p:nvGrpSpPr>
          <p:cNvPr id="38" name="组合 37"/>
          <p:cNvGrpSpPr/>
          <p:nvPr/>
        </p:nvGrpSpPr>
        <p:grpSpPr>
          <a:xfrm>
            <a:off x="5389880" y="3881755"/>
            <a:ext cx="2473872" cy="1942465"/>
            <a:chOff x="6685457" y="4652834"/>
            <a:chExt cx="2583263" cy="2051856"/>
          </a:xfrm>
        </p:grpSpPr>
        <p:pic>
          <p:nvPicPr>
            <p:cNvPr id="27" name="图片 26"/>
            <p:cNvPicPr>
              <a:picLocks noChangeAspect="1"/>
            </p:cNvPicPr>
            <p:nvPr/>
          </p:nvPicPr>
          <p:blipFill>
            <a:blip r:embed="rId5"/>
            <a:stretch>
              <a:fillRect/>
            </a:stretch>
          </p:blipFill>
          <p:spPr>
            <a:xfrm>
              <a:off x="6685457" y="4652834"/>
              <a:ext cx="2406313" cy="2051856"/>
            </a:xfrm>
            <a:prstGeom prst="rect">
              <a:avLst/>
            </a:prstGeom>
          </p:spPr>
        </p:pic>
        <p:pic>
          <p:nvPicPr>
            <p:cNvPr id="36" name="图片 35"/>
            <p:cNvPicPr>
              <a:picLocks noChangeAspect="1"/>
            </p:cNvPicPr>
            <p:nvPr/>
          </p:nvPicPr>
          <p:blipFill>
            <a:blip r:embed="rId6"/>
            <a:stretch>
              <a:fillRect/>
            </a:stretch>
          </p:blipFill>
          <p:spPr>
            <a:xfrm>
              <a:off x="8636000" y="5851899"/>
              <a:ext cx="632720" cy="289161"/>
            </a:xfrm>
            <a:prstGeom prst="rect">
              <a:avLst/>
            </a:prstGeom>
          </p:spPr>
        </p:pic>
      </p:grpSp>
      <p:sp>
        <p:nvSpPr>
          <p:cNvPr id="8" name="文本框 7"/>
          <p:cNvSpPr txBox="1"/>
          <p:nvPr/>
        </p:nvSpPr>
        <p:spPr>
          <a:xfrm>
            <a:off x="4257040" y="3158490"/>
            <a:ext cx="4678680" cy="706755"/>
          </a:xfrm>
          <a:prstGeom prst="rect">
            <a:avLst/>
          </a:prstGeom>
          <a:noFill/>
        </p:spPr>
        <p:txBody>
          <a:bodyPr wrap="square" rtlCol="0" anchor="t">
            <a:spAutoFit/>
          </a:bodyPr>
          <a:lstStyle/>
          <a:p>
            <a:pPr algn="ctr"/>
            <a:r>
              <a:rPr lang="en-US" altLang="zh-CN" sz="2000">
                <a:latin typeface="华文楷体" panose="02010600040101010101" pitchFamily="2" charset="-122"/>
                <a:ea typeface="华文楷体" panose="02010600040101010101" pitchFamily="2" charset="-122"/>
                <a:cs typeface="Comic Sans MS" panose="030F0702030302020204" pitchFamily="66" charset="0"/>
              </a:rPr>
              <a:t>Comparative </a:t>
            </a:r>
          </a:p>
          <a:p>
            <a:pPr algn="ctr"/>
            <a:r>
              <a:rPr lang="en-US" altLang="zh-CN" sz="2000">
                <a:latin typeface="华文楷体" panose="02010600040101010101" pitchFamily="2" charset="-122"/>
                <a:ea typeface="华文楷体" panose="02010600040101010101" pitchFamily="2" charset="-122"/>
                <a:cs typeface="Comic Sans MS" panose="030F0702030302020204" pitchFamily="66" charset="0"/>
              </a:rPr>
              <a:t>(which one is more clockwise?)</a:t>
            </a:r>
          </a:p>
        </p:txBody>
      </p:sp>
      <p:sp>
        <p:nvSpPr>
          <p:cNvPr id="9" name="文本框 8"/>
          <p:cNvSpPr txBox="1"/>
          <p:nvPr/>
        </p:nvSpPr>
        <p:spPr>
          <a:xfrm>
            <a:off x="8449310" y="3145155"/>
            <a:ext cx="3550920" cy="706755"/>
          </a:xfrm>
          <a:prstGeom prst="rect">
            <a:avLst/>
          </a:prstGeom>
          <a:noFill/>
        </p:spPr>
        <p:txBody>
          <a:bodyPr wrap="square" rtlCol="0" anchor="t">
            <a:spAutoFit/>
          </a:bodyPr>
          <a:lstStyle/>
          <a:p>
            <a:pPr algn="ctr"/>
            <a:r>
              <a:rPr lang="en-US" altLang="zh-CN" sz="2000">
                <a:latin typeface="华文楷体" panose="02010600040101010101" pitchFamily="2" charset="-122"/>
                <a:ea typeface="华文楷体" panose="02010600040101010101" pitchFamily="2" charset="-122"/>
                <a:cs typeface="Comic Sans MS" panose="030F0702030302020204" pitchFamily="66" charset="0"/>
              </a:rPr>
              <a:t>Equality judgments </a:t>
            </a:r>
          </a:p>
          <a:p>
            <a:pPr algn="ctr"/>
            <a:r>
              <a:rPr lang="en-US" altLang="zh-CN" sz="2000">
                <a:latin typeface="华文楷体" panose="02010600040101010101" pitchFamily="2" charset="-122"/>
                <a:ea typeface="华文楷体" panose="02010600040101010101" pitchFamily="2" charset="-122"/>
                <a:cs typeface="Comic Sans MS" panose="030F0702030302020204" pitchFamily="66" charset="0"/>
              </a:rPr>
              <a:t>(Is their orientation the same?)</a:t>
            </a:r>
          </a:p>
        </p:txBody>
      </p:sp>
      <p:sp>
        <p:nvSpPr>
          <p:cNvPr id="12" name="文本框 11"/>
          <p:cNvSpPr txBox="1"/>
          <p:nvPr/>
        </p:nvSpPr>
        <p:spPr>
          <a:xfrm>
            <a:off x="8820150" y="5958205"/>
            <a:ext cx="3275965" cy="275590"/>
          </a:xfrm>
          <a:prstGeom prst="rect">
            <a:avLst/>
          </a:prstGeom>
          <a:noFill/>
        </p:spPr>
        <p:txBody>
          <a:bodyPr wrap="square">
            <a:spAutoFit/>
          </a:bodyPr>
          <a:lstStyle/>
          <a:p>
            <a:r>
              <a:rPr lang="es-ES" altLang="zh-CN" sz="1200" dirty="0">
                <a:latin typeface="+mj-lt"/>
              </a:rPr>
              <a:t>Fritsche</a:t>
            </a:r>
            <a:r>
              <a:rPr lang="en-US" altLang="zh-CN" sz="1200" dirty="0">
                <a:latin typeface="+mj-lt"/>
              </a:rPr>
              <a:t>,</a:t>
            </a:r>
            <a:r>
              <a:rPr lang="es-ES" altLang="zh-CN" sz="1200" dirty="0">
                <a:latin typeface="+mj-lt"/>
              </a:rPr>
              <a:t> de </a:t>
            </a:r>
            <a:r>
              <a:rPr lang="en-US" altLang="zh-CN" sz="1200" dirty="0">
                <a:latin typeface="+mj-lt"/>
              </a:rPr>
              <a:t>Lange </a:t>
            </a:r>
            <a:r>
              <a:rPr lang="en-US" altLang="zh-CN" sz="1200" i="1" dirty="0">
                <a:latin typeface="+mj-lt"/>
              </a:rPr>
              <a:t>et al.</a:t>
            </a:r>
            <a:r>
              <a:rPr lang="es-ES" altLang="zh-CN" sz="1200" dirty="0">
                <a:latin typeface="+mj-lt"/>
              </a:rPr>
              <a:t>, Current Biology</a:t>
            </a:r>
            <a:r>
              <a:rPr lang="en-US" altLang="zh-CN" sz="1200" dirty="0">
                <a:latin typeface="+mj-lt"/>
              </a:rPr>
              <a:t>, </a:t>
            </a:r>
            <a:r>
              <a:rPr lang="es-ES" altLang="zh-CN" sz="1200" dirty="0">
                <a:latin typeface="+mj-lt"/>
              </a:rPr>
              <a:t>2017</a:t>
            </a:r>
            <a:endParaRPr lang="zh-CN" altLang="en-US" sz="1200" dirty="0">
              <a:latin typeface="+mj-lt"/>
            </a:endParaRPr>
          </a:p>
        </p:txBody>
      </p:sp>
      <p:sp>
        <p:nvSpPr>
          <p:cNvPr id="18" name="文本框 17"/>
          <p:cNvSpPr txBox="1"/>
          <p:nvPr/>
        </p:nvSpPr>
        <p:spPr>
          <a:xfrm>
            <a:off x="189865" y="1325880"/>
            <a:ext cx="4898478" cy="3688080"/>
          </a:xfrm>
          <a:prstGeom prst="rect">
            <a:avLst/>
          </a:prstGeom>
          <a:noFill/>
        </p:spPr>
        <p:txBody>
          <a:bodyPr wrap="square" rtlCol="0" anchor="t">
            <a:noAutofit/>
          </a:bodyPr>
          <a:lstStyle/>
          <a:p>
            <a:pPr marL="285750" indent="-285750">
              <a:buFont typeface="Arial" panose="020B0604020202020204" pitchFamily="34" charset="0"/>
              <a:buChar char="•"/>
            </a:pPr>
            <a:r>
              <a:rPr lang="en-US" altLang="zh-CN" sz="2000" dirty="0">
                <a:ea typeface="华文楷体" panose="02010600040101010101" pitchFamily="2" charset="-122"/>
                <a:sym typeface="+mn-ea"/>
              </a:rPr>
              <a:t>As an example: An inducer stimulus might be presented at one location, and subsequently, two stimuli appear, one at the location of the inducer, the other at a neutral location. </a:t>
            </a:r>
          </a:p>
          <a:p>
            <a:pPr marL="285750" indent="-285750">
              <a:buFont typeface="Arial" panose="020B0604020202020204" pitchFamily="34" charset="0"/>
              <a:buChar char="•"/>
            </a:pPr>
            <a:r>
              <a:rPr lang="en-US" altLang="zh-CN" sz="2000" dirty="0">
                <a:ea typeface="华文楷体" panose="02010600040101010101" pitchFamily="2" charset="-122"/>
                <a:sym typeface="+mn-ea"/>
              </a:rPr>
              <a:t>Asking observers to compare a feature of the two stimuli can reveal whether the inducer has changed the perceived features of the stimulus.</a:t>
            </a:r>
          </a:p>
          <a:p>
            <a:pPr marL="285750" indent="-285750">
              <a:buFont typeface="Arial" panose="020B0604020202020204" pitchFamily="34" charset="0"/>
              <a:buChar char="•"/>
            </a:pPr>
            <a:r>
              <a:rPr lang="en-US" altLang="zh-CN" sz="2000" dirty="0">
                <a:ea typeface="华文楷体" panose="02010600040101010101" pitchFamily="2" charset="-122"/>
                <a:sym typeface="+mn-ea"/>
              </a:rPr>
              <a:t>Fritsche and colleagues (2017) found that the stimulus at the previous location caused a repulsive bias upon the perceived orientation of the subsequent Gabor, in tasks where forced choices involved both comparative and equality judgments.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49794" y="127702"/>
            <a:ext cx="12142206" cy="695800"/>
            <a:chOff x="-6488" y="82105"/>
            <a:chExt cx="8832187" cy="571020"/>
          </a:xfrm>
        </p:grpSpPr>
        <p:sp>
          <p:nvSpPr>
            <p:cNvPr id="11" name="矩形 10"/>
            <p:cNvSpPr/>
            <p:nvPr/>
          </p:nvSpPr>
          <p:spPr>
            <a:xfrm>
              <a:off x="651757" y="82105"/>
              <a:ext cx="6840683" cy="529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l"/>
              <a:r>
                <a:rPr kumimoji="1" lang="en-US" altLang="zh-CN" sz="3600" b="1" dirty="0">
                  <a:solidFill>
                    <a:srgbClr val="C00000"/>
                  </a:solidFill>
                  <a:latin typeface="华文楷体" panose="02010600040101010101" pitchFamily="2" charset="-122"/>
                  <a:ea typeface="华文楷体" panose="02010600040101010101" pitchFamily="2" charset="-122"/>
                </a:rPr>
                <a:t>Serial dependence paradigms: Postcueing paradigms</a:t>
              </a:r>
            </a:p>
          </p:txBody>
        </p:sp>
        <p:cxnSp>
          <p:nvCxnSpPr>
            <p:cNvPr id="13" name="直接连接符 12"/>
            <p:cNvCxnSpPr/>
            <p:nvPr/>
          </p:nvCxnSpPr>
          <p:spPr>
            <a:xfrm>
              <a:off x="574757" y="653125"/>
              <a:ext cx="8250942" cy="0"/>
            </a:xfrm>
            <a:prstGeom prst="line">
              <a:avLst/>
            </a:prstGeom>
            <a:ln w="12700" cap="rnd">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6488" y="142486"/>
              <a:ext cx="332509"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367416" y="142486"/>
              <a:ext cx="130866"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 name="图片 1"/>
          <p:cNvPicPr>
            <a:picLocks noChangeAspect="1"/>
          </p:cNvPicPr>
          <p:nvPr/>
        </p:nvPicPr>
        <p:blipFill>
          <a:blip r:embed="rId3"/>
          <a:stretch>
            <a:fillRect/>
          </a:stretch>
        </p:blipFill>
        <p:spPr>
          <a:xfrm>
            <a:off x="4388485" y="3413125"/>
            <a:ext cx="7404100" cy="2271395"/>
          </a:xfrm>
          <a:prstGeom prst="rect">
            <a:avLst/>
          </a:prstGeom>
        </p:spPr>
      </p:pic>
      <p:sp>
        <p:nvSpPr>
          <p:cNvPr id="12" name="文本框 11"/>
          <p:cNvSpPr txBox="1"/>
          <p:nvPr/>
        </p:nvSpPr>
        <p:spPr>
          <a:xfrm>
            <a:off x="4262120" y="5675630"/>
            <a:ext cx="7853045" cy="583565"/>
          </a:xfrm>
          <a:prstGeom prst="rect">
            <a:avLst/>
          </a:prstGeom>
          <a:noFill/>
        </p:spPr>
        <p:txBody>
          <a:bodyPr wrap="square" rtlCol="0" anchor="t">
            <a:spAutoFit/>
          </a:bodyPr>
          <a:lstStyle/>
          <a:p>
            <a:r>
              <a:rPr lang="en-US" altLang="zh-CN" sz="1600"/>
              <a:t>serial dependence across trials: the influence of the previous S2 on the current S1</a:t>
            </a:r>
          </a:p>
          <a:p>
            <a:r>
              <a:rPr lang="en-US" altLang="zh-CN" sz="1600"/>
              <a:t>serial dependence within a trial: the influence of the current S1 on the current S2</a:t>
            </a:r>
          </a:p>
        </p:txBody>
      </p:sp>
      <p:sp>
        <p:nvSpPr>
          <p:cNvPr id="3" name="文本框 2"/>
          <p:cNvSpPr txBox="1"/>
          <p:nvPr/>
        </p:nvSpPr>
        <p:spPr>
          <a:xfrm>
            <a:off x="4333875" y="6252210"/>
            <a:ext cx="5309235" cy="306705"/>
          </a:xfrm>
          <a:prstGeom prst="rect">
            <a:avLst/>
          </a:prstGeom>
          <a:noFill/>
        </p:spPr>
        <p:txBody>
          <a:bodyPr wrap="square">
            <a:spAutoFit/>
          </a:bodyPr>
          <a:lstStyle/>
          <a:p>
            <a:r>
              <a:rPr lang="en-US" altLang="zh-CN" sz="1400" dirty="0">
                <a:latin typeface="+mj-lt"/>
              </a:rPr>
              <a:t>Czoschke</a:t>
            </a:r>
            <a:r>
              <a:rPr lang="en-US" sz="1400" dirty="0">
                <a:latin typeface="+mj-lt"/>
              </a:rPr>
              <a:t>, </a:t>
            </a:r>
            <a:r>
              <a:rPr lang="en-US" altLang="zh-CN" sz="1400" dirty="0">
                <a:latin typeface="+mj-lt"/>
              </a:rPr>
              <a:t>Bledowski </a:t>
            </a:r>
            <a:r>
              <a:rPr lang="en-US" altLang="zh-CN" sz="1400" i="1" dirty="0">
                <a:latin typeface="+mj-lt"/>
              </a:rPr>
              <a:t>et al.</a:t>
            </a:r>
            <a:r>
              <a:rPr lang="es-ES" altLang="zh-CN" sz="1400" dirty="0">
                <a:latin typeface="+mj-lt"/>
              </a:rPr>
              <a:t>, </a:t>
            </a:r>
            <a:r>
              <a:rPr lang="en-US" altLang="zh-CN" sz="1400" dirty="0">
                <a:latin typeface="+mj-lt"/>
              </a:rPr>
              <a:t>British Journal of Psychology</a:t>
            </a:r>
            <a:r>
              <a:rPr lang="en-US" altLang="es-ES" sz="1400" dirty="0">
                <a:latin typeface="+mj-lt"/>
              </a:rPr>
              <a:t>, </a:t>
            </a:r>
            <a:r>
              <a:rPr lang="es-ES" altLang="zh-CN" sz="1400" dirty="0">
                <a:latin typeface="+mj-lt"/>
              </a:rPr>
              <a:t>20</a:t>
            </a:r>
            <a:r>
              <a:rPr lang="en-US" sz="1400" dirty="0">
                <a:latin typeface="+mj-lt"/>
              </a:rPr>
              <a:t>18</a:t>
            </a:r>
          </a:p>
        </p:txBody>
      </p:sp>
      <p:pic>
        <p:nvPicPr>
          <p:cNvPr id="4" name="图片 3"/>
          <p:cNvPicPr>
            <a:picLocks noChangeAspect="1"/>
          </p:cNvPicPr>
          <p:nvPr/>
        </p:nvPicPr>
        <p:blipFill>
          <a:blip r:embed="rId4"/>
          <a:srcRect l="66616"/>
          <a:stretch>
            <a:fillRect/>
          </a:stretch>
        </p:blipFill>
        <p:spPr>
          <a:xfrm>
            <a:off x="202565" y="1229360"/>
            <a:ext cx="3620135" cy="5126990"/>
          </a:xfrm>
          <a:prstGeom prst="rect">
            <a:avLst/>
          </a:prstGeom>
        </p:spPr>
      </p:pic>
      <p:sp>
        <p:nvSpPr>
          <p:cNvPr id="7" name="文本框 6"/>
          <p:cNvSpPr txBox="1"/>
          <p:nvPr/>
        </p:nvSpPr>
        <p:spPr>
          <a:xfrm>
            <a:off x="8703310" y="3208655"/>
            <a:ext cx="3488690" cy="337185"/>
          </a:xfrm>
          <a:prstGeom prst="rect">
            <a:avLst/>
          </a:prstGeom>
        </p:spPr>
        <p:txBody>
          <a:bodyPr wrap="square">
            <a:spAutoFit/>
          </a:bodyPr>
          <a:lstStyle/>
          <a:p>
            <a:r>
              <a:rPr lang="en-US" altLang="zh-CN" sz="1600"/>
              <a:t>within repulsive; between attractive</a:t>
            </a:r>
          </a:p>
        </p:txBody>
      </p:sp>
      <p:sp>
        <p:nvSpPr>
          <p:cNvPr id="5" name="文本框 4"/>
          <p:cNvSpPr txBox="1"/>
          <p:nvPr/>
        </p:nvSpPr>
        <p:spPr>
          <a:xfrm>
            <a:off x="4274820" y="901700"/>
            <a:ext cx="7840345" cy="2553335"/>
          </a:xfrm>
          <a:prstGeom prst="rect">
            <a:avLst/>
          </a:prstGeom>
          <a:noFill/>
        </p:spPr>
        <p:txBody>
          <a:bodyPr wrap="square" rtlCol="0" anchor="t">
            <a:spAutoFit/>
          </a:bodyPr>
          <a:lstStyle/>
          <a:p>
            <a:pPr marL="285750" indent="-285750">
              <a:buFont typeface="Arial" panose="020B0604020202020204" pitchFamily="34" charset="0"/>
              <a:buChar char="•"/>
            </a:pPr>
            <a:r>
              <a:rPr lang="en-US" altLang="zh-CN" sz="2000">
                <a:latin typeface="华文楷体" panose="02010600040101010101" pitchFamily="2" charset="-122"/>
                <a:ea typeface="华文楷体" panose="02010600040101010101" pitchFamily="2" charset="-122"/>
              </a:rPr>
              <a:t>In a study by Czoschke and colleagues (2019), participants memorized two consecutively presented clouds of drifting dots and were subsequently cued to report the drift direction of the first or second cloud. </a:t>
            </a:r>
          </a:p>
          <a:p>
            <a:pPr marL="285750" indent="-285750">
              <a:buFont typeface="Arial" panose="020B0604020202020204" pitchFamily="34" charset="0"/>
              <a:buChar char="•"/>
            </a:pPr>
            <a:r>
              <a:rPr lang="en-US" altLang="zh-CN" sz="2000">
                <a:latin typeface="华文楷体" panose="02010600040101010101" pitchFamily="2" charset="-122"/>
                <a:ea typeface="华文楷体" panose="02010600040101010101" pitchFamily="2" charset="-122"/>
              </a:rPr>
              <a:t>The biases were repulsive from the drift direction memorized within trials but attractive from those memorized on preceding trials. This argued for positive serial dependence across trials and repulsive serial dependence within trials, compatible with repulsive interference between simultaneous working memory representations.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3" grpId="0"/>
      <p:bldP spid="7" grpId="0"/>
      <p:bldP spid="5" grpId="0"/>
      <p:bldP spid="5" grpId="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2CAF7-771C-113C-3BEF-C5372176AB10}"/>
            </a:ext>
          </a:extLst>
        </p:cNvPr>
        <p:cNvGrpSpPr/>
        <p:nvPr/>
      </p:nvGrpSpPr>
      <p:grpSpPr>
        <a:xfrm>
          <a:off x="0" y="0"/>
          <a:ext cx="0" cy="0"/>
          <a:chOff x="0" y="0"/>
          <a:chExt cx="0" cy="0"/>
        </a:xfrm>
      </p:grpSpPr>
      <p:grpSp>
        <p:nvGrpSpPr>
          <p:cNvPr id="10" name="组合 9">
            <a:extLst>
              <a:ext uri="{FF2B5EF4-FFF2-40B4-BE49-F238E27FC236}">
                <a16:creationId xmlns:a16="http://schemas.microsoft.com/office/drawing/2014/main" id="{37BE1CF3-E491-D342-FE4F-61F062A8BC59}"/>
              </a:ext>
            </a:extLst>
          </p:cNvPr>
          <p:cNvGrpSpPr/>
          <p:nvPr/>
        </p:nvGrpSpPr>
        <p:grpSpPr>
          <a:xfrm>
            <a:off x="49794" y="96334"/>
            <a:ext cx="12142207" cy="727169"/>
            <a:chOff x="-6488" y="56362"/>
            <a:chExt cx="8832187" cy="596763"/>
          </a:xfrm>
        </p:grpSpPr>
        <p:sp>
          <p:nvSpPr>
            <p:cNvPr id="11" name="矩形 10">
              <a:extLst>
                <a:ext uri="{FF2B5EF4-FFF2-40B4-BE49-F238E27FC236}">
                  <a16:creationId xmlns:a16="http://schemas.microsoft.com/office/drawing/2014/main" id="{47FB1B8E-D2D8-D45B-E8AA-26953EB5D39D}"/>
                </a:ext>
              </a:extLst>
            </p:cNvPr>
            <p:cNvSpPr/>
            <p:nvPr/>
          </p:nvSpPr>
          <p:spPr>
            <a:xfrm>
              <a:off x="651757" y="56362"/>
              <a:ext cx="2142207" cy="5809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r>
                <a:rPr lang="en-US" altLang="zh-CN" sz="4000" b="1" dirty="0">
                  <a:solidFill>
                    <a:srgbClr val="C00000"/>
                  </a:solidFill>
                  <a:latin typeface="华文楷体" panose="02010600040101010101" pitchFamily="2" charset="-122"/>
                  <a:ea typeface="华文楷体" panose="02010600040101010101" pitchFamily="2" charset="-122"/>
                </a:rPr>
                <a:t>Further Study</a:t>
              </a:r>
            </a:p>
          </p:txBody>
        </p:sp>
        <p:cxnSp>
          <p:nvCxnSpPr>
            <p:cNvPr id="13" name="直接连接符 12">
              <a:extLst>
                <a:ext uri="{FF2B5EF4-FFF2-40B4-BE49-F238E27FC236}">
                  <a16:creationId xmlns:a16="http://schemas.microsoft.com/office/drawing/2014/main" id="{353F0EFF-EBE2-795A-A3AF-E0164A422BA5}"/>
                </a:ext>
              </a:extLst>
            </p:cNvPr>
            <p:cNvCxnSpPr>
              <a:cxnSpLocks/>
            </p:cNvCxnSpPr>
            <p:nvPr/>
          </p:nvCxnSpPr>
          <p:spPr>
            <a:xfrm>
              <a:off x="574757" y="653125"/>
              <a:ext cx="8250942" cy="0"/>
            </a:xfrm>
            <a:prstGeom prst="line">
              <a:avLst/>
            </a:prstGeom>
            <a:ln w="12700" cap="rnd">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BF7895B8-9DE1-EFAF-462A-6DE393C9D709}"/>
                </a:ext>
              </a:extLst>
            </p:cNvPr>
            <p:cNvSpPr/>
            <p:nvPr/>
          </p:nvSpPr>
          <p:spPr>
            <a:xfrm>
              <a:off x="-6488" y="142486"/>
              <a:ext cx="332509"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5C4292BA-3674-4311-3469-2E74D04FE9B5}"/>
                </a:ext>
              </a:extLst>
            </p:cNvPr>
            <p:cNvSpPr/>
            <p:nvPr/>
          </p:nvSpPr>
          <p:spPr>
            <a:xfrm>
              <a:off x="367416" y="142486"/>
              <a:ext cx="130866"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文本框 1">
            <a:extLst>
              <a:ext uri="{FF2B5EF4-FFF2-40B4-BE49-F238E27FC236}">
                <a16:creationId xmlns:a16="http://schemas.microsoft.com/office/drawing/2014/main" id="{7812C3C2-1EA5-6B9F-E910-64F4570161EC}"/>
              </a:ext>
            </a:extLst>
          </p:cNvPr>
          <p:cNvSpPr txBox="1"/>
          <p:nvPr/>
        </p:nvSpPr>
        <p:spPr>
          <a:xfrm>
            <a:off x="506917" y="971384"/>
            <a:ext cx="11100122" cy="3693319"/>
          </a:xfrm>
          <a:prstGeom prst="rect">
            <a:avLst/>
          </a:prstGeom>
          <a:noFill/>
        </p:spPr>
        <p:txBody>
          <a:bodyPr wrap="square" rtlCol="0">
            <a:spAutoFit/>
          </a:bodyPr>
          <a:lstStyle/>
          <a:p>
            <a:r>
              <a:rPr lang="en-US" altLang="zh-CN" sz="2400" b="1" dirty="0">
                <a:ea typeface="Kaiti TC" panose="02010600040101010101" pitchFamily="2" charset="-120"/>
              </a:rPr>
              <a:t>Motivation:</a:t>
            </a:r>
            <a:r>
              <a:rPr lang="zh-CN" altLang="en-US" sz="2400" b="1" dirty="0"/>
              <a:t> </a:t>
            </a:r>
            <a:r>
              <a:rPr lang="en-US" altLang="zh-CN" sz="2400" dirty="0">
                <a:ea typeface="Kaiti TC" panose="02010600040101010101" pitchFamily="2" charset="-120"/>
              </a:rPr>
              <a:t>to</a:t>
            </a:r>
            <a:r>
              <a:rPr lang="zh-CN" altLang="en-US" sz="2400" dirty="0"/>
              <a:t> </a:t>
            </a:r>
            <a:r>
              <a:rPr lang="en-US" altLang="zh-CN" sz="2400" dirty="0">
                <a:ea typeface="Kaiti TC" panose="02010600040101010101" pitchFamily="2" charset="-120"/>
              </a:rPr>
              <a:t>study</a:t>
            </a:r>
            <a:r>
              <a:rPr lang="zh-CN" altLang="en-US" sz="2400" dirty="0"/>
              <a:t> </a:t>
            </a:r>
            <a:r>
              <a:rPr lang="en-US" altLang="zh-CN" sz="2400" dirty="0">
                <a:ea typeface="Kaiti TC" panose="02010600040101010101" pitchFamily="2" charset="-120"/>
              </a:rPr>
              <a:t>serial</a:t>
            </a:r>
            <a:r>
              <a:rPr lang="zh-CN" altLang="en-US" sz="2400" dirty="0"/>
              <a:t> </a:t>
            </a:r>
            <a:r>
              <a:rPr lang="en-US" altLang="zh-CN" sz="2400" dirty="0">
                <a:ea typeface="Kaiti TC" panose="02010600040101010101" pitchFamily="2" charset="-120"/>
              </a:rPr>
              <a:t>dependence</a:t>
            </a:r>
            <a:r>
              <a:rPr lang="zh-CN" altLang="en-US" sz="2400" dirty="0"/>
              <a:t> </a:t>
            </a:r>
            <a:r>
              <a:rPr lang="en-US" altLang="zh-CN" sz="2400" dirty="0">
                <a:ea typeface="Kaiti TC" panose="02010600040101010101" pitchFamily="2" charset="-120"/>
              </a:rPr>
              <a:t>on</a:t>
            </a:r>
            <a:r>
              <a:rPr lang="zh-CN" altLang="en-US" sz="2400" dirty="0"/>
              <a:t> </a:t>
            </a:r>
            <a:r>
              <a:rPr lang="en-US" altLang="zh-CN" sz="2400" dirty="0">
                <a:ea typeface="Kaiti TC" panose="02010600040101010101" pitchFamily="2" charset="-120"/>
              </a:rPr>
              <a:t>LLMs</a:t>
            </a:r>
          </a:p>
          <a:p>
            <a:endParaRPr lang="en-US" altLang="zh-CN" sz="2400" dirty="0">
              <a:ea typeface="Kaiti TC" panose="02010600040101010101" pitchFamily="2" charset="-120"/>
            </a:endParaRPr>
          </a:p>
          <a:p>
            <a:r>
              <a:rPr lang="en-US" altLang="zh-CN" sz="2400" b="1" dirty="0">
                <a:ea typeface="Kaiti TC" panose="02010600040101010101" pitchFamily="2" charset="-120"/>
              </a:rPr>
              <a:t>Key idea: </a:t>
            </a:r>
            <a:r>
              <a:rPr lang="en-US" altLang="zh-CN" sz="2400" dirty="0">
                <a:ea typeface="Kaiti TC" panose="02010600040101010101" pitchFamily="2" charset="-120"/>
              </a:rPr>
              <a:t>human ratings of words along certain semantic dimensions such as concreteness, valence, and arousal can be well predicted from the linear regression of semantic vectors, suggesting that these ratings can serve as one-dimensional, behaviorally meaningful projections of semantic space. </a:t>
            </a:r>
            <a:r>
              <a:rPr lang="en-US" altLang="zh-CN" dirty="0">
                <a:ea typeface="Kaiti TC" panose="02010600040101010101" pitchFamily="2" charset="-120"/>
              </a:rPr>
              <a:t>(</a:t>
            </a:r>
            <a:r>
              <a:rPr lang="zh-CN" altLang="zh-CN" i="1" dirty="0"/>
              <a:t>Using large language models to estimate features of multi-word expressions: Concreteness, valence, arousal. Behavior Research Methods</a:t>
            </a:r>
            <a:r>
              <a:rPr lang="en-US" altLang="zh-CN" dirty="0">
                <a:ea typeface="Kaiti TC" panose="02010600040101010101" pitchFamily="2" charset="-120"/>
              </a:rPr>
              <a:t>)</a:t>
            </a:r>
            <a:endParaRPr lang="en-US" altLang="zh-CN" sz="2400" dirty="0">
              <a:ea typeface="Kaiti TC" panose="02010600040101010101" pitchFamily="2" charset="-120"/>
            </a:endParaRPr>
          </a:p>
          <a:p>
            <a:endParaRPr lang="en-US" altLang="zh-CN" sz="2400" dirty="0">
              <a:ea typeface="Kaiti TC" panose="02010600040101010101" pitchFamily="2" charset="-120"/>
            </a:endParaRPr>
          </a:p>
          <a:p>
            <a:r>
              <a:rPr lang="en-US" altLang="zh-CN" sz="2400" b="1" dirty="0">
                <a:ea typeface="Kaiti TC" panose="02010600040101010101" pitchFamily="2" charset="-120"/>
              </a:rPr>
              <a:t>Task: </a:t>
            </a:r>
            <a:r>
              <a:rPr lang="en-US" altLang="zh-CN" sz="2400" dirty="0">
                <a:ea typeface="Kaiti TC" panose="02010600040101010101" pitchFamily="2" charset="-120"/>
              </a:rPr>
              <a:t>The model rated each word on a scalar semantic dimension, such as concreteness or valence, across a sequential stream of trials. </a:t>
            </a:r>
          </a:p>
        </p:txBody>
      </p:sp>
      <p:pic>
        <p:nvPicPr>
          <p:cNvPr id="6" name="图片 5">
            <a:extLst>
              <a:ext uri="{FF2B5EF4-FFF2-40B4-BE49-F238E27FC236}">
                <a16:creationId xmlns:a16="http://schemas.microsoft.com/office/drawing/2014/main" id="{540F6ADF-3B27-8C8B-A823-9A31BA520881}"/>
              </a:ext>
            </a:extLst>
          </p:cNvPr>
          <p:cNvPicPr>
            <a:picLocks noChangeAspect="1"/>
          </p:cNvPicPr>
          <p:nvPr/>
        </p:nvPicPr>
        <p:blipFill>
          <a:blip r:embed="rId3"/>
          <a:stretch>
            <a:fillRect/>
          </a:stretch>
        </p:blipFill>
        <p:spPr>
          <a:xfrm>
            <a:off x="2713760" y="4904123"/>
            <a:ext cx="8408245" cy="1289608"/>
          </a:xfrm>
          <a:prstGeom prst="rect">
            <a:avLst/>
          </a:prstGeom>
        </p:spPr>
      </p:pic>
      <p:sp>
        <p:nvSpPr>
          <p:cNvPr id="8" name="文本框 7">
            <a:extLst>
              <a:ext uri="{FF2B5EF4-FFF2-40B4-BE49-F238E27FC236}">
                <a16:creationId xmlns:a16="http://schemas.microsoft.com/office/drawing/2014/main" id="{EEA989EC-F174-C0A1-8209-A14575177D9A}"/>
              </a:ext>
            </a:extLst>
          </p:cNvPr>
          <p:cNvSpPr txBox="1"/>
          <p:nvPr/>
        </p:nvSpPr>
        <p:spPr>
          <a:xfrm>
            <a:off x="563825" y="4812583"/>
            <a:ext cx="2149935" cy="461665"/>
          </a:xfrm>
          <a:prstGeom prst="rect">
            <a:avLst/>
          </a:prstGeom>
          <a:noFill/>
        </p:spPr>
        <p:txBody>
          <a:bodyPr wrap="square">
            <a:spAutoFit/>
          </a:bodyPr>
          <a:lstStyle/>
          <a:p>
            <a:r>
              <a:rPr lang="en-US" altLang="zh-CN" sz="2400" dirty="0">
                <a:ea typeface="Kaiti TC" panose="02010600040101010101" pitchFamily="2" charset="-120"/>
              </a:rPr>
              <a:t>For example: </a:t>
            </a:r>
          </a:p>
        </p:txBody>
      </p:sp>
    </p:spTree>
    <p:extLst>
      <p:ext uri="{BB962C8B-B14F-4D97-AF65-F5344CB8AC3E}">
        <p14:creationId xmlns:p14="http://schemas.microsoft.com/office/powerpoint/2010/main" val="12684760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5DC69-7AE8-A53B-4577-E60C17228AD3}"/>
            </a:ext>
          </a:extLst>
        </p:cNvPr>
        <p:cNvGrpSpPr/>
        <p:nvPr/>
      </p:nvGrpSpPr>
      <p:grpSpPr>
        <a:xfrm>
          <a:off x="0" y="0"/>
          <a:ext cx="0" cy="0"/>
          <a:chOff x="0" y="0"/>
          <a:chExt cx="0" cy="0"/>
        </a:xfrm>
      </p:grpSpPr>
      <p:grpSp>
        <p:nvGrpSpPr>
          <p:cNvPr id="10" name="组合 9">
            <a:extLst>
              <a:ext uri="{FF2B5EF4-FFF2-40B4-BE49-F238E27FC236}">
                <a16:creationId xmlns:a16="http://schemas.microsoft.com/office/drawing/2014/main" id="{F2C80D4D-588C-4372-AEC3-6CB509F22863}"/>
              </a:ext>
            </a:extLst>
          </p:cNvPr>
          <p:cNvGrpSpPr/>
          <p:nvPr/>
        </p:nvGrpSpPr>
        <p:grpSpPr>
          <a:xfrm>
            <a:off x="49794" y="96334"/>
            <a:ext cx="12142207" cy="727169"/>
            <a:chOff x="-6488" y="56362"/>
            <a:chExt cx="8832187" cy="596763"/>
          </a:xfrm>
        </p:grpSpPr>
        <p:sp>
          <p:nvSpPr>
            <p:cNvPr id="11" name="矩形 10">
              <a:extLst>
                <a:ext uri="{FF2B5EF4-FFF2-40B4-BE49-F238E27FC236}">
                  <a16:creationId xmlns:a16="http://schemas.microsoft.com/office/drawing/2014/main" id="{FB738670-2BEA-372E-FDD5-46AFB3D74D00}"/>
                </a:ext>
              </a:extLst>
            </p:cNvPr>
            <p:cNvSpPr/>
            <p:nvPr/>
          </p:nvSpPr>
          <p:spPr>
            <a:xfrm>
              <a:off x="651757" y="56362"/>
              <a:ext cx="2142207" cy="5809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r>
                <a:rPr lang="en-US" altLang="zh-CN" sz="4000" b="1" dirty="0">
                  <a:solidFill>
                    <a:srgbClr val="C00000"/>
                  </a:solidFill>
                  <a:latin typeface="华文楷体" panose="02010600040101010101" pitchFamily="2" charset="-122"/>
                  <a:ea typeface="华文楷体" panose="02010600040101010101" pitchFamily="2" charset="-122"/>
                </a:rPr>
                <a:t>Further Study</a:t>
              </a:r>
            </a:p>
          </p:txBody>
        </p:sp>
        <p:cxnSp>
          <p:nvCxnSpPr>
            <p:cNvPr id="13" name="直接连接符 12">
              <a:extLst>
                <a:ext uri="{FF2B5EF4-FFF2-40B4-BE49-F238E27FC236}">
                  <a16:creationId xmlns:a16="http://schemas.microsoft.com/office/drawing/2014/main" id="{68E076B8-2AB0-E7C8-1CEF-E3EE00A970FA}"/>
                </a:ext>
              </a:extLst>
            </p:cNvPr>
            <p:cNvCxnSpPr>
              <a:cxnSpLocks/>
            </p:cNvCxnSpPr>
            <p:nvPr/>
          </p:nvCxnSpPr>
          <p:spPr>
            <a:xfrm>
              <a:off x="574757" y="653125"/>
              <a:ext cx="8250942" cy="0"/>
            </a:xfrm>
            <a:prstGeom prst="line">
              <a:avLst/>
            </a:prstGeom>
            <a:ln w="12700" cap="rnd">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320DE19B-BC16-6DAB-5016-C6F89F34675D}"/>
                </a:ext>
              </a:extLst>
            </p:cNvPr>
            <p:cNvSpPr/>
            <p:nvPr/>
          </p:nvSpPr>
          <p:spPr>
            <a:xfrm>
              <a:off x="-6488" y="142486"/>
              <a:ext cx="332509"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750081D2-BA16-FED5-6D87-CE6E1C63135F}"/>
                </a:ext>
              </a:extLst>
            </p:cNvPr>
            <p:cNvSpPr/>
            <p:nvPr/>
          </p:nvSpPr>
          <p:spPr>
            <a:xfrm>
              <a:off x="367416" y="142486"/>
              <a:ext cx="130866"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文本框 3">
            <a:extLst>
              <a:ext uri="{FF2B5EF4-FFF2-40B4-BE49-F238E27FC236}">
                <a16:creationId xmlns:a16="http://schemas.microsoft.com/office/drawing/2014/main" id="{04E6C699-2E7B-051E-72F8-DA1FC634A97B}"/>
              </a:ext>
            </a:extLst>
          </p:cNvPr>
          <p:cNvSpPr txBox="1"/>
          <p:nvPr/>
        </p:nvSpPr>
        <p:spPr>
          <a:xfrm>
            <a:off x="506917" y="951705"/>
            <a:ext cx="7132374" cy="5262979"/>
          </a:xfrm>
          <a:prstGeom prst="rect">
            <a:avLst/>
          </a:prstGeom>
          <a:noFill/>
        </p:spPr>
        <p:txBody>
          <a:bodyPr wrap="square">
            <a:spAutoFit/>
          </a:bodyPr>
          <a:lstStyle/>
          <a:p>
            <a:r>
              <a:rPr lang="en-US" altLang="zh-CN" sz="2400" b="1" dirty="0">
                <a:ea typeface="Kaiti TC" panose="02010600040101010101" pitchFamily="2" charset="-120"/>
              </a:rPr>
              <a:t>Stimulus value: </a:t>
            </a:r>
            <a:r>
              <a:rPr lang="en-US" altLang="zh-CN" sz="2400" dirty="0">
                <a:ea typeface="Kaiti TC" panose="02010600040101010101" pitchFamily="2" charset="-120"/>
              </a:rPr>
              <a:t>we use </a:t>
            </a:r>
          </a:p>
          <a:p>
            <a:r>
              <a:rPr lang="en-US" altLang="zh-CN" sz="2400" dirty="0">
                <a:ea typeface="Kaiti TC" panose="02010600040101010101" pitchFamily="2" charset="-120"/>
              </a:rPr>
              <a:t>1. Human ratings on the same task (printed human norm data) </a:t>
            </a:r>
          </a:p>
          <a:p>
            <a:r>
              <a:rPr lang="en-US" altLang="zh-CN" sz="2400" dirty="0">
                <a:ea typeface="Kaiti TC" panose="02010600040101010101" pitchFamily="2" charset="-120"/>
              </a:rPr>
              <a:t>2. LLMs’ average rating without conversation history</a:t>
            </a:r>
          </a:p>
          <a:p>
            <a:r>
              <a:rPr lang="en-US" altLang="zh-CN" sz="2400" dirty="0">
                <a:ea typeface="Kaiti TC" panose="02010600040101010101" pitchFamily="2" charset="-120"/>
              </a:rPr>
              <a:t>as the stimulus value of each words</a:t>
            </a:r>
          </a:p>
          <a:p>
            <a:endParaRPr lang="en-US" altLang="zh-CN" sz="2400" b="1" dirty="0">
              <a:ea typeface="Kaiti TC" panose="02010600040101010101" pitchFamily="2" charset="-120"/>
            </a:endParaRPr>
          </a:p>
          <a:p>
            <a:r>
              <a:rPr lang="en-US" altLang="zh-CN" sz="2400" b="1" dirty="0"/>
              <a:t>Analysis: </a:t>
            </a:r>
            <a:r>
              <a:rPr lang="en-US" altLang="zh-CN" sz="2400" dirty="0"/>
              <a:t>first removed stimulus-specific bias, and then analyzed the residual response as a function of the difference between the previous and current stimulus values.</a:t>
            </a:r>
          </a:p>
          <a:p>
            <a:endParaRPr lang="en-US" altLang="zh-CN" sz="2400" dirty="0"/>
          </a:p>
          <a:p>
            <a:r>
              <a:rPr lang="en-US" altLang="zh-CN" sz="2400" b="1" dirty="0"/>
              <a:t>Result: </a:t>
            </a:r>
            <a:r>
              <a:rPr lang="en-US" altLang="zh-CN" sz="2400" dirty="0"/>
              <a:t>did not find a robust canonical serial-dependence effect in this cleaner one-dimensional setting.</a:t>
            </a:r>
          </a:p>
        </p:txBody>
      </p:sp>
      <p:pic>
        <p:nvPicPr>
          <p:cNvPr id="8" name="Picture 118">
            <a:extLst>
              <a:ext uri="{FF2B5EF4-FFF2-40B4-BE49-F238E27FC236}">
                <a16:creationId xmlns:a16="http://schemas.microsoft.com/office/drawing/2014/main" id="{6695E537-8A70-ABD3-07D4-4E987F74C8F4}"/>
              </a:ext>
            </a:extLst>
          </p:cNvPr>
          <p:cNvPicPr>
            <a:picLocks noChangeAspect="1"/>
          </p:cNvPicPr>
          <p:nvPr/>
        </p:nvPicPr>
        <p:blipFill>
          <a:blip r:embed="rId3"/>
          <a:stretch>
            <a:fillRect/>
          </a:stretch>
        </p:blipFill>
        <p:spPr>
          <a:xfrm>
            <a:off x="7870785" y="895621"/>
            <a:ext cx="3555614" cy="2844491"/>
          </a:xfrm>
          <a:prstGeom prst="rect">
            <a:avLst/>
          </a:prstGeom>
        </p:spPr>
      </p:pic>
      <p:pic>
        <p:nvPicPr>
          <p:cNvPr id="12" name="Picture 120">
            <a:extLst>
              <a:ext uri="{FF2B5EF4-FFF2-40B4-BE49-F238E27FC236}">
                <a16:creationId xmlns:a16="http://schemas.microsoft.com/office/drawing/2014/main" id="{8E7104B6-0E8E-26FF-1326-A5C4B3AFAE72}"/>
              </a:ext>
            </a:extLst>
          </p:cNvPr>
          <p:cNvPicPr>
            <a:picLocks noChangeAspect="1"/>
          </p:cNvPicPr>
          <p:nvPr/>
        </p:nvPicPr>
        <p:blipFill>
          <a:blip r:embed="rId4"/>
          <a:stretch>
            <a:fillRect/>
          </a:stretch>
        </p:blipFill>
        <p:spPr>
          <a:xfrm>
            <a:off x="7870784" y="3740112"/>
            <a:ext cx="3555615" cy="2844492"/>
          </a:xfrm>
          <a:prstGeom prst="rect">
            <a:avLst/>
          </a:prstGeom>
        </p:spPr>
      </p:pic>
    </p:spTree>
    <p:extLst>
      <p:ext uri="{BB962C8B-B14F-4D97-AF65-F5344CB8AC3E}">
        <p14:creationId xmlns:p14="http://schemas.microsoft.com/office/powerpoint/2010/main" val="36198413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827E2-4F3B-A522-309C-DE7874831474}"/>
            </a:ext>
          </a:extLst>
        </p:cNvPr>
        <p:cNvGrpSpPr/>
        <p:nvPr/>
      </p:nvGrpSpPr>
      <p:grpSpPr>
        <a:xfrm>
          <a:off x="0" y="0"/>
          <a:ext cx="0" cy="0"/>
          <a:chOff x="0" y="0"/>
          <a:chExt cx="0" cy="0"/>
        </a:xfrm>
      </p:grpSpPr>
      <p:grpSp>
        <p:nvGrpSpPr>
          <p:cNvPr id="10" name="组合 9">
            <a:extLst>
              <a:ext uri="{FF2B5EF4-FFF2-40B4-BE49-F238E27FC236}">
                <a16:creationId xmlns:a16="http://schemas.microsoft.com/office/drawing/2014/main" id="{7BFC99C8-AAB3-DF42-A6B9-E7CA12B75185}"/>
              </a:ext>
            </a:extLst>
          </p:cNvPr>
          <p:cNvGrpSpPr/>
          <p:nvPr/>
        </p:nvGrpSpPr>
        <p:grpSpPr>
          <a:xfrm>
            <a:off x="49794" y="96334"/>
            <a:ext cx="12142207" cy="727169"/>
            <a:chOff x="-6488" y="56362"/>
            <a:chExt cx="8832187" cy="596763"/>
          </a:xfrm>
        </p:grpSpPr>
        <p:sp>
          <p:nvSpPr>
            <p:cNvPr id="11" name="矩形 10">
              <a:extLst>
                <a:ext uri="{FF2B5EF4-FFF2-40B4-BE49-F238E27FC236}">
                  <a16:creationId xmlns:a16="http://schemas.microsoft.com/office/drawing/2014/main" id="{5D8DEFDB-A080-144B-6B8B-7A46FF2A5602}"/>
                </a:ext>
              </a:extLst>
            </p:cNvPr>
            <p:cNvSpPr/>
            <p:nvPr/>
          </p:nvSpPr>
          <p:spPr>
            <a:xfrm>
              <a:off x="651757" y="56362"/>
              <a:ext cx="2142207" cy="5809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r>
                <a:rPr lang="en-US" altLang="zh-CN" sz="4000" b="1" dirty="0">
                  <a:solidFill>
                    <a:srgbClr val="C00000"/>
                  </a:solidFill>
                  <a:latin typeface="华文楷体" panose="02010600040101010101" pitchFamily="2" charset="-122"/>
                  <a:ea typeface="华文楷体" panose="02010600040101010101" pitchFamily="2" charset="-122"/>
                </a:rPr>
                <a:t>Further Study</a:t>
              </a:r>
            </a:p>
          </p:txBody>
        </p:sp>
        <p:cxnSp>
          <p:nvCxnSpPr>
            <p:cNvPr id="13" name="直接连接符 12">
              <a:extLst>
                <a:ext uri="{FF2B5EF4-FFF2-40B4-BE49-F238E27FC236}">
                  <a16:creationId xmlns:a16="http://schemas.microsoft.com/office/drawing/2014/main" id="{12477CA0-3684-0126-A8C7-E242A4BC3C43}"/>
                </a:ext>
              </a:extLst>
            </p:cNvPr>
            <p:cNvCxnSpPr>
              <a:cxnSpLocks/>
            </p:cNvCxnSpPr>
            <p:nvPr/>
          </p:nvCxnSpPr>
          <p:spPr>
            <a:xfrm>
              <a:off x="574757" y="653125"/>
              <a:ext cx="8250942" cy="0"/>
            </a:xfrm>
            <a:prstGeom prst="line">
              <a:avLst/>
            </a:prstGeom>
            <a:ln w="12700" cap="rnd">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7BC1A940-DAF4-BE7B-12BD-234F4F72507B}"/>
                </a:ext>
              </a:extLst>
            </p:cNvPr>
            <p:cNvSpPr/>
            <p:nvPr/>
          </p:nvSpPr>
          <p:spPr>
            <a:xfrm>
              <a:off x="-6488" y="142486"/>
              <a:ext cx="332509"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4F65BDF8-CFDC-44EF-301C-A71457548874}"/>
                </a:ext>
              </a:extLst>
            </p:cNvPr>
            <p:cNvSpPr/>
            <p:nvPr/>
          </p:nvSpPr>
          <p:spPr>
            <a:xfrm>
              <a:off x="367416" y="142486"/>
              <a:ext cx="130866"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文本框 3">
            <a:extLst>
              <a:ext uri="{FF2B5EF4-FFF2-40B4-BE49-F238E27FC236}">
                <a16:creationId xmlns:a16="http://schemas.microsoft.com/office/drawing/2014/main" id="{0FCB9FE9-A764-E48E-86C3-472CE4CB5747}"/>
              </a:ext>
            </a:extLst>
          </p:cNvPr>
          <p:cNvSpPr txBox="1"/>
          <p:nvPr/>
        </p:nvSpPr>
        <p:spPr>
          <a:xfrm>
            <a:off x="170034" y="1351508"/>
            <a:ext cx="3355220" cy="4154984"/>
          </a:xfrm>
          <a:prstGeom prst="rect">
            <a:avLst/>
          </a:prstGeom>
          <a:noFill/>
        </p:spPr>
        <p:txBody>
          <a:bodyPr wrap="square">
            <a:spAutoFit/>
          </a:bodyPr>
          <a:lstStyle/>
          <a:p>
            <a:r>
              <a:rPr lang="en-US" altLang="zh-CN" sz="2400" b="1" dirty="0"/>
              <a:t>Random walk tracking task </a:t>
            </a:r>
            <a:r>
              <a:rPr lang="en-US" altLang="zh-CN" sz="2400" dirty="0"/>
              <a:t>on pure transformer will arouse serial dependence;</a:t>
            </a:r>
          </a:p>
          <a:p>
            <a:endParaRPr lang="en-US" altLang="zh-CN" sz="2400" dirty="0"/>
          </a:p>
          <a:p>
            <a:r>
              <a:rPr lang="en-US" altLang="zh-CN" sz="2400" dirty="0"/>
              <a:t>But if dataset for training is shuffled randomly, the effect will fade away. Even if the attention is forced to focus on previous tokens.</a:t>
            </a:r>
          </a:p>
        </p:txBody>
      </p:sp>
      <p:pic>
        <p:nvPicPr>
          <p:cNvPr id="5" name="Picture 4">
            <a:extLst>
              <a:ext uri="{FF2B5EF4-FFF2-40B4-BE49-F238E27FC236}">
                <a16:creationId xmlns:a16="http://schemas.microsoft.com/office/drawing/2014/main" id="{92A02640-46BC-E835-C7CF-2895B25567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78705" y="842787"/>
            <a:ext cx="7943261" cy="3830945"/>
          </a:xfrm>
          <a:prstGeom prst="rect">
            <a:avLst/>
          </a:prstGeom>
        </p:spPr>
      </p:pic>
      <p:pic>
        <p:nvPicPr>
          <p:cNvPr id="7" name="Picture 6">
            <a:extLst>
              <a:ext uri="{FF2B5EF4-FFF2-40B4-BE49-F238E27FC236}">
                <a16:creationId xmlns:a16="http://schemas.microsoft.com/office/drawing/2014/main" id="{70B9C32A-1C73-D85B-6674-7876600FED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78705" y="4693015"/>
            <a:ext cx="7943261" cy="1965002"/>
          </a:xfrm>
          <a:prstGeom prst="rect">
            <a:avLst/>
          </a:prstGeom>
        </p:spPr>
      </p:pic>
    </p:spTree>
    <p:extLst>
      <p:ext uri="{BB962C8B-B14F-4D97-AF65-F5344CB8AC3E}">
        <p14:creationId xmlns:p14="http://schemas.microsoft.com/office/powerpoint/2010/main" val="41240005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3802C-8D65-AE6B-FE55-F2812C4F38F6}"/>
            </a:ext>
          </a:extLst>
        </p:cNvPr>
        <p:cNvGrpSpPr/>
        <p:nvPr/>
      </p:nvGrpSpPr>
      <p:grpSpPr>
        <a:xfrm>
          <a:off x="0" y="0"/>
          <a:ext cx="0" cy="0"/>
          <a:chOff x="0" y="0"/>
          <a:chExt cx="0" cy="0"/>
        </a:xfrm>
      </p:grpSpPr>
      <p:grpSp>
        <p:nvGrpSpPr>
          <p:cNvPr id="10" name="组合 9">
            <a:extLst>
              <a:ext uri="{FF2B5EF4-FFF2-40B4-BE49-F238E27FC236}">
                <a16:creationId xmlns:a16="http://schemas.microsoft.com/office/drawing/2014/main" id="{6AD9EFB2-C3B2-4010-4055-30E4BB4F3948}"/>
              </a:ext>
            </a:extLst>
          </p:cNvPr>
          <p:cNvGrpSpPr/>
          <p:nvPr/>
        </p:nvGrpSpPr>
        <p:grpSpPr>
          <a:xfrm>
            <a:off x="49794" y="96334"/>
            <a:ext cx="12142207" cy="727169"/>
            <a:chOff x="-6488" y="56362"/>
            <a:chExt cx="8832187" cy="596763"/>
          </a:xfrm>
        </p:grpSpPr>
        <p:sp>
          <p:nvSpPr>
            <p:cNvPr id="11" name="矩形 10">
              <a:extLst>
                <a:ext uri="{FF2B5EF4-FFF2-40B4-BE49-F238E27FC236}">
                  <a16:creationId xmlns:a16="http://schemas.microsoft.com/office/drawing/2014/main" id="{D0278227-4B3C-C8FE-CB0C-472511B75002}"/>
                </a:ext>
              </a:extLst>
            </p:cNvPr>
            <p:cNvSpPr/>
            <p:nvPr/>
          </p:nvSpPr>
          <p:spPr>
            <a:xfrm>
              <a:off x="651757" y="56362"/>
              <a:ext cx="2142207" cy="5809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r>
                <a:rPr lang="en-US" altLang="zh-CN" sz="4000" b="1" dirty="0">
                  <a:solidFill>
                    <a:srgbClr val="C00000"/>
                  </a:solidFill>
                  <a:latin typeface="华文楷体" panose="02010600040101010101" pitchFamily="2" charset="-122"/>
                  <a:ea typeface="华文楷体" panose="02010600040101010101" pitchFamily="2" charset="-122"/>
                </a:rPr>
                <a:t>Further Study</a:t>
              </a:r>
            </a:p>
          </p:txBody>
        </p:sp>
        <p:cxnSp>
          <p:nvCxnSpPr>
            <p:cNvPr id="13" name="直接连接符 12">
              <a:extLst>
                <a:ext uri="{FF2B5EF4-FFF2-40B4-BE49-F238E27FC236}">
                  <a16:creationId xmlns:a16="http://schemas.microsoft.com/office/drawing/2014/main" id="{3BEABFDE-0C17-485E-B63E-B1A347BBE838}"/>
                </a:ext>
              </a:extLst>
            </p:cNvPr>
            <p:cNvCxnSpPr>
              <a:cxnSpLocks/>
            </p:cNvCxnSpPr>
            <p:nvPr/>
          </p:nvCxnSpPr>
          <p:spPr>
            <a:xfrm>
              <a:off x="574757" y="653125"/>
              <a:ext cx="8250942" cy="0"/>
            </a:xfrm>
            <a:prstGeom prst="line">
              <a:avLst/>
            </a:prstGeom>
            <a:ln w="12700" cap="rnd">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10E1328E-09A3-3DAD-CBED-89F981E5AFE9}"/>
                </a:ext>
              </a:extLst>
            </p:cNvPr>
            <p:cNvSpPr/>
            <p:nvPr/>
          </p:nvSpPr>
          <p:spPr>
            <a:xfrm>
              <a:off x="-6488" y="142486"/>
              <a:ext cx="332509"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97479869-9021-080F-C314-1224B9234F2E}"/>
                </a:ext>
              </a:extLst>
            </p:cNvPr>
            <p:cNvSpPr/>
            <p:nvPr/>
          </p:nvSpPr>
          <p:spPr>
            <a:xfrm>
              <a:off x="367416" y="142486"/>
              <a:ext cx="130866"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 name="文本框 2">
            <a:extLst>
              <a:ext uri="{FF2B5EF4-FFF2-40B4-BE49-F238E27FC236}">
                <a16:creationId xmlns:a16="http://schemas.microsoft.com/office/drawing/2014/main" id="{D3EFB5E4-00CF-435E-023B-87A3C9266D97}"/>
              </a:ext>
            </a:extLst>
          </p:cNvPr>
          <p:cNvSpPr txBox="1"/>
          <p:nvPr/>
        </p:nvSpPr>
        <p:spPr>
          <a:xfrm>
            <a:off x="278355" y="944404"/>
            <a:ext cx="4826080" cy="2677656"/>
          </a:xfrm>
          <a:prstGeom prst="rect">
            <a:avLst/>
          </a:prstGeom>
          <a:noFill/>
        </p:spPr>
        <p:txBody>
          <a:bodyPr wrap="square">
            <a:spAutoFit/>
          </a:bodyPr>
          <a:lstStyle/>
          <a:p>
            <a:r>
              <a:rPr lang="en-US" altLang="zh-CN" sz="2400" b="1" dirty="0">
                <a:ea typeface="Kaiti TC" panose="02010600040101010101" pitchFamily="2" charset="-120"/>
              </a:rPr>
              <a:t>Further directions: </a:t>
            </a:r>
            <a:endParaRPr lang="en-US" altLang="zh-CN" sz="2400" dirty="0"/>
          </a:p>
          <a:p>
            <a:r>
              <a:rPr lang="en-US" altLang="zh-CN" sz="2400" dirty="0"/>
              <a:t>1. Investigate the mechanism inside transformer to see why there is no serial dependence in LLMs.</a:t>
            </a:r>
            <a:endParaRPr lang="zh-CN" altLang="zh-CN" sz="2400" dirty="0"/>
          </a:p>
          <a:p>
            <a:r>
              <a:rPr lang="en-US" altLang="zh-CN" sz="2400" dirty="0"/>
              <a:t>2. Better design another experiment to further test whether there is serial dependence in LLMs.</a:t>
            </a:r>
          </a:p>
        </p:txBody>
      </p:sp>
      <p:sp>
        <p:nvSpPr>
          <p:cNvPr id="7" name="文本框 6">
            <a:extLst>
              <a:ext uri="{FF2B5EF4-FFF2-40B4-BE49-F238E27FC236}">
                <a16:creationId xmlns:a16="http://schemas.microsoft.com/office/drawing/2014/main" id="{8CAA3D7B-101B-F569-F8BE-0D917FCACCCB}"/>
              </a:ext>
            </a:extLst>
          </p:cNvPr>
          <p:cNvSpPr txBox="1"/>
          <p:nvPr/>
        </p:nvSpPr>
        <p:spPr>
          <a:xfrm>
            <a:off x="290886" y="3742960"/>
            <a:ext cx="5230238" cy="2246769"/>
          </a:xfrm>
          <a:prstGeom prst="rect">
            <a:avLst/>
          </a:prstGeom>
          <a:noFill/>
        </p:spPr>
        <p:txBody>
          <a:bodyPr wrap="square">
            <a:spAutoFit/>
          </a:bodyPr>
          <a:lstStyle/>
          <a:p>
            <a:r>
              <a:rPr lang="en-US" altLang="zh-CN" sz="2000" b="1" dirty="0">
                <a:ea typeface="Kaiti TC" panose="02010600040101010101" pitchFamily="2" charset="-120"/>
              </a:rPr>
              <a:t>For 2 </a:t>
            </a:r>
            <a:r>
              <a:rPr lang="en-US" altLang="zh-CN" sz="2000" b="1" dirty="0">
                <a:ea typeface="Kaiti TC" panose="02010600040101010101" pitchFamily="2" charset="-120"/>
                <a:sym typeface="Wingdings" panose="05000000000000000000" pitchFamily="2" charset="2"/>
              </a:rPr>
              <a:t></a:t>
            </a:r>
            <a:r>
              <a:rPr lang="en-US" altLang="zh-CN" sz="2000" b="1" dirty="0">
                <a:ea typeface="Kaiti TC" panose="02010600040101010101" pitchFamily="2" charset="-120"/>
              </a:rPr>
              <a:t> Reminder</a:t>
            </a:r>
            <a:r>
              <a:rPr lang="en-US" altLang="zh-CN" sz="2000" dirty="0">
                <a:ea typeface="Kaiti TC" panose="02010600040101010101" pitchFamily="2" charset="-120"/>
              </a:rPr>
              <a:t>: </a:t>
            </a:r>
          </a:p>
          <a:p>
            <a:r>
              <a:rPr lang="en-US" altLang="zh-CN" sz="2000" dirty="0">
                <a:ea typeface="Kaiti TC" panose="02010600040101010101" pitchFamily="2" charset="-120"/>
              </a:rPr>
              <a:t>1. Should remove artefacts (see Box1 in </a:t>
            </a:r>
            <a:r>
              <a:rPr lang="en-US" altLang="zh-CN" i="1" dirty="0">
                <a:ea typeface="Kaiti TC" panose="02010600040101010101" pitchFamily="2" charset="-120"/>
              </a:rPr>
              <a:t>Continuity fields enhance visual perception through positive serial dependence</a:t>
            </a:r>
            <a:r>
              <a:rPr lang="en-US" altLang="zh-CN" sz="2000" dirty="0">
                <a:ea typeface="Kaiti TC" panose="02010600040101010101" pitchFamily="2" charset="-120"/>
              </a:rPr>
              <a:t>).</a:t>
            </a:r>
          </a:p>
          <a:p>
            <a:r>
              <a:rPr lang="en-US" altLang="zh-CN" sz="2000" dirty="0">
                <a:ea typeface="Kaiti TC" panose="02010600040101010101" pitchFamily="2" charset="-120"/>
              </a:rPr>
              <a:t>2. Limit the length of conversation history in your input (to save money and to make better control of your experiment).</a:t>
            </a:r>
          </a:p>
        </p:txBody>
      </p:sp>
      <p:pic>
        <p:nvPicPr>
          <p:cNvPr id="16" name="图片 15">
            <a:extLst>
              <a:ext uri="{FF2B5EF4-FFF2-40B4-BE49-F238E27FC236}">
                <a16:creationId xmlns:a16="http://schemas.microsoft.com/office/drawing/2014/main" id="{26274D1F-BFF7-2E5D-09C4-72B10418AD47}"/>
              </a:ext>
            </a:extLst>
          </p:cNvPr>
          <p:cNvPicPr>
            <a:picLocks noChangeAspect="1"/>
          </p:cNvPicPr>
          <p:nvPr/>
        </p:nvPicPr>
        <p:blipFill>
          <a:blip r:embed="rId3"/>
          <a:stretch>
            <a:fillRect/>
          </a:stretch>
        </p:blipFill>
        <p:spPr>
          <a:xfrm>
            <a:off x="5376136" y="314855"/>
            <a:ext cx="6815864" cy="6228289"/>
          </a:xfrm>
          <a:prstGeom prst="rect">
            <a:avLst/>
          </a:prstGeom>
        </p:spPr>
      </p:pic>
      <p:sp>
        <p:nvSpPr>
          <p:cNvPr id="18" name="文本框 17">
            <a:extLst>
              <a:ext uri="{FF2B5EF4-FFF2-40B4-BE49-F238E27FC236}">
                <a16:creationId xmlns:a16="http://schemas.microsoft.com/office/drawing/2014/main" id="{063F95E4-C23B-899D-FC02-15EBCAAA3328}"/>
              </a:ext>
            </a:extLst>
          </p:cNvPr>
          <p:cNvSpPr txBox="1"/>
          <p:nvPr/>
        </p:nvSpPr>
        <p:spPr>
          <a:xfrm>
            <a:off x="49794" y="6987209"/>
            <a:ext cx="6099858" cy="2308324"/>
          </a:xfrm>
          <a:prstGeom prst="rect">
            <a:avLst/>
          </a:prstGeom>
          <a:noFill/>
        </p:spPr>
        <p:txBody>
          <a:bodyPr wrap="square">
            <a:spAutoFit/>
          </a:bodyPr>
          <a:lstStyle/>
          <a:p>
            <a:r>
              <a:rPr lang="zh-CN" altLang="en-US" sz="1800" dirty="0">
                <a:ea typeface="Kaiti TC" panose="02010600040101010101" pitchFamily="2" charset="-120"/>
              </a:rPr>
              <a:t>另一个源自研究过程的提醒</a:t>
            </a:r>
            <a:r>
              <a:rPr lang="en-US" altLang="zh-CN" sz="1800" dirty="0">
                <a:ea typeface="Kaiti TC" panose="02010600040101010101" pitchFamily="2" charset="-120"/>
              </a:rPr>
              <a:t>: Use Sentence-BERT to map words to vector is a great method to study semantic relationship between words, but when it comes to serial dependence, things get more complex because there are lots of artefacts that we should avoid, and a high-dimensional variable with complex geometry (like semantic vectors in the Sentence-BERT embedding space) will cause artefacts which is hard to remove. </a:t>
            </a:r>
          </a:p>
        </p:txBody>
      </p:sp>
    </p:spTree>
    <p:extLst>
      <p:ext uri="{BB962C8B-B14F-4D97-AF65-F5344CB8AC3E}">
        <p14:creationId xmlns:p14="http://schemas.microsoft.com/office/powerpoint/2010/main" val="22745839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F2A34-730E-AD2F-189D-B94286F3DE12}"/>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9F67F337-346B-18B3-07F2-3A084B76D184}"/>
              </a:ext>
            </a:extLst>
          </p:cNvPr>
          <p:cNvSpPr txBox="1"/>
          <p:nvPr/>
        </p:nvSpPr>
        <p:spPr>
          <a:xfrm>
            <a:off x="3549650" y="2312659"/>
            <a:ext cx="5092700" cy="1794337"/>
          </a:xfrm>
          <a:prstGeom prst="rect">
            <a:avLst/>
          </a:prstGeom>
          <a:noFill/>
        </p:spPr>
        <p:txBody>
          <a:bodyPr wrap="square">
            <a:spAutoFit/>
          </a:bodyPr>
          <a:lstStyle/>
          <a:p>
            <a:pPr algn="ctr">
              <a:lnSpc>
                <a:spcPct val="150000"/>
              </a:lnSpc>
            </a:pPr>
            <a:r>
              <a:rPr kumimoji="1" lang="en-US" altLang="zh-CN" sz="4000" b="1" dirty="0">
                <a:solidFill>
                  <a:srgbClr val="C00000"/>
                </a:solidFill>
                <a:latin typeface="华文楷体" panose="02010600040101010101" pitchFamily="2" charset="-122"/>
                <a:ea typeface="华文楷体" panose="02010600040101010101" pitchFamily="2" charset="-122"/>
              </a:rPr>
              <a:t>Research Proposal: Discussion</a:t>
            </a:r>
          </a:p>
        </p:txBody>
      </p:sp>
    </p:spTree>
    <p:extLst>
      <p:ext uri="{BB962C8B-B14F-4D97-AF65-F5344CB8AC3E}">
        <p14:creationId xmlns:p14="http://schemas.microsoft.com/office/powerpoint/2010/main" val="42118423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351ADC04-7AF5-9DBA-D58C-F05DA55B770E}"/>
              </a:ext>
            </a:extLst>
          </p:cNvPr>
          <p:cNvSpPr/>
          <p:nvPr/>
        </p:nvSpPr>
        <p:spPr>
          <a:xfrm>
            <a:off x="4075254" y="2573439"/>
            <a:ext cx="4041492" cy="1323439"/>
          </a:xfrm>
          <a:prstGeom prst="rect">
            <a:avLst/>
          </a:prstGeom>
          <a:noFill/>
        </p:spPr>
        <p:txBody>
          <a:bodyPr wrap="none" lIns="91440" tIns="45720" rIns="91440" bIns="45720">
            <a:spAutoFit/>
          </a:bodyPr>
          <a:lstStyle/>
          <a:p>
            <a:pPr algn="ctr"/>
            <a:r>
              <a:rPr lang="zh-CN" altLang="en-US" sz="8000" b="1" kern="0" dirty="0">
                <a:ln w="22225">
                  <a:solidFill>
                    <a:schemeClr val="accent2"/>
                  </a:solidFill>
                  <a:prstDash val="solid"/>
                </a:ln>
                <a:solidFill>
                  <a:srgbClr val="FF0000"/>
                </a:solidFill>
                <a:latin typeface="华文楷体" panose="02010600040101010101" pitchFamily="2" charset="-122"/>
                <a:ea typeface="华文楷体" panose="02010600040101010101" pitchFamily="2" charset="-122"/>
                <a:sym typeface="Calibri" pitchFamily="34" charset="0"/>
              </a:rPr>
              <a:t>谢  谢 ！</a:t>
            </a:r>
            <a:endParaRPr lang="zh-CN" altLang="en-US" sz="8000" b="1" dirty="0">
              <a:ln w="22225">
                <a:solidFill>
                  <a:schemeClr val="accent2"/>
                </a:solidFill>
                <a:prstDash val="solid"/>
              </a:ln>
              <a:solidFill>
                <a:srgbClr val="FF0000"/>
              </a:solidFill>
            </a:endParaRPr>
          </a:p>
        </p:txBody>
      </p:sp>
    </p:spTree>
    <p:extLst>
      <p:ext uri="{BB962C8B-B14F-4D97-AF65-F5344CB8AC3E}">
        <p14:creationId xmlns:p14="http://schemas.microsoft.com/office/powerpoint/2010/main" val="17109192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15D4E-D4D0-EC09-9432-578A5296F71E}"/>
            </a:ext>
          </a:extLst>
        </p:cNvPr>
        <p:cNvGrpSpPr/>
        <p:nvPr/>
      </p:nvGrpSpPr>
      <p:grpSpPr>
        <a:xfrm>
          <a:off x="0" y="0"/>
          <a:ext cx="0" cy="0"/>
          <a:chOff x="0" y="0"/>
          <a:chExt cx="0" cy="0"/>
        </a:xfrm>
      </p:grpSpPr>
      <p:grpSp>
        <p:nvGrpSpPr>
          <p:cNvPr id="10" name="组合 9">
            <a:extLst>
              <a:ext uri="{FF2B5EF4-FFF2-40B4-BE49-F238E27FC236}">
                <a16:creationId xmlns:a16="http://schemas.microsoft.com/office/drawing/2014/main" id="{B916CE64-391F-3C3D-1B6E-614C6D8BE043}"/>
              </a:ext>
            </a:extLst>
          </p:cNvPr>
          <p:cNvGrpSpPr/>
          <p:nvPr/>
        </p:nvGrpSpPr>
        <p:grpSpPr>
          <a:xfrm>
            <a:off x="49794" y="96334"/>
            <a:ext cx="12142207" cy="727169"/>
            <a:chOff x="-6488" y="56362"/>
            <a:chExt cx="8832187" cy="596763"/>
          </a:xfrm>
        </p:grpSpPr>
        <p:sp>
          <p:nvSpPr>
            <p:cNvPr id="11" name="矩形 10">
              <a:extLst>
                <a:ext uri="{FF2B5EF4-FFF2-40B4-BE49-F238E27FC236}">
                  <a16:creationId xmlns:a16="http://schemas.microsoft.com/office/drawing/2014/main" id="{3F58B107-4B51-A99A-56AC-83797F11A144}"/>
                </a:ext>
              </a:extLst>
            </p:cNvPr>
            <p:cNvSpPr/>
            <p:nvPr/>
          </p:nvSpPr>
          <p:spPr>
            <a:xfrm>
              <a:off x="651757" y="56362"/>
              <a:ext cx="1807560" cy="5809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r>
                <a:rPr kumimoji="1" lang="en-US" altLang="zh-CN" sz="4000" b="1" dirty="0">
                  <a:solidFill>
                    <a:srgbClr val="C00000"/>
                  </a:solidFill>
                  <a:latin typeface="华文楷体" panose="02010600040101010101" pitchFamily="2" charset="-122"/>
                  <a:ea typeface="华文楷体" panose="02010600040101010101" pitchFamily="2" charset="-122"/>
                </a:rPr>
                <a:t>References</a:t>
              </a:r>
              <a:endParaRPr kumimoji="1" lang="en-US" altLang="zh-CN" sz="1600" b="1" dirty="0">
                <a:solidFill>
                  <a:srgbClr val="C00000"/>
                </a:solidFill>
                <a:latin typeface="华文楷体" panose="02010600040101010101" pitchFamily="2" charset="-122"/>
                <a:ea typeface="华文楷体" panose="02010600040101010101" pitchFamily="2" charset="-122"/>
              </a:endParaRPr>
            </a:p>
          </p:txBody>
        </p:sp>
        <p:cxnSp>
          <p:nvCxnSpPr>
            <p:cNvPr id="13" name="直接连接符 12">
              <a:extLst>
                <a:ext uri="{FF2B5EF4-FFF2-40B4-BE49-F238E27FC236}">
                  <a16:creationId xmlns:a16="http://schemas.microsoft.com/office/drawing/2014/main" id="{5B24892F-8DAB-00E7-1536-AFBF79F02A00}"/>
                </a:ext>
              </a:extLst>
            </p:cNvPr>
            <p:cNvCxnSpPr>
              <a:cxnSpLocks/>
            </p:cNvCxnSpPr>
            <p:nvPr/>
          </p:nvCxnSpPr>
          <p:spPr>
            <a:xfrm>
              <a:off x="574757" y="653125"/>
              <a:ext cx="8250942" cy="0"/>
            </a:xfrm>
            <a:prstGeom prst="line">
              <a:avLst/>
            </a:prstGeom>
            <a:ln w="12700" cap="rnd">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EF171070-EFAC-1AEB-D15A-4543EA61C22D}"/>
                </a:ext>
              </a:extLst>
            </p:cNvPr>
            <p:cNvSpPr/>
            <p:nvPr/>
          </p:nvSpPr>
          <p:spPr>
            <a:xfrm>
              <a:off x="-6488" y="142486"/>
              <a:ext cx="332509"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AFB7558E-1435-3985-9B06-AB76F8765E3F}"/>
                </a:ext>
              </a:extLst>
            </p:cNvPr>
            <p:cNvSpPr/>
            <p:nvPr/>
          </p:nvSpPr>
          <p:spPr>
            <a:xfrm>
              <a:off x="367416" y="142486"/>
              <a:ext cx="130866"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文本框 1">
            <a:extLst>
              <a:ext uri="{FF2B5EF4-FFF2-40B4-BE49-F238E27FC236}">
                <a16:creationId xmlns:a16="http://schemas.microsoft.com/office/drawing/2014/main" id="{96A80A11-D28D-4E5B-F0D6-87D0F04B7E10}"/>
              </a:ext>
            </a:extLst>
          </p:cNvPr>
          <p:cNvSpPr txBox="1"/>
          <p:nvPr/>
        </p:nvSpPr>
        <p:spPr>
          <a:xfrm>
            <a:off x="278354" y="990638"/>
            <a:ext cx="11748545" cy="4893647"/>
          </a:xfrm>
          <a:prstGeom prst="rect">
            <a:avLst/>
          </a:prstGeom>
          <a:noFill/>
        </p:spPr>
        <p:txBody>
          <a:bodyPr wrap="square" rtlCol="0">
            <a:spAutoFit/>
          </a:bodyPr>
          <a:lstStyle/>
          <a:p>
            <a:pPr marL="285750" indent="-285750">
              <a:buFont typeface="Wingdings" panose="05000000000000000000" pitchFamily="2" charset="2"/>
              <a:buChar char="Ø"/>
            </a:pPr>
            <a:r>
              <a:rPr lang="en-US" altLang="zh-CN" sz="2400" dirty="0">
                <a:latin typeface="华文楷体" panose="02010600040101010101" pitchFamily="2" charset="-122"/>
                <a:ea typeface="华文楷体" panose="02010600040101010101" pitchFamily="2" charset="-122"/>
              </a:rPr>
              <a:t>Gong, D., &amp; Zhang, H. (2024). Self-Attention Limits Working Memory Capacity of Transformer-Based Models. </a:t>
            </a:r>
            <a:r>
              <a:rPr lang="en-US" altLang="zh-CN" sz="2400" dirty="0" err="1">
                <a:latin typeface="华文楷体" panose="02010600040101010101" pitchFamily="2" charset="-122"/>
                <a:ea typeface="华文楷体" panose="02010600040101010101" pitchFamily="2" charset="-122"/>
              </a:rPr>
              <a:t>NeurIPS</a:t>
            </a:r>
            <a:r>
              <a:rPr lang="en-US" altLang="zh-CN" sz="2400" dirty="0">
                <a:latin typeface="华文楷体" panose="02010600040101010101" pitchFamily="2" charset="-122"/>
                <a:ea typeface="华文楷体" panose="02010600040101010101" pitchFamily="2" charset="-122"/>
              </a:rPr>
              <a:t> 2024 Workshop on Behavioral Machine Learning. arXiv:2409.10715v2</a:t>
            </a:r>
            <a:r>
              <a:rPr lang="zh-CN" altLang="en-US" sz="2400" dirty="0">
                <a:latin typeface="华文楷体" panose="02010600040101010101" pitchFamily="2" charset="-122"/>
                <a:ea typeface="华文楷体" panose="02010600040101010101" pitchFamily="2" charset="-122"/>
              </a:rPr>
              <a:t>；</a:t>
            </a:r>
            <a:endParaRPr lang="en-US" altLang="zh-CN" sz="2400" dirty="0">
              <a:latin typeface="华文楷体" panose="02010600040101010101" pitchFamily="2" charset="-122"/>
              <a:ea typeface="华文楷体" panose="02010600040101010101" pitchFamily="2" charset="-122"/>
            </a:endParaRPr>
          </a:p>
          <a:p>
            <a:pPr marL="285750" indent="-285750">
              <a:buFont typeface="Wingdings" panose="05000000000000000000" pitchFamily="2" charset="2"/>
              <a:buChar char="Ø"/>
            </a:pPr>
            <a:endParaRPr lang="en-US" altLang="zh-CN" sz="2400" dirty="0">
              <a:latin typeface="华文楷体" panose="02010600040101010101" pitchFamily="2" charset="-122"/>
              <a:ea typeface="华文楷体" panose="02010600040101010101" pitchFamily="2" charset="-122"/>
            </a:endParaRPr>
          </a:p>
          <a:p>
            <a:pPr marL="285750" indent="-285750">
              <a:buFont typeface="Wingdings" panose="05000000000000000000" pitchFamily="2" charset="2"/>
              <a:buChar char="Ø"/>
            </a:pPr>
            <a:r>
              <a:rPr lang="en-US" altLang="zh-CN" sz="2400" dirty="0">
                <a:latin typeface="华文楷体" panose="02010600040101010101" pitchFamily="2" charset="-122"/>
                <a:ea typeface="华文楷体" panose="02010600040101010101" pitchFamily="2" charset="-122"/>
              </a:rPr>
              <a:t>Gong, D., Wan, X., &amp; Wang, D. (2024). Working Memory Capacity of ChatGPT: An Empirical Study. Proceedings of the AAAI Conference on Artificial Intelligence, 38(9), 10048–10056. </a:t>
            </a:r>
            <a:r>
              <a:rPr lang="en-US" altLang="zh-CN" sz="2400" dirty="0">
                <a:latin typeface="华文楷体" panose="02010600040101010101" pitchFamily="2" charset="-122"/>
                <a:ea typeface="华文楷体" panose="02010600040101010101" pitchFamily="2" charset="-122"/>
                <a:hlinkClick r:id="rId3"/>
              </a:rPr>
              <a:t>https://doi.org/10.1609/aaai.v38i9.28868</a:t>
            </a:r>
            <a:r>
              <a:rPr lang="en-US" altLang="zh-CN" sz="2400" dirty="0">
                <a:latin typeface="华文楷体" panose="02010600040101010101" pitchFamily="2" charset="-122"/>
                <a:ea typeface="华文楷体" panose="02010600040101010101" pitchFamily="2" charset="-122"/>
              </a:rPr>
              <a:t>;</a:t>
            </a:r>
          </a:p>
          <a:p>
            <a:pPr marL="285750" indent="-285750">
              <a:buFont typeface="Wingdings" panose="05000000000000000000" pitchFamily="2" charset="2"/>
              <a:buChar char="Ø"/>
            </a:pPr>
            <a:endParaRPr lang="en-US" altLang="zh-CN" sz="2400" dirty="0">
              <a:latin typeface="华文楷体" panose="02010600040101010101" pitchFamily="2" charset="-122"/>
              <a:ea typeface="华文楷体" panose="02010600040101010101" pitchFamily="2" charset="-122"/>
            </a:endParaRPr>
          </a:p>
          <a:p>
            <a:pPr marL="285750" indent="-285750">
              <a:buFont typeface="Wingdings" panose="05000000000000000000" pitchFamily="2" charset="2"/>
              <a:buChar char="Ø"/>
            </a:pPr>
            <a:r>
              <a:rPr lang="en-US" altLang="zh-CN" sz="2400" dirty="0">
                <a:latin typeface="华文楷体" panose="02010600040101010101" pitchFamily="2" charset="-122"/>
                <a:ea typeface="华文楷体" panose="02010600040101010101" pitchFamily="2" charset="-122"/>
              </a:rPr>
              <a:t>Keppel, G., &amp; Underwood, B. J. (1962). Proactive inhibition in short-term retention of single items. Journal of Verbal Learning and Verbal Behavior, 1, 153–161;</a:t>
            </a:r>
          </a:p>
          <a:p>
            <a:pPr marL="285750" indent="-285750">
              <a:buFont typeface="Wingdings" panose="05000000000000000000" pitchFamily="2" charset="2"/>
              <a:buChar char="Ø"/>
            </a:pPr>
            <a:endParaRPr lang="en-US" altLang="zh-CN" sz="2400" dirty="0">
              <a:latin typeface="华文楷体" panose="02010600040101010101" pitchFamily="2" charset="-122"/>
              <a:ea typeface="华文楷体" panose="02010600040101010101" pitchFamily="2" charset="-122"/>
            </a:endParaRPr>
          </a:p>
          <a:p>
            <a:pPr marL="285750" indent="-285750">
              <a:buFont typeface="Wingdings" panose="05000000000000000000" pitchFamily="2" charset="2"/>
              <a:buChar char="Ø"/>
            </a:pPr>
            <a:r>
              <a:rPr lang="en-CN" sz="2400" dirty="0">
                <a:latin typeface="Kaiti TC" panose="02010600040101010101" pitchFamily="2" charset="-120"/>
                <a:ea typeface="Kaiti TC" panose="02010600040101010101" pitchFamily="2" charset="-120"/>
              </a:rPr>
              <a:t>Wickens, D. D. (1973). Some characteristics of word encoding. </a:t>
            </a:r>
            <a:r>
              <a:rPr lang="en-CN" sz="2400" i="1" dirty="0">
                <a:latin typeface="Kaiti TC" panose="02010600040101010101" pitchFamily="2" charset="-120"/>
                <a:ea typeface="Kaiti TC" panose="02010600040101010101" pitchFamily="2" charset="-120"/>
              </a:rPr>
              <a:t>Memory &amp; Cognition, 1</a:t>
            </a:r>
            <a:r>
              <a:rPr lang="en-CN" sz="2400" dirty="0">
                <a:latin typeface="Kaiti TC" panose="02010600040101010101" pitchFamily="2" charset="-120"/>
                <a:ea typeface="Kaiti TC" panose="02010600040101010101" pitchFamily="2" charset="-120"/>
              </a:rPr>
              <a:t>, 485–490. https://doi.org/10.3758/BF03208913</a:t>
            </a:r>
            <a:endParaRPr lang="en-US" altLang="zh-CN" sz="2400" dirty="0">
              <a:latin typeface="Kaiti TC" panose="02010600040101010101" pitchFamily="2" charset="-120"/>
              <a:ea typeface="Kaiti TC" panose="02010600040101010101" pitchFamily="2" charset="-120"/>
            </a:endParaRPr>
          </a:p>
        </p:txBody>
      </p:sp>
    </p:spTree>
    <p:extLst>
      <p:ext uri="{BB962C8B-B14F-4D97-AF65-F5344CB8AC3E}">
        <p14:creationId xmlns:p14="http://schemas.microsoft.com/office/powerpoint/2010/main" val="9889632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FCE59-F47E-92A4-6825-30BCAA9F814F}"/>
            </a:ext>
          </a:extLst>
        </p:cNvPr>
        <p:cNvGrpSpPr/>
        <p:nvPr/>
      </p:nvGrpSpPr>
      <p:grpSpPr>
        <a:xfrm>
          <a:off x="0" y="0"/>
          <a:ext cx="0" cy="0"/>
          <a:chOff x="0" y="0"/>
          <a:chExt cx="0" cy="0"/>
        </a:xfrm>
      </p:grpSpPr>
      <p:grpSp>
        <p:nvGrpSpPr>
          <p:cNvPr id="10" name="组合 9">
            <a:extLst>
              <a:ext uri="{FF2B5EF4-FFF2-40B4-BE49-F238E27FC236}">
                <a16:creationId xmlns:a16="http://schemas.microsoft.com/office/drawing/2014/main" id="{ADBEE2D9-F9FA-1038-6641-FA411E255CC2}"/>
              </a:ext>
            </a:extLst>
          </p:cNvPr>
          <p:cNvGrpSpPr/>
          <p:nvPr/>
        </p:nvGrpSpPr>
        <p:grpSpPr>
          <a:xfrm>
            <a:off x="49794" y="96334"/>
            <a:ext cx="12142207" cy="727169"/>
            <a:chOff x="-6488" y="56362"/>
            <a:chExt cx="8832187" cy="596763"/>
          </a:xfrm>
        </p:grpSpPr>
        <p:sp>
          <p:nvSpPr>
            <p:cNvPr id="11" name="矩形 10">
              <a:extLst>
                <a:ext uri="{FF2B5EF4-FFF2-40B4-BE49-F238E27FC236}">
                  <a16:creationId xmlns:a16="http://schemas.microsoft.com/office/drawing/2014/main" id="{1ADFE551-976E-E80C-E50F-D7355F5E08C8}"/>
                </a:ext>
              </a:extLst>
            </p:cNvPr>
            <p:cNvSpPr/>
            <p:nvPr/>
          </p:nvSpPr>
          <p:spPr>
            <a:xfrm>
              <a:off x="651757" y="56362"/>
              <a:ext cx="1807560" cy="5809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r>
                <a:rPr kumimoji="1" lang="en-US" altLang="zh-CN" sz="4000" b="1" dirty="0">
                  <a:solidFill>
                    <a:srgbClr val="C00000"/>
                  </a:solidFill>
                  <a:latin typeface="华文楷体" panose="02010600040101010101" pitchFamily="2" charset="-122"/>
                  <a:ea typeface="华文楷体" panose="02010600040101010101" pitchFamily="2" charset="-122"/>
                </a:rPr>
                <a:t>References</a:t>
              </a:r>
              <a:endParaRPr kumimoji="1" lang="en-US" altLang="zh-CN" sz="1600" b="1" dirty="0">
                <a:solidFill>
                  <a:srgbClr val="C00000"/>
                </a:solidFill>
                <a:latin typeface="华文楷体" panose="02010600040101010101" pitchFamily="2" charset="-122"/>
                <a:ea typeface="华文楷体" panose="02010600040101010101" pitchFamily="2" charset="-122"/>
              </a:endParaRPr>
            </a:p>
          </p:txBody>
        </p:sp>
        <p:cxnSp>
          <p:nvCxnSpPr>
            <p:cNvPr id="13" name="直接连接符 12">
              <a:extLst>
                <a:ext uri="{FF2B5EF4-FFF2-40B4-BE49-F238E27FC236}">
                  <a16:creationId xmlns:a16="http://schemas.microsoft.com/office/drawing/2014/main" id="{467CEFBD-E5DE-FC69-1C7D-C4EC2604EA19}"/>
                </a:ext>
              </a:extLst>
            </p:cNvPr>
            <p:cNvCxnSpPr>
              <a:cxnSpLocks/>
            </p:cNvCxnSpPr>
            <p:nvPr/>
          </p:nvCxnSpPr>
          <p:spPr>
            <a:xfrm>
              <a:off x="574757" y="653125"/>
              <a:ext cx="8250942" cy="0"/>
            </a:xfrm>
            <a:prstGeom prst="line">
              <a:avLst/>
            </a:prstGeom>
            <a:ln w="12700" cap="rnd">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61462AB5-F36B-E378-EF23-E094B2A5B459}"/>
                </a:ext>
              </a:extLst>
            </p:cNvPr>
            <p:cNvSpPr/>
            <p:nvPr/>
          </p:nvSpPr>
          <p:spPr>
            <a:xfrm>
              <a:off x="-6488" y="142486"/>
              <a:ext cx="332509"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3FB6D473-CA38-E913-36DC-4FF94E19496F}"/>
                </a:ext>
              </a:extLst>
            </p:cNvPr>
            <p:cNvSpPr/>
            <p:nvPr/>
          </p:nvSpPr>
          <p:spPr>
            <a:xfrm>
              <a:off x="367416" y="142486"/>
              <a:ext cx="130866" cy="510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文本框 1">
            <a:extLst>
              <a:ext uri="{FF2B5EF4-FFF2-40B4-BE49-F238E27FC236}">
                <a16:creationId xmlns:a16="http://schemas.microsoft.com/office/drawing/2014/main" id="{D82DD600-1E77-5DBF-0328-5B2712E68FD3}"/>
              </a:ext>
            </a:extLst>
          </p:cNvPr>
          <p:cNvSpPr txBox="1"/>
          <p:nvPr/>
        </p:nvSpPr>
        <p:spPr>
          <a:xfrm>
            <a:off x="278354" y="990638"/>
            <a:ext cx="11748545" cy="1938992"/>
          </a:xfrm>
          <a:prstGeom prst="rect">
            <a:avLst/>
          </a:prstGeom>
          <a:noFill/>
        </p:spPr>
        <p:txBody>
          <a:bodyPr wrap="square" rtlCol="0">
            <a:spAutoFit/>
          </a:bodyPr>
          <a:lstStyle/>
          <a:p>
            <a:pPr marL="285750" indent="-285750">
              <a:buFont typeface="Wingdings" panose="05000000000000000000" pitchFamily="2" charset="2"/>
              <a:buChar char="Ø"/>
            </a:pPr>
            <a:r>
              <a:rPr lang="en-CN" sz="2400" dirty="0">
                <a:latin typeface="Kaiti TC" panose="02010600040101010101" pitchFamily="2" charset="-120"/>
                <a:ea typeface="Kaiti TC" panose="02010600040101010101" pitchFamily="2" charset="-120"/>
              </a:rPr>
              <a:t>Wang, C., &amp; Sun, J. V. (2025). Unable to Forget: Proactive Interference Reveals Working Memory Limits in LLMs Beyond Context Length. </a:t>
            </a:r>
            <a:r>
              <a:rPr lang="en-CN" sz="2400" i="1" dirty="0">
                <a:latin typeface="Kaiti TC" panose="02010600040101010101" pitchFamily="2" charset="-120"/>
                <a:ea typeface="Kaiti TC" panose="02010600040101010101" pitchFamily="2" charset="-120"/>
              </a:rPr>
              <a:t>arXiv preprint arXiv:2506.08184 ; </a:t>
            </a:r>
          </a:p>
          <a:p>
            <a:pPr marL="285750" indent="-285750">
              <a:buFont typeface="Wingdings" panose="05000000000000000000" pitchFamily="2" charset="2"/>
              <a:buChar char="Ø"/>
            </a:pPr>
            <a:endParaRPr lang="en-CN" altLang="zh-CN" sz="2400" i="1" dirty="0">
              <a:latin typeface="Kaiti TC" panose="02010600040101010101" pitchFamily="2" charset="-120"/>
              <a:ea typeface="Kaiti TC" panose="02010600040101010101" pitchFamily="2" charset="-120"/>
            </a:endParaRPr>
          </a:p>
          <a:p>
            <a:pPr marL="285750" indent="-285750">
              <a:buFont typeface="Wingdings" panose="05000000000000000000" pitchFamily="2" charset="2"/>
              <a:buChar char="Ø"/>
            </a:pPr>
            <a:r>
              <a:rPr lang="en-US" altLang="zh-CN" sz="2400" dirty="0">
                <a:latin typeface="Kaiti TC" panose="02010600040101010101" pitchFamily="2" charset="-120"/>
                <a:ea typeface="Kaiti TC" panose="02010600040101010101" pitchFamily="2" charset="-120"/>
              </a:rPr>
              <a:t>Mewhort, D. J. K., Shabahang, K. D., &amp; Franklin, D. R. J. (2018). Release from PI: An analysis and a model. Psychonomic Bulletin &amp; Review, 25, 932–950.</a:t>
            </a:r>
          </a:p>
        </p:txBody>
      </p:sp>
    </p:spTree>
    <p:extLst>
      <p:ext uri="{BB962C8B-B14F-4D97-AF65-F5344CB8AC3E}">
        <p14:creationId xmlns:p14="http://schemas.microsoft.com/office/powerpoint/2010/main" val="1287357612"/>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24473</TotalTime>
  <Words>3270</Words>
  <Application>Microsoft Macintosh PowerPoint</Application>
  <PresentationFormat>Widescreen</PresentationFormat>
  <Paragraphs>276</Paragraphs>
  <Slides>46</Slides>
  <Notes>46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46</vt:i4>
      </vt:variant>
    </vt:vector>
  </HeadingPairs>
  <TitlesOfParts>
    <vt:vector size="55" baseType="lpstr">
      <vt:lpstr>等线</vt:lpstr>
      <vt:lpstr>Kaiti TC</vt:lpstr>
      <vt:lpstr>华文楷体</vt:lpstr>
      <vt:lpstr>Arial</vt:lpstr>
      <vt:lpstr>Calibri</vt:lpstr>
      <vt:lpstr>Calibri Light</vt:lpstr>
      <vt:lpstr>Cambria Math</vt:lpstr>
      <vt:lpstr>Wingdings</vt: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弭 元元</dc:creator>
  <cp:lastModifiedBy>Lizhao Yao</cp:lastModifiedBy>
  <cp:revision>1987</cp:revision>
  <cp:lastPrinted>2022-10-15T03:01:03Z</cp:lastPrinted>
  <dcterms:created xsi:type="dcterms:W3CDTF">2021-06-20T13:35:32Z</dcterms:created>
  <dcterms:modified xsi:type="dcterms:W3CDTF">2026-06-29T04:43:53Z</dcterms:modified>
</cp:coreProperties>
</file>